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detailed teaching deck for an engineer who wants to understand both the model and its execution. Read the diagrams from left to right and use click-by-click builds in PowerPoint Slide Show. Green always identifies FP8, blue BF16, purple FP32 and amber a conversion or decision. Mathematical examples are deliberately small; checkpoint dimensions are labeled separately. The Markdown handbook contains deeper explanations and worked examples. Model facts are pinned to the Kimi-K3 checkpoint revision, while optimization evidence is pinned to this campaign. The presentation does not assume that every FP8 capability runs on every forward.</a:t>
            </a:r>
          </a:p>
          <a:p/>
          <a:p>
            <a:r>
              <a:t>ANIMATION: Advance one click at a time to reveal each group. In the video the same groups appear progressively.</a:t>
            </a:r>
          </a:p>
          <a:p/>
          <a:p>
            <a:r>
              <a:t>READ MORE: https://github.com/ajith-sirra-amd/InferenceMAX_Rocm_Team/blob/docs/kimi-k3-mi355x-teaching-20261029/presentations/kimi-k3-mi355x/guide/00-orientation.md#s-01</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deck is designed for a long workshop or several shorter sessions. First learn why Q, K and V exist and how attention produces an output. Then distinguish KDA's recurrent state from MLA's compressed token cache. Next map matrix operations onto MI355X, and understand the scheduler and distributed collectives. Only after those pieces are in place do we introduce FP8 FMHA and the direct FP8 up-projection. The final section explains how to establish that a faster path is both executed and sufficiently accurate. Each slide links to its Markdown chapter. Use the glossary and tensor atlas as references during discussion.</a:t>
            </a:r>
          </a:p>
          <a:p/>
          <a:p>
            <a:r>
              <a:t>ANIMATION: Advance one click at a time to reveal each group. In the video the same groups appear progressively.</a:t>
            </a:r>
          </a:p>
          <a:p/>
          <a:p>
            <a:r>
              <a:t>READ MORE: https://github.com/ajith-sirra-amd/InferenceMAX_Rocm_Team/blob/docs/kimi-k3-mi355x-teaching-20261029/presentations/kimi-k3-mi355x/guide/00-orientation.md#s-02</a:t>
            </a:r>
          </a:p>
          <a:p/>
          <a:p>
            <a:r>
              <a:t>SOURCES:</a:t>
            </a:r>
          </a:p>
          <a:p>
            <a:r>
              <a:t>Kimi-K3 model card and checkpoint configuration: https://huggingface.co/moonshotai/Kimi-K3/tree/f831ab66814297da540d832a5235f8e904f29d06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is a learned retrieval-and-mixing operation. At each layer a token has a vector describing its current representation. It compares a query derived from that vector with keys from available context tokens. Those comparisons become weights, and the weights mix the corresponding values. In the example, resolving the meaning of “it” can require information about the robot, the box and the surrounding words. The illustration is conceptual, not an actual measured attention map. A head's weights are not a complete explanation of the model's reasoning, and different layers may use attention for different purposes.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https://github.com/ajith-sirra-amd/InferenceMAX_Rocm_Team/blob/docs/kimi-k3-mi355x-teaching-20261029/presentations/kimi-k3-mi355x/guide/01-attention-fundamentals.md#s-03</a:t>
            </a:r>
          </a:p>
          <a:p/>
          <a:p>
            <a:r>
              <a:t>SOURCES:</a:t>
            </a:r>
          </a:p>
          <a:p>
            <a:r>
              <a:t>Attention Is All You Need: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tokenizer turns text into discrete token IDs. A token is not always a word: common words, word fragments, punctuation and whitespace patterns may each have IDs. The embedding table maps each ID to a vector. After the first layer, the hidden state is contextual rather than a fixed lookup. Pack T token vectors as rows of X so a GPU can process them with matrix operations. A matrix's shape describes its logical dimensions; dtype describes how each number is represented; layout and strides describe where the numbers live in memory. The Kimi-K3 vocabulary has 163,840 entries and hidden width 7,168.</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https://github.com/ajith-sirra-amd/InferenceMAX_Rocm_Team/blob/docs/kimi-k3-mi355x-teaching-20261029/presentations/kimi-k3-mi355x/guide/01-attention-fundamentals.md#s-04</a:t>
            </a:r>
          </a:p>
          <a:p/>
          <a:p>
            <a:r>
              <a:t>SOURCES:</a:t>
            </a:r>
          </a:p>
          <a:p>
            <a:r>
              <a:t>Attention Is All You Need: https://arxiv.org/abs/1706.03762</a:t>
            </a:r>
          </a:p>
          <a:p>
            <a:r>
              <a:t>Kimi-K3 model card and checkpoint configuration: https://huggingface.co/moonshotai/Kimi-K3/tree/f831ab66814297da540d832a5235f8e904f29d06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projection is a matrix multiplication with learned weights. For row-vector hidden states, Q=XW_Q, K=XW_K and V=XW_V. The same token can play all three roles in self-attention. Q and K need matching feature widths so their dot product is defined. V may have a different width. Query count Tq and key/value count Tk need not be equal: during decode a request may have one new query but thousands of cached keys. Projection weights are model parameters; Q, K and V are runtime activations. In MLA, the implementation factors some of these projections through smaller latent vectors, which we will introduce later.</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https://github.com/ajith-sirra-amd/InferenceMAX_Rocm_Team/blob/docs/kimi-k3-mi355x-teaching-20261029/presentations/kimi-k3-mi355x/guide/01-attention-fundamentals.md#s-05</a:t>
            </a:r>
          </a:p>
          <a:p/>
          <a:p>
            <a:r>
              <a:t>SOURCES:</a:t>
            </a:r>
          </a:p>
          <a:p>
            <a:r>
              <a:t>Attention Is All You Need: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dot product multiplies matching coordinates and sums the results. The raw score is not a probability and can be negative. If feature components have similar independent variance, summing more dimensions makes scores spread out more. The usual inverse-square-root factor compensates for that tendency and avoids overly saturated softmax. The general formula uses 1/sqrt(d_k), but an implementation should use the model's actual configured softmax scale, called alpha in later slides. Do not hard-code a new scale because a tensor was quantized. Quantization descales and the model softmax scale serve different purposes.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https://github.com/ajith-sirra-amd/InferenceMAX_Rocm_Team/blob/docs/kimi-k3-mi355x-teaching-20261029/presentations/kimi-k3-mi355x/guide/01-attention-fundamentals.md#s-06</a:t>
            </a:r>
          </a:p>
          <a:p/>
          <a:p>
            <a:r>
              <a:t>SOURCES:</a:t>
            </a:r>
          </a:p>
          <a:p>
            <a:r>
              <a:t>Attention Is All You Need: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Softmax converts a row of scores into positive weights that sum to one. Subtracting the largest score leaves the probabilities unchanged because the shared exponential factor cancels. This subtraction prevents large positive exponentials from overflowing. The example subtracts 2 from [2,1,0] before exponentiation. Softmax is relative: increasing one score reduces other tokens' share even if their scores stay fixed. Masked entries are assigned negative infinity so their exponential contribution is zero. The log of the normalization sum, with the maximum added back, is called log-sum-exp or LSE; it is essential for exact merging of separately processed attention chunks.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https://github.com/ajith-sirra-amd/InferenceMAX_Rocm_Team/blob/docs/kimi-k3-mi355x-teaching-20261029/presentations/kimi-k3-mi355x/guide/01-attention-fundamentals.md#s-07</a:t>
            </a:r>
          </a:p>
          <a:p/>
          <a:p>
            <a:r>
              <a:t>SOURCES:</a:t>
            </a:r>
          </a:p>
          <a:p>
            <a:r>
              <a:t>Attention Is All You Need: https://arxiv.org/abs/1706.03762</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attention weight multiplies the complete value vector, and the weighted vectors are summed. This is a soft read rather than an argmax lookup. A value need not resemble the word embedding of its token: it is a learned transformation of a contextual hidden state. In this two-dimensional example, the dominant value contributes mostly to the first output coordinate. With many tokens and heads, the same principle becomes the matrix product P times V. The output is then combined across heads and projected back to the model hidden width. Errors in Q and K can change the weights; errors in V change the content mixed by those weights.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https://github.com/ajith-sirra-amd/InferenceMAX_Rocm_Team/blob/docs/kimi-k3-mi355x-teaching-20261029/presentations/kimi-k3-mi355x/guide/01-attention-fundamentals.md#s-08</a:t>
            </a:r>
          </a:p>
          <a:p/>
          <a:p>
            <a:r>
              <a:t>SOURCES:</a:t>
            </a:r>
          </a:p>
          <a:p>
            <a:r>
              <a:t>Attention Is All You Need: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autoregressive generation, a token's prediction must not use information from future target tokens. For a sequence without a cached prefix, the allowed region is lower triangular, including the diagonal. With an existing prefix of length P and a new chunk of length N, new query i can attend to all prefix tokens and new tokens up to i. The cached-prefix attention portion therefore needs no causal triangle within that prefix block, while the new-token portion does. A backend's causal alignment when Tq differs from Tk must be checked carefully; setting causal=True is not sufficient unless the sequence offsets and alignment match the intended mask.</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https://github.com/ajith-sirra-amd/InferenceMAX_Rocm_Team/blob/docs/kimi-k3-mi355x-teaching-20261029/presentations/kimi-k3-mi355x/guide/01-attention-fundamentals.md#s-09</a:t>
            </a:r>
          </a:p>
          <a:p/>
          <a:p>
            <a:r>
              <a:t>SOURCES:</a:t>
            </a:r>
          </a:p>
          <a:p>
            <a:r>
              <a:t>Attention Is All You Need: https://arxiv.org/abs/1706.03762</a:t>
            </a:r>
          </a:p>
          <a:p>
            <a:r>
              <a:t>Causal FP8 implementation and accuracy evidence: https://github.com/ajith-sirra-amd/InferenceMAX_Rocm_Team/blob/b786b8cae9992c190c3d3323197c937d8ed8f8b8/docs/kimi/causal-fp8-attention.md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head, Q has shape [Tq,d_k], K has shape [Tk,d_k], and V has shape [Tk,d_v]. QK transpose has shape [Tq,Tk], one score for every query-key pair. Softmax works across the key dimension independently for each query. Multiplying the resulting probabilities by V produces [Tq,d_v]. A transpose changes how dimensions are interpreted; it need not imply a materialized copy. We often write the full score and probability matrices to understand the math, but an efficient FlashAttention implementation does not store them in global memory. Batch dimensions, ragged sequence offsets and head dimensions are omitted from this equation for clarity.</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https://github.com/ajith-sirra-amd/InferenceMAX_Rocm_Team/blob/docs/kimi-k3-mi355x-teaching-20261029/presentations/kimi-k3-mi355x/guide/01-attention-fundamentals.md#s-10</a:t>
            </a:r>
          </a:p>
          <a:p/>
          <a:p>
            <a:r>
              <a:t>SOURCES:</a:t>
            </a:r>
          </a:p>
          <a:p>
            <a:r>
              <a:t>Attention Is All You Need: https://arxiv.org/abs/1706.03762</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Multi-head attention gives the model several learned subspaces in which to retrieve information. Heads do not have guaranteed human-readable roles, but they can learn different relationships. In the Kimi-K3 MLA prefill path, there are 96 logical heads, giving 12 local heads per rank under TP8. Head count is distinct from the number of requests, GPU threads or attention layers. Multi-query attention and grouped-query attention reduce the number of separately stored key/value heads; MLA instead stores a low-dimensional shared latent cache and reconstructs or algebraically absorbs the expanded projections. These methods address related cache costs through different parameterizations.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https://github.com/ajith-sirra-amd/InferenceMAX_Rocm_Team/blob/docs/kimi-k3-mi355x-teaching-20261029/presentations/kimi-k3-mi355x/guide/01-attention-fundamentals.md#s-11</a:t>
            </a:r>
          </a:p>
          <a:p/>
          <a:p>
            <a:r>
              <a:t>SOURCES:</a:t>
            </a:r>
          </a:p>
          <a:p>
            <a:r>
              <a:t>Attention Is All You Need: https://arxiv.org/abs/1706.03762</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conventional pre-normalized transformer alternates attention and a feed-forward network, with residual additions around the sublayers. RMSNorm rescales a vector using its root-mean-square magnitude and learned gain g; unlike LayerNorm, it does not subtract the mean. An MLP applies learned projections and a nonlinear activation independently to each token. Residual paths preserve information and support effective training of deep stacks. This slide is a prerequisite template, not the exact Kimi-K3 residual algorithm. Kimi-K3 uses Attention Residuals, which learn how to mix representations across depth; that change is introduced explicitly later.</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https://github.com/ajith-sirra-amd/InferenceMAX_Rocm_Team/blob/docs/kimi-k3-mi355x-teaching-20261029/presentations/kimi-k3-mi355x/guide/01-attention-fundamentals.md#s-12</a:t>
            </a:r>
          </a:p>
          <a:p/>
          <a:p>
            <a:r>
              <a:t>SOURCES:</a:t>
            </a:r>
          </a:p>
          <a:p>
            <a:r>
              <a:t>Attention Is All You Need: https://arxiv.org/abs/1706.03762</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 attention operation without position information is equivariant to reordering its inputs, so models need mechanisms that represent sequence order. RoPE is a common solution that rotates paired query/key features by position-dependent angles. However, this Kimi-K3 checkpoint sets mla_use_nope=true, and the inspected AMD MLA implementation passes no rotary embedding object. Its MLA tensor layout retains a 64-column field named qk_rope_head_dim, but that field name does not prove a rotary transform runs. KDA recurrence and short causal convolutions carry order information in the hybrid model. The deck labels those 64 columns as the shared K component or legacy RoPE slot.</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https://github.com/ajith-sirra-amd/InferenceMAX_Rocm_Team/blob/docs/kimi-k3-mi355x-teaching-20261029/presentations/kimi-k3-mi355x/guide/01-attention-fundamentals.md#s-13</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prefill, the server processes prompt tokens whose identities are already known. It can compute many query rows together while enforcing causal visibility. During ordinary decode, it computes the next token for each active request, typically one new query per request per step. Speculative verification increases that query count. Prefill often offers better weight reuse and larger GEMMs; decode often faces smaller operations, cache reads and synchronization overhead. These are tendencies, not universal bottleneck declarations. Long-context decode can have substantial attention traffic, and an agentic workload can alternate cached prefixes, new prompt chunks and output generation. Always profile the actual batch regime.</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https://github.com/ajith-sirra-amd/InferenceMAX_Rocm_Team/blob/docs/kimi-k3-mi355x-teaching-20261029/presentations/kimi-k3-mi355x/guide/01-attention-fundamentals.md#s-14</a:t>
            </a:r>
          </a:p>
          <a:p/>
          <a:p>
            <a:r>
              <a:t>SOURCES:</a:t>
            </a:r>
          </a:p>
          <a:p>
            <a:r>
              <a:t>FlashAttention: exact attention with IO awareness: https://arxiv.org/abs/2205.14135</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 cache, every generated token would force the model to recompute key/value representations for the entire earlier sequence. A KV cache retains those representations. Queries are generally not cached because a future output step uses a new query. The simple storage formula assumes equal key/value widths and ordinary attention; it does not describe MLA or recurrent KDA exactly. MLA stores a compressed per-token latent representation, while KDA keeps recurrent state plus short-convolution state. Cache allocation uses blocks and metadata rather than a single contiguous buffer per request. Prefix reuse, precision, sharding, alignment, scale storage and speculative state all affect real memory usage.</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https://github.com/ajith-sirra-amd/InferenceMAX_Rocm_Team/blob/docs/kimi-k3-mi355x-teaching-20261029/presentations/kimi-k3-mi355x/guide/01-attention-fundamentals.md#s-15</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approximate multiply-add count includes QK transpose and P times V and counts one multiply-add as two floating-point operations. It ignores masking savings, softmax and other elementwise work. During a full unchunked prefill, both Tq and Tk grow with sequence length, yielding quadratic pair count. With a single decode query, only Tk grows. A naive 32,768 by 32,768 score matrix contains over one billion elements: two GiB per head in a two-byte dtype before also storing probabilities. Practical fused kernels avoid materializing that matrix, and causal kernels skip some masked work. Reducing IO does not eliminate the underlying exact-attention comparisons.</a:t>
            </a:r>
          </a:p>
          <a:p/>
          <a:p>
            <a:r>
              <a:t>ANIMATION: Advance one click at a time to reveal each group. In the video the same groups appear progressively.</a:t>
            </a:r>
          </a:p>
          <a:p/>
          <a:p>
            <a:r>
              <a:t>READ MORE: https://github.com/ajith-sirra-amd/InferenceMAX_Rocm_Team/blob/docs/kimi-k3-mi355x-teaching-20261029/presentations/kimi-k3-mi355x/guide/01-attention-fundamentals.md#s-16</a:t>
            </a:r>
          </a:p>
          <a:p/>
          <a:p>
            <a:r>
              <a:t>SOURCES:</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FlashAttention is an exact attention algorithm in real arithmetic that reorganizes computation around the memory hierarchy. It processes tiles that fit in registers and shared memory, called LDS on AMD GPUs, while streaming K/V from HBM. It updates the running softmax statistics and output accumulator for each tile. This avoids writing and rereading the entire score and probability matrices in HBM. Floating-point results can differ from a naive reference because operation order changes. “Fused” means operations share a kernel and reuse local intermediates; it does not specify the input dtype. A BF16 FMHA and an FP8 FMHA can both be fused implementations.</a:t>
            </a:r>
          </a:p>
          <a:p/>
          <a:p>
            <a:r>
              <a:t>ANIMATION: Advance one click at a time to reveal each group. In the video the same groups appear progressively.</a:t>
            </a:r>
          </a:p>
          <a:p/>
          <a:p>
            <a:r>
              <a:t>READ MORE: https://github.com/ajith-sirra-amd/InferenceMAX_Rocm_Team/blob/docs/kimi-k3-mi355x-teaching-20261029/presentations/kimi-k3-mi355x/guide/02-fused-attention.md#s-17</a:t>
            </a:r>
          </a:p>
          <a:p/>
          <a:p>
            <a:r>
              <a:t>SOURCES:</a:t>
            </a:r>
          </a:p>
          <a:p>
            <a:r>
              <a:t>FlashAttention: exact attention with IO awareness: https://arxiv.org/abs/2205.14135</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new score tile s, the maximum may increase. Rescale the old normalization sum by exp(m-m') and add the new tile's exponentials relative to m'. Rescale the old weighted accumulator by the same factor, then add the new probability-weighted values. At the end, divide the accumulated weighted values by the normalization sum. This produces the same normalized attention operation without storing every score. LSE is the natural logarithm of the unnormalized attention mass, not another attention output vector. The exact intermediate dtypes are kernel-specific; higher precision for reductions is crucial, and the campaign API returns BF16 output plus FP32 LSE.</a:t>
            </a:r>
          </a:p>
          <a:p/>
          <a:p>
            <a:r>
              <a:t>ANIMATION: Advance one click at a time to reveal each group. In the video the same groups appear progressively.</a:t>
            </a:r>
          </a:p>
          <a:p/>
          <a:p>
            <a:r>
              <a:t>READ MORE: https://github.com/ajith-sirra-amd/InferenceMAX_Rocm_Team/blob/docs/kimi-k3-mi355x-teaching-20261029/presentations/kimi-k3-mi355x/guide/02-fused-attention.md#s-18</a:t>
            </a:r>
          </a:p>
          <a:p/>
          <a:p>
            <a:r>
              <a:t>SOURCES:</a:t>
            </a:r>
          </a:p>
          <a:p>
            <a:r>
              <a:t>FlashAttention: exact attention with IO awareness: https://arxiv.org/abs/2205.14135</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FP8 matrix product can be faster than a BF16 matrix product while the complete serving path becomes slower. Preparing FP8 operands may require a maximum reduction, extra kernels and large temporary buffers. A layout conversion can add HBM traffic; a specialized kernel can have padding overhead or weaker occupancy on a particular shape. Synchronization may expose previously hidden work. For this reason, first measure the component, then the complete attention path, and finally the unchanged serving workload. This also explains why a prior FP8 ASM attempt could regress without disproving the potential of an FP8 fused implementation with lower preparation overhead.</a:t>
            </a:r>
          </a:p>
          <a:p/>
          <a:p>
            <a:r>
              <a:t>ANIMATION: Advance one click at a time to reveal each group. In the video the same groups appear progressively.</a:t>
            </a:r>
          </a:p>
          <a:p/>
          <a:p>
            <a:r>
              <a:t>READ MORE: https://github.com/ajith-sirra-amd/InferenceMAX_Rocm_Team/blob/docs/kimi-k3-mi355x-teaching-20261029/presentations/kimi-k3-mi355x/guide/02-fused-attention.md#s-19</a:t>
            </a:r>
          </a:p>
          <a:p/>
          <a:p>
            <a:r>
              <a:t>SOURCES:</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checkpoint combines Kimi Delta Attention with gated Multi-head Latent Attention. KDA handles most sequence-mixing layers using a recurrent state, while MLA periodically performs attention over cached token representations. The feature transformation side uses one dense layer followed by sparse mixture-of-experts layers, with a lower-dimensional routed-expert space. Attention Residuals govern information flow across depth. A vision encoder and projector can supply visual tokens, but the agentic text benchmark does not measure the full vision pipeline. The model card reports about 2.8 trillion total parameters and 104 billion activated parameters; those figures do not mean all weights are read for every token.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https://github.com/ajith-sirra-amd/InferenceMAX_Rocm_Team/blob/docs/kimi-k3-mi355x-teaching-20261029/presentations/kimi-k3-mi355x/guide/03-kimi-k3-architecture.md#s-20</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checkpoint lists full-attention layers using one-based indices: 4,8,12 and so on through 92, plus layer 93. The remaining 69 layers use KDA. Therefore a drawing that shows every layer as ordinary softmax attention would misrepresent this architecture. The first_k_dense_replace setting is 1, so the first decoder layer uses the dense feed-forward path and subsequent layers use the configured MoE path. Attention type and feed-forward type are separate choices within a decoder layer. The final MLA layer is an exception to the repeating four-layer pattern. Source arrays are included in the checkpoint snapshot shipped with the handbook.</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https://github.com/ajith-sirra-amd/InferenceMAX_Rocm_Team/blob/docs/kimi-k3-mi355x-teaching-20261029/presentations/kimi-k3-mi355x/guide/03-kimi-k3-architecture.md#s-21</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Hidden-state width is the size of each token's representation between sublayers. The query projection factors through a 1,536-dimensional latent, and MLA KV factors through a 512-dimensional latent plus a 64-column shared key component. There are 96 logical heads. The routed expert branch narrows the 7,168-dimensional hidden state to 3,584 features before expert computation; each routed expert has intermediate width 3,072. Two shared experts operate in addition to the selected routed experts. The configured context limit is an architectural/configuration limit, not proof that a particular GPU-memory budget, concurrency and offload setting can serve every request at that length.</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https://github.com/ajith-sirra-amd/InferenceMAX_Rocm_Team/blob/docs/kimi-k3-mi355x-teaching-20261029/presentations/kimi-k3-mi355x/guide/03-kimi-k3-architecture.md#s-22</a:t>
            </a:r>
          </a:p>
          <a:p/>
          <a:p>
            <a:r>
              <a:t>SOURCES:</a:t>
            </a:r>
          </a:p>
          <a:p>
            <a:r>
              <a:t>Kimi-K3 model card and checkpoint configuration: https://huggingface.co/moonshotai/Kimi-K3/tree/f831ab66814297da540d832a5235f8e904f29d06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Delta Attention belongs to the family of recurrent linear-attention mechanisms. Instead of reading an ever-growing list of past key/value rows for every step, it maintains a matrix state for each head. The current key addresses that state, the current value supplies content, and learned gates control decay and update strength. A delta update corrects the mismatch between the content currently retrieved by the key and the desired value. This bounded state is efficient for long-sequence processing, but it is a compressed memory: it does not preserve an independently addressable row for every past token. Periodic MLA layers provide complementary explicit attention over token history.</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https://github.com/ajith-sirra-amd/InferenceMAX_Rocm_Team/blob/docs/kimi-k3-mi355x-teaching-20261029/presentations/kimi-k3-mi355x/guide/03-kimi-k3-architecture.md#s-23</a:t>
            </a:r>
          </a:p>
          <a:p/>
          <a:p>
            <a:r>
              <a:t>SOURCES:</a:t>
            </a:r>
          </a:p>
          <a:p>
            <a:r>
              <a:t>Kimi-K3 model card and checkpoint configuration: https://huggingface.co/moonshotai/Kimi-K3/tree/f831ab66814297da540d832a5235f8e904f29d06</a:t>
            </a:r>
          </a:p>
          <a:p>
            <a:r>
              <a:t>Kimi Linear: Kimi Delta Attention: https://arxiv.org/abs/2510.26692</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explanatory column-vector convention for the gated delta rule, not a literal transcription of a fused kernel. The state S maps a key-space vector to a value-space vector. First apply a learned decay to obtain Sbar. Query that decayed memory with the current key k, compare the retrieved value with the desired current value v, and form the residual r. The rank-one update beta times k times r transpose writes the correction. Finally the query q reads the updated state. Actual KDA includes normalization, learned gate parameterizations, short convolutions, output gating and chunked algorithms; those details preserve the conceptual sequence while changing efficient implementation.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https://github.com/ajith-sirra-amd/InferenceMAX_Rocm_Team/blob/docs/kimi-k3-mi355x-teaching-20261029/presentations/kimi-k3-mi355x/guide/03-kimi-k3-architecture.md#s-24</a:t>
            </a:r>
          </a:p>
          <a:p/>
          <a:p>
            <a:r>
              <a:t>SOURCES:</a:t>
            </a:r>
          </a:p>
          <a:p>
            <a:r>
              <a:t>Kimi Linear: Kimi Delta Attention: https://arxiv.org/abs/2510.26692</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recurrence does not require a GPU implementation to process every prompt token with an isolated tiny kernel. Chunked formulations express portions of the computation as matrix operations and carry a state between chunks. Decode benefits from a compact update because only a small number of tokens arrive. Kimi-K3 also uses a short causal convolution of width four before the recurrent mixing, so its persistent cache includes convolution history as well as the main state. Speculative generation creates an additional correctness issue: rejected candidate tokens must not permanently modify either state. Restore or checkpoint strategies must keep accepted and rejected histories consistent.</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https://github.com/ajith-sirra-amd/InferenceMAX_Rocm_Team/blob/docs/kimi-k3-mi355x-teaching-20261029/presentations/kimi-k3-mi355x/guide/03-kimi-k3-architecture.md#s-25</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Kimi Linear: Kimi Delta Attention: https://arxiv.org/abs/2510.26692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MLA means Multi-head Latent Attention. A learned down-projection transforms each token's hidden state into a compact shared KV latent. The checkpoint also retains a 64-feature shared key component in the layout field historically named RoPE. In this NoPE checkpoint, do not interpret that name as an active positional rotation. The persistent cache stores the compressed representation rather than separate expanded K/V for every head. Prefill can reconstruct per-head K/V to use an efficient FMHA kernel. Some decode algorithms instead absorb projection matrices into queries and outputs, retaining computation in latent space. Compression is a learned model parameterization, distinct from FP8 numeric quantization.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https://github.com/ajith-sirra-amd/InferenceMAX_Rocm_Team/blob/docs/kimi-k3-mi355x-teaching-20261029/presentations/kimi-k3-mi355x/guide/03-kimi-k3-architecture.md#s-26</a:t>
            </a:r>
          </a:p>
          <a:p/>
          <a:p>
            <a:r>
              <a:t>SOURCES:</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query branch projects the hidden state down to a 1,536-dimensional latent, normalizes it, then applies q_b_proj to obtain per-head query features. In the local TP8 prefill representation, Q has 12 heads and width 192 per head. That width consists of 128 non-shared key-matching features plus the 64-column shared-key layout component. The implementation can fuse the initial Q/KV projections or gate preparation, so these boxes describe logical transformations rather than guaranteed individual kernels. Query preparation is not the same operation as kv_b_proj: q_b_proj expands the current query latent, while kv_b_proj reconstructs key/value features from compressed cached KV.</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https://github.com/ajith-sirra-amd/InferenceMAX_Rocm_Team/blob/docs/kimi-k3-mi355x-teaching-20261029/presentations/kimi-k3-mi355x/guide/03-kimi-k3-architecture.md#s-27</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TP8, the projection weight has 3,072 output rows because each of 12 local heads needs 128 key features and 128 value features. Multiplication produces 256 features per head, which are split into the non-shared key part and the value. The 64-feature cached shared-key component is appended to every head's key, giving final key width 192. Thus C, W_kv, expanded K/V and attention output are four distinct objects. FMHA receives Q, K and V plus scales and metadata; it does not receive the kv_b_proj weight. Kernel fusion can perform row gathering, projection, splitting and assembly without materializing all of these logical intermediates.</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https://github.com/ajith-sirra-amd/InferenceMAX_Rocm_Team/blob/docs/kimi-k3-mi355x-teaching-20261029/presentations/kimi-k3-mi355x/guide/03-kimi-k3-architecture.md#s-28</a:t>
            </a:r>
          </a:p>
          <a:p/>
          <a:p>
            <a:r>
              <a:t>SOURCES:</a:t>
            </a:r>
          </a:p>
          <a:p>
            <a:r>
              <a:t>Campaign data-flow diagrams and measured stages: https://github.com/ajith-sirra-amd/InferenceMAX_Rocm_Team/blob/b786b8cae9992c190c3d3323197c937d8ed8f8b8/docs/kimi/fp8-fmha-dataflow.md</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non-shared key part, projecting cached latent rows C to K and then taking q dot K is algebraically equivalent to first multiplying q by the key-projection weight and then taking its dot product with C. Similarly, multiplying attention probabilities by C and then by the value-projection weight is equivalent to using expanded values. These identities motivate MLA decode implementations that avoid expanding the entire history. Shared key components and masks still need their own correct handling. The performance tradeoff depends on query count and matrix shapes, so prefill and decode can legitimately choose different realizations of the same model. The direct FP8 up-projection experiment in this deck targets the expanded cached-prefill route.</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https://github.com/ajith-sirra-amd/InferenceMAX_Rocm_Team/blob/docs/kimi-k3-mi355x-teaching-20261029/presentations/kimi-k3-mi355x/guide/03-kimi-k3-architecture.md#s-29</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checkpoint enables mla_use_output_gate. An output gate is different from a causal mask and different from an MoE router. The causal mask decides which token pairs are allowed. The attention softmax determines relative weights over allowed keys. The output gate modulates the retrieved features, typically through a learned bounded nonlinearity, and the output projection mixes head outputs into the model hidden space. Implementations may fuse gate preparation with an earlier projection and fuse gate application with output processing. Gate shape, dtype and operation order must still follow the reference path when optimizing a kernel.</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https://github.com/ajith-sirra-amd/InferenceMAX_Rocm_Team/blob/docs/kimi-k3-mi355x-teaching-20261029/presentations/kimi-k3-mi355x/guide/03-kimi-k3-architecture.md#s-30</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mixture-of-experts layer contains many learned feed-forward networks. A router scores experts for each token, selects a configured subset and combines their outputs. Kimi-K3 uses sigmoid router scores, a correction-bias mechanism for selection, and renormalized selected weights in the inspected implementation. The routing logits and correction bias are handled in FP32. Sixteen out of 896 routed experts is about 1.79 percent of the pool per token, but a batch of many tokens can collectively touch many more experts. Sparse activation reduces compute relative to running every expert; it does not remove the need to store the full expert pool somewhere accessible.</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https://github.com/ajith-sirra-amd/InferenceMAX_Rocm_Team/blob/docs/kimi-k3-mi355x-teaching-20261029/presentations/kimi-k3-mi355x/guide/03-kimi-k3-architecture.md#s-31</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routed branch uses a learned down-projection from hidden width 7,168 to routed-expert width 3,584. Selected experts transform that lower-dimensional representation. Their weighted combination is normalized when latent_moe_use_norm is enabled and projected back to hidden width. The router itself scores from the original hidden representation in the inspected code. Shared experts operate on the original hidden space and form a parallel branch. Do not confuse this routed-expert up-projection with attention kv_b_proj: they both expand features but have different weights, inputs, mathematical roles and performance costs. Runtime implementations can fuse parts of the routed tail with communication or residual processing.</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https://github.com/ajith-sirra-amd/InferenceMAX_Rocm_Team/blob/docs/kimi-k3-mi355x-teaching-20261029/presentations/kimi-k3-mi355x/guide/03-kimi-k3-architecture.md#s-32</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Kimi-K3's hidden_act is situ, with activation_situ_beta=4 and activation_situ_linear_beta=25. The inspected SiTU implementation computes beta*tanh(gate/beta)*sigmoid(gate), and softly clips the up branch with linear_beta*tanh(up/linear_beta). It then multiplies the two branches elementwise. This is a gated linear unit variant, not simply an ordinary ReLU or a plain SiLU. The clipping is smooth, which shapes the activation range without a hard discontinuity. The two configured shared experts are implemented as a combined shared feed-forward branch with intermediate width 2*3,072=6,144. The first dense layer has intermediate width 33,792.</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https://github.com/ajith-sirra-amd/InferenceMAX_Rocm_Team/blob/docs/kimi-k3-mi355x-teaching-20261029/presentations/kimi-k3-mi355x/guide/03-kimi-k3-architecture.md#s-33</a:t>
            </a:r>
          </a:p>
          <a:p/>
          <a:p>
            <a:r>
              <a:t>SOURCES:</a:t>
            </a:r>
          </a:p>
          <a:p>
            <a:r>
              <a:t>Kimi-K3 model card and checkpoint configuration: https://huggingface.co/moonshotai/Kimi-K3/tree/f831ab66814297da540d832a5235f8e904f29d06</a:t>
            </a:r>
          </a:p>
          <a:p>
            <a:r>
              <a:t>SiTU-GLU reference implementation: https://github.com/ajith-sirra-amd/vllm/blob/08e5d81a0d4fc76c20a97f9a517195db5a5dc5be/vllm/model_executor/layers/activation.py</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Ordinary residual addition sums a previous representation and a new transformation with a fixed structure. Attention Residuals add learned mixing over available representations across depth. In the inspected Kimi-K3 implementation, block-state storage and learned projection/norm operations produce the residual input for attention and feed-forward sublayers. This is a different axis from token attention: token attention retrieves across sequence positions, while Attention Residuals mix across model depth. The checkpoint uses attn_res_block_size=12. Block storage limits the overhead compared with keeping every sublayer output independently. GPU execution introduces extra norm, scoring, weighted-sum and state-management work that can be targets for fusion.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https://github.com/ajith-sirra-amd/InferenceMAX_Rocm_Team/blob/docs/kimi-k3-mi355x-teaching-20261029/presentations/kimi-k3-mi355x/guide/03-kimi-k3-architecture.md#s-34</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natively multimodal, but visual input has an additional processing path. The checkpoint vision configuration uses 14-pixel patches, 27 encoder layers, width 1,024 and 12 vision attention heads, followed by patch merging and a projector that matches the text hidden width of 7,168. The model card names this encoder MoonViT-V2 and reports about 401 million vision parameters. Dynamic image preprocessing, spatial/temporal attention and patch merging affect the number and cost of visual tokens. The campaign's agentic text throughput figures should not be read as image or video throughput. Exact multimodal packing details belong to the processor implementation.</a:t>
            </a:r>
          </a:p>
          <a:p/>
          <a:p>
            <a:r>
              <a:t>ANIMATION: Advance one click at a time to reveal each group. In the video the same groups appear progressively.</a:t>
            </a:r>
          </a:p>
          <a:p/>
          <a:p>
            <a:r>
              <a:t>READ MORE: https://github.com/ajith-sirra-amd/InferenceMAX_Rocm_Team/blob/docs/kimi-k3-mi355x-teaching-20261029/presentations/kimi-k3-mi355x/guide/03-kimi-k3-architecture.md#s-35</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MI355X is an AMD Instinct accelerator built on CDNA 4. The ROCm specification table lists gfx950, 256 compute units, 32 CUs per XCD, and 64-lane wavefronts. HBM3E stores weights, persistent caches and large activations. XCD is a compute chiplet inside one GPU; it is not another rank or a separate accelerator. A GPU is a hierarchy of compute units and memories rather than a single undifferentiated matrix multiplier. Peak arithmetic rates are dtype-dependent, but peak specifications alone cannot predict a serving workload. This deck uses the vendor's advertised memory capacity convention and does not infer a measured bandwidth from it.</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https://github.com/ajith-sirra-amd/InferenceMAX_Rocm_Team/blob/docs/kimi-k3-mi355x-teaching-20261029/presentations/kimi-k3-mi355x/guide/04-mi355x-execution.md#s-36</a:t>
            </a:r>
          </a:p>
          <a:p/>
          <a:p>
            <a:r>
              <a:t>SOURCES:</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fast matrix or attention kernel loads a tile from HBM, reuses it many times close to the compute units, and writes only the required result. Registers hold accumulators and local values; LDS supports data sharing among threads in a workgroup. Cache hits can reduce HBM traffic, so logical tensor sizes are not the same as measured HBM bytes. Excessive register or LDS use can reduce occupancy, limiting the number of active workgroups and the ability to hide latency. A fused kernel can remove intermediate HBM traffic but increase local resource pressure. That is why fusion is a tradeoff to measure rather than an automatic performance guarantee.</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https://github.com/ajith-sirra-amd/InferenceMAX_Rocm_Team/blob/docs/kimi-k3-mi355x-teaching-20261029/presentations/kimi-k3-mi355x/guide/04-mi355x-execution.md#s-37</a:t>
            </a:r>
          </a:p>
          <a:p/>
          <a:p>
            <a:r>
              <a:t>SOURCES:</a:t>
            </a:r>
          </a:p>
          <a:p>
            <a:r>
              <a:t>AMD ROCm GPU architecture specifications: https://rocm.docs.amd.com/en/latest/reference/gpu-arch-specs.html</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GEMM means general matrix multiplication. A GPU kernel divides the output into tiles, assigns them to workgroups and streams tiles of the reduction dimension K. Threads organized into wavefronts cooperate on loads and matrix instructions. MFMA is AMD's matrix fused multiply-accumulate instruction family. Input precision, tile shape, alignment, packing and accumulator precision affect which instructions are available. A large prefill M gives more reuse of weight tiles across tokens. A small decode M can leave work dominated by weight movement, launch overhead or inefficient tile occupancy. Transposition in a formula is a logical operation; the kernel may consume a packed layout without physically transposing a full tensor.</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https://github.com/ajith-sirra-amd/InferenceMAX_Rocm_Team/blob/docs/kimi-k3-mi355x-teaching-20261029/presentations/kimi-k3-mi355x/guide/04-mi355x-execution.md#s-38</a:t>
            </a:r>
          </a:p>
          <a:p/>
          <a:p>
            <a:r>
              <a:t>SOURCES:</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Arithmetic intensity is work per byte moved at a chosen memory level. With low intensity, a kernel cannot feed the compute units quickly enough, so attainable performance is bounded by bandwidth times intensity. With enough reuse, the compute ceiling dominates. The roofline is an upper-bound model, not a complete latency model: launch cost, synchronization, cache behavior, occupancy and dependencies can hold a kernel below either ceiling. FP8 may improve both arithmetic throughput and operand byte count, but only where the kernel can exploit the corresponding instructions and layouts. A small or communication-bound operation can gain little from faster arithmetic.</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https://github.com/ajith-sirra-amd/InferenceMAX_Rocm_Team/blob/docs/kimi-k3-mi355x-teaching-20261029/presentations/kimi-k3-mi355x/guide/04-mi355x-execution.md#s-39</a:t>
            </a:r>
          </a:p>
          <a:p/>
          <a:p>
            <a:r>
              <a:t>SOURCES:</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simplest capacity estimate multiplies total parameters by bytes per parameter. At four bits, 2.8 trillion parameters would occupy about 1.4 trillion bytes. That is only a lower-bound illustration: the checkpoint leaves important modules in higher precision, and quantized weights require scales, packing metadata and sometimes runtime repacking. Eight MI355X accelerators provide 2,304 GB of advertised aggregate memory, but the memory is distributed across devices rather than a single automatically shared pool. Each rank needs its own local working memory and some replicated tensors. Activated parameter count estimates per-token model work; it must not replace total parameter count when estimating model residency.</a:t>
            </a:r>
          </a:p>
          <a:p/>
          <a:p>
            <a:r>
              <a:t>ANIMATION: Advance one click at a time to reveal each group. In the video the same groups appear progressively.</a:t>
            </a:r>
          </a:p>
          <a:p/>
          <a:p>
            <a:r>
              <a:t>READ MORE: https://github.com/ajith-sirra-amd/InferenceMAX_Rocm_Team/blob/docs/kimi-k3-mi355x-teaching-20261029/presentations/kimi-k3-mi355x/guide/04-mi355x-execution.md#s-40</a:t>
            </a:r>
          </a:p>
          <a:p/>
          <a:p>
            <a:r>
              <a:t>SOURCES:</a:t>
            </a:r>
          </a:p>
          <a:p>
            <a:r>
              <a:t>Kimi-K3 model card and checkpoint configuration: https://huggingface.co/moonshotai/Kimi-K3/tree/f831ab66814297da540d832a5235f8e904f29d06</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layer handles request formatting, tokenization and output streaming. The scheduler chooses which request tokens run next and manages cache allocation and prefix reuse. The model implementation maps those tokens through KDA, MLA, MoE and residual operations. Backend dispatch selects kernels such as AITER attention, matrix multiplication, routing and collective operations. HIP is the ROCm runtime interface for launches, memory and streams. RCCL supplies collective communication, although inherited interfaces and kernel names can still say NCCL. FlyDSL is used to implement specialized kernels; it is not itself an attention mathematical definition. Enabling a flag only requests a path—the runtime's eligibility checks determine whether it executes.</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https://github.com/ajith-sirra-amd/InferenceMAX_Rocm_Team/blob/docs/kimi-k3-mi355x-teaching-20261029/presentations/kimi-k3-mi355x/guide/05-distributed-serving.md#s-41</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rank is one participant in a distributed process group, typically associated with a GPU worker. Tensor parallelism shards dimensions of model weights and their calculations. For a column-parallel linear layer, ranks own different output features. A matching row-parallel layer consumes those partitions and produces partial contributions that must be combined. The exact collectives depend on the chosen implementation and possible fusion. TP8 does not imply that every tensor is divided evenly or that every expert is assigned wholly to one GPU. Some tensors are replicated, and MoE weights can be tensor-sharded even when expert parallelism is disabled.</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https://github.com/ajith-sirra-amd/InferenceMAX_Rocm_Team/blob/docs/kimi-k3-mi355x-teaching-20261029/presentations/kimi-k3-mi355x/guide/05-distributed-serving.md#s-42</a:t>
            </a:r>
          </a:p>
          <a:p/>
          <a:p>
            <a:r>
              <a:t>SOURCES:</a:t>
            </a:r>
          </a:p>
          <a:p>
            <a:r>
              <a:t>vLLM Kimi-K3 AMD implementation: https://github.com/ajith-sirra-amd/vllm/tree/08e5d81a0d4fc76c20a97f9a517195db5a5dc5be/vllm/models/kimi_k3/amd</a:t>
            </a:r>
          </a:p>
          <a:p>
            <a:r>
              <a:t>Kimi-K3 model card and checkpoint configuration: https://huggingface.co/moonshotai/Kimi-K3/tree/f831ab66814297da540d832a5235f8e904f29d06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 context parallelism distributes sequence-context storage and work among ranks in a tensor-parallel group. TP concerns model-feature dimensions; DCP concerns sequence-context ownership. Their sizes do not multiply the GPU count in this recipe. Under DCP8, different context rows belong to different ranks, subject to the configured interleave and block mapping. A decode implementation may exchange queries and merge local partial attention outputs. The campaign's cached-prefill route gathers compressed FP8 cache chunks before local up-projection and FMHA. Thus it is too simplistic to say that DCP always performs exactly one particular all-gather at every stage. Communication needs follow the chosen forward path.</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https://github.com/ajith-sirra-amd/InferenceMAX_Rocm_Team/blob/docs/kimi-k3-mi355x-teaching-20261029/presentations/kimi-k3-mi355x/guide/05-distributed-serving.md#s-43</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All-gather assembles distributed pieces, such as partitions needed by a subsequent computation. All-reduce combines contributions, often summing row-parallel outputs. All-to-all redistributes pieces according to destination, useful in some expert or context-parallel schemes. Communication performance depends on message size, topology, synchronization and rank skew. Small collectives are often latency-sensitive; large ones can be bandwidth-sensitive. A fast GPU may wait for a slower rank, so communication time cannot be diagnosed by bytes alone. Interconnect bandwidth is not the same as HBM bandwidth. Our diagrams show logical communication and intentionally avoid claiming an unverified physical link topology for the replacement server.</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https://github.com/ajith-sirra-amd/InferenceMAX_Rocm_Team/blob/docs/kimi-k3-mi355x-teaching-20261029/presentations/kimi-k3-mi355x/guide/05-distributed-serving.md#s-44</a:t>
            </a:r>
          </a:p>
          <a:p/>
          <a:p>
            <a:r>
              <a:t>SOURCES:</a:t>
            </a:r>
          </a:p>
          <a:p>
            <a:r>
              <a:t>vLLM Kimi-K3 AMD implementation: https://github.com/ajith-sirra-amd/vllm/tree/08e5d81a0d4fc76c20a97f9a517195db5a5dc5be/vllm/models/kimi_k3/amd</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separately computed attention chunk has normalized its own probabilities to sum to one. Those outputs cannot be simply added or averaged because the chunks may have very different total unnormalized attention mass. LSE tells us that mass in logarithmic form. Compute the log of the combined mass stably, then use exp(LSE_chunk-LSE_total) as each chunk's weight. The operation applies independently to each query and head. It supports merging cached-prefix attention with new-token causal attention, or local context partitions. An LSE error can therefore change the final output even when each chunk's normalized output appears reasonable. Log base and tensor layout must match the merge API.</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https://github.com/ajith-sirra-amd/InferenceMAX_Rocm_Team/blob/docs/kimi-k3-mi355x-teaching-20261029/presentations/kimi-k3-mi355x/guide/05-distributed-serving.md#s-45</a:t>
            </a:r>
          </a:p>
          <a:p/>
          <a:p>
            <a:r>
              <a:t>SOURCES:</a:t>
            </a:r>
          </a:p>
          <a:p>
            <a:r>
              <a:t>FlashAttention: exact attention with IO awareness: https://arxiv.org/abs/2205.14135</a:t>
            </a:r>
          </a:p>
          <a:p>
            <a:r>
              <a:t>Campaign data-flow diagrams and measured stages: https://github.com/ajith-sirra-amd/InferenceMAX_Rocm_Team/blob/b786b8cae9992c190c3d3323197c937d8ed8f8b8/docs/kimi/fp8-fmha-dataflow.md</a:t>
            </a:r>
          </a:p>
          <a:p>
            <a:r>
              <a:t>Causal FP8 implementation and accuracy evidence: https://github.com/ajith-sirra-amd/InferenceMAX_Rocm_Team/blob/b786b8cae9992c190c3d3323197c937d8ed8f8b8/docs/kimi/causal-fp8-attention.md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batching lets the server change batch membership between model steps. Requests with different prompt lengths, output lengths and completion times share GPU work. Chunked prefill limits how many prompt tokens a single step processes, allowing decode progress between chunks. The max-num-batched-tokens setting bounds the token work scheduled in a step; max-num-seqs bounds sequence slots; concurrency is the offered client workload and is not automatically equal to either limit. Ragged batches use packed token tensors plus sequence-offset metadata. More concurrency can improve hardware utilization while worsening latency or cache pressure. A mixed step can delay decoding when a large prefill chunk dominates its duration.</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https://github.com/ajith-sirra-amd/InferenceMAX_Rocm_Team/blob/docs/kimi-k3-mi355x-teaching-20261029/presentations/kimi-k3-mi355x/guide/05-distributed-serving.md#s-46</a:t>
            </a:r>
          </a:p>
          <a:p/>
          <a:p>
            <a:r>
              <a:t>SOURCES:</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multi-turn agent may repeatedly send a conversation or code context with a small appended tool result. Prefix caching recognizes reusable token blocks and avoids recomputing them. CPU-DRAM offload can retain more state than HBM alone, but moving it back costs bandwidth, synchronization and CPU work. For a hybrid KDA/MLA model, cache reuse also requires a consistent recurrent state at the reuse boundary; caching only an MLA row is not a complete hybrid-state solution. Cache misses, eviction, fragmentation and request dependency timing affect throughput. Raw input tokens counted by a benchmark can include reused prefix tokens, so input-plus-output throughput does not equal newly computed token throughput.</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https://github.com/ajith-sirra-amd/InferenceMAX_Rocm_Team/blob/docs/kimi-k3-mi355x-teaching-20261029/presentations/kimi-k3-mi355x/guide/05-distributed-serving.md#s-47</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Multi-token prediction and speculative decoding try to amortize expensive target-model execution across several output tokens. In this campaign, the serving recipe uses an external Kimi-K3 DSpark draft model. The target checkpoint has num_nextn_predict_layers=0, so do not imply it contains the active draft module used by the benchmark. A correct speculative algorithm must use the configured acceptance/rejection scheme and commit only the appropriate token and recurrent-state progress. High acceptance can help, but drafting, verification, communication and state recovery also cost time. The performance harness uses prescribed synthetic acceptance behavior, while GSM8K accuracy uses real speculative verification; those are different evidence types.</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https://github.com/ajith-sirra-amd/InferenceMAX_Rocm_Team/blob/docs/kimi-k3-mi355x-teaching-20261029/presentations/kimi-k3-mi355x/guide/05-distributed-serving.md#s-48</a:t>
            </a:r>
          </a:p>
          <a:p/>
          <a:p>
            <a:r>
              <a:t>SOURCES:</a:t>
            </a:r>
          </a:p>
          <a:p>
            <a:r>
              <a:t>Kimi-K3 model card and checkpoint configuration: https://huggingface.co/moonshotai/Kimi-K3/tree/f831ab66814297da540d832a5235f8e904f29d06</a:t>
            </a:r>
          </a:p>
          <a:p>
            <a:r>
              <a:t>Causal FP8 implementation and accuracy evidence: https://github.com/ajith-sirra-amd/InferenceMAX_Rocm_Team/blob/b786b8cae9992c190c3d3323197c937d8ed8f8b8/docs/kimi/causal-fp8-attention.md</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NUMA describes different CPU-memory locality domains. A CCD is an AMD CPU compute die, distinct from a GPU XCD. Binding worker threads to suitable cores can reduce migration, contention and remote-memory access, but core choices must come from the actual server topology. This campaign preserves its existing CCD pinning; native NUMA experiments are deferred. GPU graph replay reduces repeated host-side launch overhead by replaying a captured set of operations. ROCm uses HIP graph facilities, even when vLLM configuration or PyTorch APIs retain CUDA naming. Graphs require stable buffers and supported shapes/control flow; capture pools and intermediate storage can consume memory otherwise available for caches.</a:t>
            </a:r>
          </a:p>
          <a:p/>
          <a:p>
            <a:r>
              <a:t>ANIMATION: Advance one click at a time to reveal each group. In the video the same groups appear progressively.</a:t>
            </a:r>
          </a:p>
          <a:p/>
          <a:p>
            <a:r>
              <a:t>READ MORE: https://github.com/ajith-sirra-amd/InferenceMAX_Rocm_Team/blob/docs/kimi-k3-mi355x-teaching-20261029/presentations/kimi-k3-mi355x/guide/05-distributed-serving.md#s-49</a:t>
            </a:r>
          </a:p>
          <a:p/>
          <a:p>
            <a:r>
              <a:t>SOURCES:</a:t>
            </a:r>
          </a:p>
          <a:p>
            <a:r>
              <a:t>AMD ROCm GPU architecture specifications: https://rocm.docs.amd.com/en/latest/reference/gpu-arch-specs.html</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BF16 uses one sign bit, eight exponent bits and seven explicit fraction bits, offering a broad dynamic range but limited mantissa precision. E4M3 FP8 uses four exponent bits and three fraction bits; finite-range conventions depend on the exact format. MXFP4 is a block-scaled four-bit format, not a synonym for a scalar FP8 activation. A model can store routed-expert weights in MXFP4, dense weights in BF16 or online FP8, compressed cache in FP8, attention output in BF16 and softmax statistics in FP32 at the same time. Storage dtype, matrix-multiply operand dtype, accumulator dtype and output dtype must be stated separately.</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https://github.com/ajith-sirra-amd/InferenceMAX_Rocm_Team/blob/docs/kimi-k3-mi355x-teaching-20261029/presentations/kimi-k3-mi355x/guide/06-fp8-data-flow.md#s-50</a:t>
            </a:r>
          </a:p>
          <a:p/>
          <a:p>
            <a:r>
              <a:t>SOURCES:</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a:p>
            <a:r>
              <a:t>AMD ROCm GPU architecture specifications: https://rocm.docs.amd.com/en/latest/reference/gpu-arch-specs.html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fit values into an FP8 format, divide by a scale, round to representable values and clip if necessary. A descale s converts a stored FP8 number back to its approximate real value. Some APIs instead pass its reciprocal, so always check the contract. For E4M3FN, the largest finite magnitude is 448; that value is not universal across all FP8 formats such as FNUZ variants. Dynamic quantization derives a scale from the current tensor, while static schemes reuse predetermined scales. Zero and extremely small ranges need explicit handling. Dequantizing an FP8 tensor restores its units and a wider storage dtype, but not the original BF16 information lost during quantization.</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https://github.com/ajith-sirra-amd/InferenceMAX_Rocm_Team/blob/docs/kimi-k3-mi355x-teaching-20261029/presentations/kimi-k3-mi355x/guide/06-fp8-data-flow.md#s-51</a:t>
            </a:r>
          </a:p>
          <a:p/>
          <a:p>
            <a:r>
              <a:t>SOURCES:</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scale is cheap to manage but must cover the widest value range in the tensor. If one value is an outlier, most other values occupy only a small part of the available FP8 range. Per-channel weight quantization uses one scale for each output channel, reducing that coupling. Block scaling such as MX formats trades finer local ranges against additional scale storage and layout constraints. The direct up-projection uses online-quantized per-output-channel FP8 weights plus the cache descale and supplied K/V output descales. These scales are not interchangeable. The new-token causal path must retain its original Q/K/V descales rather than substituting headroom scales intended for cached reconstruction.</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https://github.com/ajith-sirra-amd/InferenceMAX_Rocm_Team/blob/docs/kimi-k3-mi355x-teaching-20261029/presentations/kimi-k3-mi355x/guide/06-fp8-data-flow.md#s-52</a:t>
            </a:r>
          </a:p>
          <a:p/>
          <a:p>
            <a:r>
              <a:t>SOURCES:</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a:p>
            <a:r>
              <a:t>Causal FP8 implementation and accuracy evidence: https://github.com/ajith-sirra-amd/InferenceMAX_Rocm_Team/blob/b786b8cae9992c190c3d3323197c937d8ed8f8b8/docs/kimi/causal-fp8-attention.md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campaign's baseline attention data flow, not a claim that the entire model was unoptimized or uniformly BF16. The compressed KV cache was already FP8. The cached-prefill reconstruction used BF16 projection operands and produced expanded BF16 keys and values. Query operands were BF16, and the fused attention kernel accepted BF16 Q/K/V. Gathering, dequantization and projection can share a kernel; the conceptual boxes do not imply a separate HBM buffer for every step. The benchmark includes all model and serving work. Its throughput label therefore describes a full configuration and is not an isolated FMHA kernel measurement.</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https://github.com/ajith-sirra-amd/InferenceMAX_Rocm_Team/blob/docs/kimi-k3-mi355x-teaching-20261029/presentations/kimi-k3-mi355x/guide/06-fp8-data-flow.md#s-53</a:t>
            </a:r>
          </a:p>
          <a:p/>
          <a:p>
            <a:r>
              <a:t>SOURCES:</a:t>
            </a:r>
          </a:p>
          <a:p>
            <a:r>
              <a:t>Baseline benchmark: https://github.com/ajith-sirra-amd/InferenceMAX_Rocm_Team/actions/runs/39239112271/job/118015427785</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FP8 FMHA stage changes the attention operands while retaining BF16 kv_b_proj reconstruction. It dynamically quantizes Q and the expanded K/V to FP8 and passes the matching descales to the fused kernel. This introduces additional rounding and preparation work. In particular, expanded BF16 K/V are stored and then read by the quantizer before the FP8 output is stored. Q preparation can be reused within an immutable forward when the tensor identity and layout match. The measured full configuration is faster than the baseline, but the difference also reflects the complete runtime settings and cannot be claimed as a clean isolated speedup for the FMHA instruction sequence.</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https://github.com/ajith-sirra-amd/InferenceMAX_Rocm_Team/blob/docs/kimi-k3-mi355x-teaching-20261029/presentations/kimi-k3-mi355x/guide/06-fp8-data-flow.md#s-54</a:t>
            </a:r>
          </a:p>
          <a:p/>
          <a:p>
            <a:r>
              <a:t>SOURCES:</a:t>
            </a:r>
          </a:p>
          <a:p>
            <a:r>
              <a:t>Cached FP8 FMHA benchmark: https://github.com/ajith-sirra-amd/InferenceMAX_Rocm_Team/actions/runs/40646139769</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 path uses compatible FP8 projection weights and compressed FP8 cache operands in AITER's fused gather/up-projection kernel. The matrix multiply accumulates in FP32. Its epilogue applies input and weight descales, splits the projected key/value components, appends the cached shared-key columns and rounds directly into FP8 output storage using supplied output descales. This removes the expanded BF16 K/V buffer between cached projection and attention, along with the separate cached-output quantization pass. It does not remove all quantization or all higher-precision arithmetic. Online weight conversion occurs after loading, and output scale policy still affects accuracy.</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https://github.com/ajith-sirra-amd/InferenceMAX_Rocm_Team/blob/docs/kimi-k3-mi355x-teaching-20261029/presentations/kimi-k3-mi355x/guide/06-fp8-data-flow.md#s-55</a:t>
            </a:r>
          </a:p>
          <a:p/>
          <a:p>
            <a:r>
              <a:t>SOURCES:</a:t>
            </a:r>
          </a:p>
          <a:p>
            <a:r>
              <a:t>FP8 projection plus cached FP8 FMHA benchmark: https://github.com/ajith-sirra-amd/InferenceMAX_Rocm_Team/actions/runs/40695099743</a:t>
            </a:r>
          </a:p>
          <a:p>
            <a:r>
              <a:t>Campaign data-flow diagrams and measured stages: https://github.com/ajith-sirra-amd/InferenceMAX_Rocm_Team/blob/b786b8cae9992c190c3d3323197c937d8ed8f8b8/docs/kimi/fp8-fmha-dataflow.md</a:t>
            </a:r>
          </a:p>
          <a:p>
            <a:r>
              <a:t>AITER fused FP8 gather and up-projection: https://github.com/ROCm/aiter/blob/bbef5a6f2d3733b293c80d2cee6a8d464e88bc01/aiter/ops/flydsl/gather_kv_b_proj.py</a:t>
            </a:r>
          </a:p>
          <a:p>
            <a:r>
              <a:t>ATOM MLA reference implementation: https://github.com/ROCm/ATOM/blob/661ef7661eef0d804d2b52d81ed41d80aeaf9fdb/atom/model_ops/attention_mla.py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one cache descale s_C and an output-channel weight descale s_W,j for the illustrated projection contract. The raw FP8 dot product is in quantized units, so multiplying by both descales restores the physical activation units before applying the output quantization scale. Keys and values can use different output scales. The shared cached key columns must also be interpreted using their cache scale and encoded under the final K output scale. A missing scale, reciprocal-versus-descale confusion, wrong channel axis or reused scale from another forward can produce large numerical errors even when every tensor has the expected dtype. Kernel correctness must test nonunit, unequal scales.</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https://github.com/ajith-sirra-amd/InferenceMAX_Rocm_Team/blob/docs/kimi-k3-mi355x-teaching-20261029/presentations/kimi-k3-mi355x/guide/06-fp8-data-flow.md#s-56</a:t>
            </a:r>
          </a:p>
          <a:p/>
          <a:p>
            <a:r>
              <a:t>SOURCES:</a:t>
            </a:r>
          </a:p>
          <a:p>
            <a:r>
              <a:t>Campaign data-flow diagrams and measured stages: https://github.com/ajith-sirra-amd/InferenceMAX_Rocm_Team/blob/b786b8cae9992c190c3d3323197c937d8ed8f8b8/docs/kimi/fp8-fmha-dataflow.md</a:t>
            </a:r>
          </a:p>
          <a:p>
            <a:r>
              <a:t>AITER fused FP8 gather and up-projection: https://github.com/ROCm/aiter/blob/bbef5a6f2d3733b293c80d2cee6a8d464e88bc01/aiter/ops/flydsl/gather_kv_b_proj.py</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measured local shape, each cached token expands into 12*(192+128)=3,840 values. A BF16 expanded buffer occupies 7,680 bytes per token per rank; FP8 occupies 3,840 bytes. Eliminating the BF16 materialization avoids one logical BF16 store and a later BF16 read, plus its separate quantizer's work, in that path. Those logical bytes are not a direct measurement of HBM traffic: caching, fusion, layout, workspace reuse and the chosen chunk size matter. The persistent MLA cache still stores its compressed representation; reducing an expanded temporary does not automatically increase the persistent KV cache capacity by the same amount.</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https://github.com/ajith-sirra-amd/InferenceMAX_Rocm_Team/blob/docs/kimi-k3-mi355x-teaching-20261029/presentations/kimi-k3-mi355x/guide/06-fp8-data-flow.md#s-57</a:t>
            </a:r>
          </a:p>
          <a:p/>
          <a:p>
            <a:r>
              <a:t>SOURCES:</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new-token experiment enables causal FP8 attention only for eligible forwards that already prepare the direct-FP8 cached path. It reuses the existing new-token Q/K/V tensors rather than adding another quantization pass. The new-token causal call uses the original Q/K/V descales, while cached reconstructed K/V use separate output scales with headroom. Forwards without direct-KV preparation retain the BF16 causal path. Therefore the phrase “all three FP8 paths enabled” means configured and eligible, not a claim that every model layer and every forward is FP8. Full new-token throughput remains unestablished after the latest runner-quota failure; the completed 17,406 result is the earlier cached-only stage.</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https://github.com/ajith-sirra-amd/InferenceMAX_Rocm_Team/blob/docs/kimi-k3-mi355x-teaching-20261029/presentations/kimi-k3-mi355x/guide/06-fp8-data-flow.md#s-58</a:t>
            </a:r>
          </a:p>
          <a:p/>
          <a:p>
            <a:r>
              <a:t>SOURCES:</a:t>
            </a:r>
          </a:p>
          <a:p>
            <a:r>
              <a:t>Causal FP8 implementation and accuracy evidence: https://github.com/ajith-sirra-amd/InferenceMAX_Rocm_Team/blob/b786b8cae9992c190c3d3323197c937d8ed8f8b8/docs/kimi/causal-fp8-attention.md</a:t>
            </a:r>
          </a:p>
          <a:p>
            <a:r>
              <a:t>New-token performance attempt; failed on runner quota: https://github.com/ajith-sirra-amd/InferenceMAX_Rocm_Team/actions/runs/40804432321</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old prefix contain P tokens and the new chunk N tokens. New query i sees old keys 0 through P-1 and new keys 0 through i. One efficient decomposition computes attention against the old prefix as a separate noncausal block, because all old keys are visible, and computes the new chunk using causal masking. Each branch returns normalized output and LSE. Merge those outputs using the mass-based rule. This decomposition is valid only when masks, positional/sequence offsets, softmax scale and per-tensor descales are consistent. Tests should modify future-token values under fixed scales and verify that earlier causal outputs do not change.</a:t>
            </a:r>
          </a:p>
          <a:p/>
          <a:p>
            <a:r>
              <a:t>ANIMATION: Advance one click at a time to reveal each group. In the video the same groups appear progressively.</a:t>
            </a:r>
          </a:p>
          <a:p/>
          <a:p>
            <a:r>
              <a:t>READ MORE: https://github.com/ajith-sirra-amd/InferenceMAX_Rocm_Team/blob/docs/kimi-k3-mi355x-teaching-20261029/presentations/kimi-k3-mi355x/guide/06-fp8-data-flow.md#s-59</a:t>
            </a:r>
          </a:p>
          <a:p/>
          <a:p>
            <a:r>
              <a:t>SOURCES:</a:t>
            </a:r>
          </a:p>
          <a:p>
            <a:r>
              <a:t>Causal FP8 implementation and accuracy evidence: https://github.com/ajith-sirra-amd/InferenceMAX_Rocm_Team/blob/b786b8cae9992c190c3d3323197c937d8ed8f8b8/docs/kimi/causal-fp8-attention.md</a:t>
            </a:r>
          </a:p>
          <a:p>
            <a:r>
              <a:t>FlashAttention: exact attention with IO awareness: https://arxiv.org/abs/2205.14135</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Dequantizing a cache row to BF16 does not recreate its original unquantized value. Both the BF16-projection and direct-FP8-projection routes start from approximate cached information. Direct FP8 projection additionally uses quantized weights and an output-scale policy, while avoiding an expanded BF16 storage round-trip. It is therefore incorrect to assume that eliminating a quantize/dequantize pair must improve accuracy. FP32 accumulation reduces accumulation error but does not eliminate input, weight or output rounding. Q and K errors perturb scores before softmax; V errors affect the weighted content. Scale saturation and clipping can be more damaging than ordinary rounding for outlier values.</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https://github.com/ajith-sirra-amd/InferenceMAX_Rocm_Team/blob/docs/kimi-k3-mi355x-teaching-20261029/presentations/kimi-k3-mi355x/guide/07-accuracy-and-execution-proof.md#s-60</a:t>
            </a:r>
          </a:p>
          <a:p/>
          <a:p>
            <a:r>
              <a:t>SOURCES:</a:t>
            </a:r>
          </a:p>
          <a:p>
            <a:r>
              <a:t>Projection implementation and numerical limits: https://github.com/ajith-sirra-amd/InferenceMAX_Rocm_Team/blob/b786b8cae9992c190c3d3323197c937d8ed8f8b8/docs/kimi/native-fp8-up-projection-audit.md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inspected ATOM-inspired direct-output policy derives K/V output descales from the newly prepared token tensors and multiplies them by two, after applying a small floor. This avoids a separate amax pass over the reconstructed cached chunk, helping performance. But earlier context can contain values outside the new-token range. Zero, very small or unrepresentative new-token activations are especially important test cases. The policy does not prove that all cached values fit in FP8. Alternatives such as a cached-chunk range pass, conservative static scales or more granular scaling have different performance and accuracy costs. The presentation records the current policy and its unresolved numerical limitation rather than declaring it universally safe.</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https://github.com/ajith-sirra-amd/InferenceMAX_Rocm_Team/blob/docs/kimi-k3-mi355x-teaching-20261029/presentations/kimi-k3-mi355x/guide/07-accuracy-and-execution-proof.md#s-61</a:t>
            </a:r>
          </a:p>
          <a:p/>
          <a:p>
            <a:r>
              <a:t>SOURCES:</a:t>
            </a:r>
          </a:p>
          <a:p>
            <a:r>
              <a:t>ATOM MLA reference implementation: https://github.com/ROCm/ATOM/blob/661ef7661eef0d804d2b52d81ed41d80aeaf9fdb/atom/model_ops/attention_mla.py</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high-precision reference built from exactly the same FP8 operands and scales isolates arithmetic and implementation errors. Comparing with the original BF16 inputs instead measures the combined effect of quantization and kernel arithmetic. Full-model evaluation then tests whether errors affect actual task outcomes. These tests answer different questions and none automatically replaces the others. Include masks, nonunit independent scales, ragged sequences, strided views, empty/short cases where supported, extreme ranges and graph replay with changed inputs. A cached output tensor from a previous forward can make a superficial numerical test pass while serving the wrong data, so pointer reuse and graph replay need explicit coverage.</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https://github.com/ajith-sirra-amd/InferenceMAX_Rocm_Team/blob/docs/kimi-k3-mi355x-teaching-20261029/presentations/kimi-k3-mi355x/guide/07-accuracy-and-execution-proof.md#s-62</a:t>
            </a:r>
          </a:p>
          <a:p/>
          <a:p>
            <a:r>
              <a:t>SOURCES:</a:t>
            </a:r>
          </a:p>
          <a:p>
            <a:r>
              <a:t>Projection implementation and numerical limits: https://github.com/ajith-sirra-amd/InferenceMAX_Rocm_Team/blob/b786b8cae9992c190c3d3323197c937d8ed8f8b8/docs/kimi/native-fp8-up-projection-audit.md</a:t>
            </a:r>
          </a:p>
          <a:p>
            <a:r>
              <a:t>Causal FP8 implementation and accuracy evidence: https://github.com/ajith-sirra-amd/InferenceMAX_Rocm_Team/blob/b786b8cae9992c190c3d3323197c937d8ed8f8b8/docs/kimi/causal-fp8-attention.md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new-token FP8 prototype's full evaluation used all 1,319 GSM8K questions, five-shot prompting, temperature zero and real speculative verification. It recorded successful cached FP8 projection, cached FP8 FMHA and causal FP8 calls on the same eight workers. Accuracy routing used eager execution with 512-token chunks to exercise the intended kernels; the normal performance run uses different routing and graphs. Controlled causal diagnostics passed, but the historical captured-BF16 absolute-LSE gate remains unpassed, with an observed discrepancy around 0.935 versus the unchanged 0.20 limit. The separately ported native vLLM PR has not inherited GPU validation merely because the prototype passed.</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https://github.com/ajith-sirra-amd/InferenceMAX_Rocm_Team/blob/docs/kimi-k3-mi355x-teaching-20261029/presentations/kimi-k3-mi355x/guide/07-accuracy-and-execution-proof.md#s-63</a:t>
            </a:r>
          </a:p>
          <a:p/>
          <a:p>
            <a:r>
              <a:t>SOURCES:</a:t>
            </a:r>
          </a:p>
          <a:p>
            <a:r>
              <a:t>New-token FP8 full GSM8K evaluation: https://github.com/ajith-sirra-amd/InferenceMAX_Rocm_Team/actions/runs/40712931283</a:t>
            </a:r>
          </a:p>
          <a:p>
            <a:r>
              <a:t>Causal FP8 implementation and accuracy evidence: https://github.com/ajith-sirra-amd/InferenceMAX_Rocm_Team/blob/b786b8cae9992c190c3d3323197c937d8ed8f8b8/docs/kimi/causal-fp8-attention.md</a:t>
            </a:r>
          </a:p>
          <a:p>
            <a:r>
              <a:t>Projection implementation and numerical limits: https://github.com/ajith-sirra-amd/InferenceMAX_Rocm_Team/blob/b786b8cae9992c190c3d3323197c937d8ed8f8b8/docs/kimi/native-fp8-up-projection-audit.md</a:t>
            </a:r>
          </a:p>
          <a:p>
            <a:r>
              <a:t>Native vLLM draft PR: https://github.com/vllm-project/vllm/pull/64288</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feature flag can be enabled while an eligibility guard routes the actual workload to BF16. Short GSM8K prompts can fail the normal large-cached-context threshold, so a test might report good accuracy without exercising the optimized path. Execution proof should identify the exact code revision, loaded implementation, worker identity, relevant call, input/output dtypes and successful completion during the evaluation phase. Graph capture alone is not proof of steady-state replay. A prototype plugin and a native backend can have different routing or integration bugs even when they call related kernels. Preserve the fixed task and thresholds, and disclose any accuracy-only routing override.</a:t>
            </a:r>
          </a:p>
          <a:p/>
          <a:p>
            <a:r>
              <a:t>ANIMATION: Advance one click at a time to reveal each group. In the video the same groups appear progressively.</a:t>
            </a:r>
          </a:p>
          <a:p/>
          <a:p>
            <a:r>
              <a:t>READ MORE: https://github.com/ajith-sirra-amd/InferenceMAX_Rocm_Team/blob/docs/kimi-k3-mi355x-teaching-20261029/presentations/kimi-k3-mi355x/guide/07-accuracy-and-execution-proof.md#s-64</a:t>
            </a:r>
          </a:p>
          <a:p/>
          <a:p>
            <a:r>
              <a:t>SOURCES:</a:t>
            </a:r>
          </a:p>
          <a:p>
            <a:r>
              <a:t>Causal FP8 implementation and accuracy evidence: https://github.com/ajith-sirra-amd/InferenceMAX_Rocm_Team/blob/b786b8cae9992c190c3d3323197c937d8ed8f8b8/docs/kimi/causal-fp8-attention.md</a:t>
            </a:r>
          </a:p>
          <a:p>
            <a:r>
              <a:t>Projection implementation and numerical limits: https://github.com/ajith-sirra-amd/InferenceMAX_Rocm_Team/blob/b786b8cae9992c190c3d3323197c937d8ed8f8b8/docs/kimi/native-fp8-up-projection-audit.md</a:t>
            </a:r>
          </a:p>
          <a:p>
            <a:r>
              <a:t>Native vLLM draft PR: https://github.com/vllm-project/vllm/pull/64288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established full result is 15,476.46881 total input-plus-output tokens per second per GPU. The cached FP8 FMHA stage measured 16,915.72154, about 9.30 percent higher. The direct FP8 projection plus cached FP8 FMHA stage measured 17,406.08912, about 2.90 percent above the preceding stage and 12.47 percent above the baseline. These are full benchmark configurations, including other tuning, so the deltas are not isolated kernel attribution. All values are preserved exactly in the companion evidence table. New-token causal FP8 has accuracy evidence but no completed accepted performance result; the last attempt failed because the runner exhausted its disk quota.</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https://github.com/ajith-sirra-amd/InferenceMAX_Rocm_Team/blob/docs/kimi-k3-mi355x-teaching-20261029/presentations/kimi-k3-mi355x/guide/08-performance-reasoning.md#s-65</a:t>
            </a:r>
          </a:p>
          <a:p/>
          <a:p>
            <a:r>
              <a:t>SOURCES:</a:t>
            </a:r>
          </a:p>
          <a:p>
            <a:r>
              <a:t>Baseline benchmark: https://github.com/ajith-sirra-amd/InferenceMAX_Rocm_Team/actions/runs/39239112271/job/118015427785</a:t>
            </a:r>
          </a:p>
          <a:p>
            <a:r>
              <a:t>Cached FP8 FMHA benchmark: https://github.com/ajith-sirra-amd/InferenceMAX_Rocm_Team/actions/runs/40646139769</a:t>
            </a:r>
          </a:p>
          <a:p>
            <a:r>
              <a:t>FP8 projection plus cached FP8 FMHA benchmark: https://github.com/ajith-sirra-amd/InferenceMAX_Rocm_Team/actions/runs/40695099743</a:t>
            </a:r>
          </a:p>
          <a:p>
            <a:r>
              <a:t>New-token performance attempt; failed on runner quota: https://github.com/ajith-sirra-amd/InferenceMAX_Rocm_Team/actions/runs/40804432321</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TTFT includes waiting, prompt processing and production of the first token. ITL measures gaps between successive streamed tokens; TPOT is an average derived from output generation time and token count, and exact definitions should come from the benchmark. Tail percentiles reveal stalls hidden by averages. Total token throughput can be dominated by long input prefixes and cache reuse, while output throughput reflects generated tokens. Normalize by the actual GPU count, keep request errors visible, and compare equivalent durations and workload definitions. Concurrency sweeps should identify a throughput-latency operating point rather than maximizing a single scalar at any cost.</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https://github.com/ajith-sirra-amd/InferenceMAX_Rocm_Team/blob/docs/kimi-k3-mi355x-teaching-20261029/presentations/kimi-k3-mi355x/guide/08-performance-reasoning.md#s-66</a:t>
            </a:r>
          </a:p>
          <a:p/>
          <a:p>
            <a:r>
              <a:t>SOURCES:</a:t>
            </a:r>
          </a:p>
          <a:p>
            <a:r>
              <a:t>Baseline benchmark: https://github.com/ajith-sirra-amd/InferenceMAX_Rocm_Team/actions/runs/39239112271/job/118015427785</a:t>
            </a:r>
          </a:p>
          <a:p>
            <a:r>
              <a:t>FP8 projection plus cached FP8 FMHA benchmark: https://github.com/ajith-sirra-amd/InferenceMAX_Rocm_Team/actions/runs/40695099743</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serving profile captures a representative stable window after startup and warmup. Record CPU scheduling, GPU kernels, memory copies, collectives and rank timing together. Kernel-duration sums can exceed wall time when kernels overlap; calculate interval unions for busy time and avoid double-counting nested annotations. Separate prefill, decode and mixed steps where possible, and do not infer a whole forward's cost from one kernel name. A long gap before a collective might reflect rank skew rather than slow arithmetic. Tracing perturbs execution, so instrumented throughput is diagnostic evidence and should not replace an unprofiled benchmark. Historical profiles can guide hypotheses, but final conclusions need the current optimized source.</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https://github.com/ajith-sirra-amd/InferenceMAX_Rocm_Team/blob/docs/kimi-k3-mi355x-teaching-20261029/presentations/kimi-k3-mi355x/guide/08-performance-reasoning.md#s-67</a:t>
            </a:r>
          </a:p>
          <a:p/>
          <a:p>
            <a:r>
              <a:t>SOURCES:</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kernel accounts for 20 percent of elapsed time and becomes twice as fast, total time becomes 80 percent plus 10 percent, giving a speedup of 1/0.9 or about 11.1 percent. It is not a 100 percent end-to-end improvement. If the optimization adds quantization, communication or synchronization, those costs must be included. The affected fraction must be measured on the relevant current workload; a percentage of GPU busy time is not automatically the same as a percentage of wall time. As one bottleneck improves, another can become dominant. This is why steady-state profiling should follow major execution-path changes.</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https://github.com/ajith-sirra-amd/InferenceMAX_Rocm_Team/blob/docs/kimi-k3-mi355x-teaching-20261029/presentations/kimi-k3-mi355x/guide/08-performance-reasoning.md#s-68</a:t>
            </a:r>
          </a:p>
          <a:p/>
          <a:p>
            <a:r>
              <a:t>SOURCES:</a:t>
            </a:r>
          </a:p>
          <a:p>
            <a:r>
              <a:t>FlashAttention: exact attention with IO awareness: https://arxiv.org/abs/2205.14135</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experiment should state what resource is limiting, what change addresses it and what outcome would support the hypothesis. For the campaign, the planned concurrency points are C56 with MTP, C64 with MTP and C96 without MTP, preserving the existing CCD binding. Native NUMA changes are deferred. A valid comparison keeps the model, code, image, TP/DCP, workload, duration and relevant runtime settings fixed unless one is the deliberate independent variable. Read accuracy, errors and tail latency alongside throughput. Enabling another FP8 flag without establishing its eligibility, cost and numerical behavior is not a complete optimization experiment.</a:t>
            </a:r>
          </a:p>
          <a:p/>
          <a:p>
            <a:r>
              <a:t>ANIMATION: Advance one click at a time to reveal each group. In the video the same groups appear progressively.</a:t>
            </a:r>
          </a:p>
          <a:p/>
          <a:p>
            <a:r>
              <a:t>READ MORE: https://github.com/ajith-sirra-amd/InferenceMAX_Rocm_Team/blob/docs/kimi-k3-mi355x-teaching-20261029/presentations/kimi-k3-mi355x/guide/08-performance-reasoning.md#s-69</a:t>
            </a:r>
          </a:p>
          <a:p/>
          <a:p>
            <a:r>
              <a:t>SOURCES:</a:t>
            </a:r>
          </a:p>
          <a:p>
            <a:r>
              <a:t>Campaign data-flow diagrams and measured stages: https://github.com/ajith-sirra-amd/InferenceMAX_Rocm_Team/blob/b786b8cae9992c190c3d3323197c937d8ed8f8b8/docs/kimi/fp8-fmha-dataflow.md</a:t>
            </a:r>
          </a:p>
          <a:p>
            <a:r>
              <a:t>Causal FP8 implementation and accuracy evidence: https://github.com/ajith-sirra-amd/InferenceMAX_Rocm_Team/blob/b786b8cae9992c190c3d3323197c937d8ed8f8b8/docs/kimi/causal-fp8-attention.md</a:t>
            </a:r>
          </a:p>
          <a:p>
            <a:r>
              <a:t>Native vLLM draft PR: https://github.com/vllm-project/vllm/pull/64288</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new token, the scheduler resolves which context and recurrent state are available and builds metadata. Each decoder layer performs its configured sequence-mixing operation: a KDA update or MLA attention. MLA may use latent-space decode or an expanded prefill path, depending on the workload. The feature transform is dense in the first layer and MoE thereafter. Attention Residuals combine information across depth. TP and DCP communication appear wherever distributed operands or results require it. After the final normalization and vocabulary projection, the sampler or speculative verifier selects output progress. Caches and recurrent state are updated consistently before the next step. Precision choices belong to individual edges and operations throughout this flow.</a:t>
            </a:r>
          </a:p>
          <a:p/>
          <a:p>
            <a:r>
              <a:t>ANIMATION: Advance one click at a time to reveal each group. In the video the same groups appear progressively.</a:t>
            </a:r>
          </a:p>
          <a:p/>
          <a:p>
            <a:r>
              <a:t>READ MORE: https://github.com/ajith-sirra-amd/InferenceMAX_Rocm_Team/blob/docs/kimi-k3-mi355x-teaching-20261029/presentations/kimi-k3-mi355x/guide/09-putting-it-together.md#s-70</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answers: Future steps use new queries, while cached K/V preserve earlier context. KDA is recurrent, so rejected speculative tokens must not contaminate future state. DCP partitions context within the tensor-parallel group rather than creating another independent eight-device dimension. The K3 checkpoint uses NoPE in MLA even though generic layout names retain a RoPE-width field. Direct FP8 cached projection avoids materializing and rereading expanded BF16 K/V and avoids the separate cached-output quantizer, while retaining higher-precision accumulation and required scaling. GSM8K measures end-to-end task outcomes; LSE tests measure attention normalization fidelity and its effect on chunk merging. Each is necessary evidence for its own claim.</a:t>
            </a:r>
          </a:p>
          <a:p/>
          <a:p>
            <a:r>
              <a:t>ANIMATION: Advance one click at a time to reveal each group. In the video the same groups appear progressively.</a:t>
            </a:r>
          </a:p>
          <a:p/>
          <a:p>
            <a:r>
              <a:t>READ MORE: https://github.com/ajith-sirra-amd/InferenceMAX_Rocm_Team/blob/docs/kimi-k3-mi355x-teaching-20261029/presentations/kimi-k3-mi355x/guide/09-putting-it-together.md#s-71</a:t>
            </a:r>
          </a:p>
          <a:p/>
          <a:p>
            <a:r>
              <a:t>SOURCES:</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a:p>
            <a:r>
              <a:t>Projection implementation and numerical limits: https://github.com/ajith-sirra-amd/InferenceMAX_Rocm_Team/blob/b786b8cae9992c190c3d3323197c937d8ed8f8b8/docs/kimi/native-fp8-up-projection-audit.md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dimension by role. Tq is the packed number of query tokens and Tk the packed number of cached key/value tokens in this call. Twelve is the local head count, not the request count. The 192 key/query width includes 128 projected head-specific features and 64 shared-key layout features. Value width is 128. The weight's output dimension is 12*(128+128)=3,072. Other backends may transpose LSE or use different packed layouts, so this atlas is explicitly for the documented adapter. Logical shape does not determine contiguous layout; strides, alignment, scale granularity and pointer identity remain part of the kernel contract.</a:t>
            </a:r>
          </a:p>
          <a:p/>
          <a:p>
            <a:r>
              <a:t>ANIMATION: Advance one click at a time to reveal each group. In the video the same groups appear progressively.</a:t>
            </a:r>
          </a:p>
          <a:p/>
          <a:p>
            <a:r>
              <a:t>READ MORE: https://github.com/ajith-sirra-amd/InferenceMAX_Rocm_Team/blob/docs/kimi-k3-mi355x-teaching-20261029/presentations/kimi-k3-mi355x/guide/10-reference.md#s-72</a:t>
            </a:r>
          </a:p>
          <a:p/>
          <a:p>
            <a:r>
              <a:t>SOURCES:</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concept specifies an operation or parameterization. A kernel specifies how that operation executes on hardware. FMHA means fused multi-head attention and can accept BF16 or FP8 operands. A latent is a learned lower-dimensional representation, while quantization is a numerical representation change; the two can coexist. A gate modulates information, and different gates in KDA, MLA and MoE have different meanings. Residual mixing concerns information flow across depth. LSE is a scalar per query/head used to preserve normalization when attention is partitioned. The handbook glossary includes expanded definitions and cross-references to the equations where each term appears.</a:t>
            </a:r>
          </a:p>
          <a:p/>
          <a:p>
            <a:r>
              <a:t>ANIMATION: Advance one click at a time to reveal each group. In the video the same groups appear progressively.</a:t>
            </a:r>
          </a:p>
          <a:p/>
          <a:p>
            <a:r>
              <a:t>READ MORE: https://github.com/ajith-sirra-amd/InferenceMAX_Rocm_Team/blob/docs/kimi-k3-mi355x-teaching-20261029/presentations/kimi-k3-mi355x/guide/10-reference.md#s-73</a:t>
            </a:r>
          </a:p>
          <a:p/>
          <a:p>
            <a:r>
              <a:t>SOURCES:</a:t>
            </a:r>
          </a:p>
          <a:p>
            <a:r>
              <a:t>Attention Is All You Need: https://arxiv.org/abs/1706.03762</a:t>
            </a:r>
          </a:p>
          <a:p>
            <a:r>
              <a:t>Kimi-K3 model card and checkpoint configuration: https://huggingface.co/moonshotai/Kimi-K3/tree/f831ab66814297da540d832a5235f8e904f29d06</a:t>
            </a:r>
          </a:p>
          <a:p>
            <a:r>
              <a:t>Campaign data-flow diagrams and measured stages: https://github.com/ajith-sirra-amd/InferenceMAX_Rocm_Team/blob/b786b8cae9992c190c3d3323197c937d8ed8f8b8/docs/kimi/fp8-fmha-dataflow.md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HBM capacity limits residency, while bandwidth limits how quickly large tensors move. LDS is a smaller explicitly managed memory inside the GPU execution hierarchy. CU, XCD and wavefront describe different scales of parallel execution. TP shards model calculations, DCP partitions context within a TP group and EP distributes expert ownership. NUMA and CCD concern host CPU topology and should not be confused with GPU XCDs. GEMM is an operation, MFMA an instruction family and a kernel a scheduled implementation using instructions and memory. A quantization scale may be represented as a multiplier or reciprocal depending on the API, so read the contract rather than inferring it from a variable name.</a:t>
            </a:r>
          </a:p>
          <a:p/>
          <a:p>
            <a:r>
              <a:t>ANIMATION: Advance one click at a time to reveal each group. In the video the same groups appear progressively.</a:t>
            </a:r>
          </a:p>
          <a:p/>
          <a:p>
            <a:r>
              <a:t>READ MORE: https://github.com/ajith-sirra-amd/InferenceMAX_Rocm_Team/blob/docs/kimi-k3-mi355x-teaching-20261029/presentations/kimi-k3-mi355x/guide/10-reference.md#s-74</a:t>
            </a:r>
          </a:p>
          <a:p/>
          <a:p>
            <a:r>
              <a:t>SOURCES:</a:t>
            </a:r>
          </a:p>
          <a:p>
            <a:r>
              <a:t>AMD ROCm GPU architecture specifications: https://rocm.docs.amd.com/en/latest/reference/gpu-arch-specs.html</a:t>
            </a:r>
          </a:p>
          <a:p>
            <a:r>
              <a:t>vLLM Kimi-K3 AMD implementation: https://github.com/ajith-sirra-amd/vllm/tree/08e5d81a0d4fc76c20a97f9a517195db5a5dc5be/vllm/models/kimi_k3/amd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companion source manifest provides full URLs and revision IDs, and the chapter documents link each technical claim to relevant sources. The model checkpoint and card are pinned to f831ab66814297da540d832a5235f8e904f29d06. The inspected native Kimi AMD implementation is pinned to 08e5d81a0d4fc76c20a97f9a517195db5a5dc5be. Campaign documents are pinned to b786b8cae9992c190c3d3323197c937d8ed8f8b8. Prototype serving evidence uses bb8bed732f514fd697856c5abd1d2bdd9d56a1e5 for new-token FP8 and 14250d6c6c17cd54fb7cd480c74c5c4eb5da2e78 for the established direct-projection stage. Software capabilities and measured results are dated, and should be rechecked when changing the source or runtime.</a:t>
            </a:r>
          </a:p>
          <a:p/>
          <a:p>
            <a:r>
              <a:t>ANIMATION: Advance one click at a time to reveal each group. In the video the same groups appear progressively.</a:t>
            </a:r>
          </a:p>
          <a:p/>
          <a:p>
            <a:r>
              <a:t>READ MORE: https://github.com/ajith-sirra-amd/InferenceMAX_Rocm_Team/blob/docs/kimi-k3-mi355x-teaching-20261029/presentations/kimi-k3-mi355x/guide/10-reference.md#s-75</a:t>
            </a:r>
          </a:p>
          <a:p/>
          <a:p>
            <a:r>
              <a:t>SOURCES:</a:t>
            </a:r>
          </a:p>
          <a:p>
            <a:r>
              <a:t>Kimi-K3 model card and checkpoint configuration: https://huggingface.co/moonshotai/Kimi-K3/tree/f831ab66814297da540d832a5235f8e904f29d06</a:t>
            </a:r>
          </a:p>
          <a:p>
            <a:r>
              <a:t>vLLM Kimi-K3 AMD implementation: https://github.com/ajith-sirra-amd/vllm/tree/08e5d81a0d4fc76c20a97f9a517195db5a5dc5be/vllm/models/kimi_k3/amd</a:t>
            </a:r>
          </a:p>
          <a:p>
            <a:r>
              <a:t>AMD ROCm GPU architecture specifications: https://rocm.docs.amd.com/en/latest/reference/gpu-arch-specs.html</a:t>
            </a:r>
          </a:p>
          <a:p>
            <a:r>
              <a:t>FlashAttention: exact attention with IO awareness: https://arxiv.org/abs/2205.14135</a:t>
            </a:r>
          </a:p>
          <a:p>
            <a:r>
              <a:t>Kimi Linear: Kimi Delta Attention: https://arxiv.org/abs/2510.26692</a:t>
            </a:r>
          </a:p>
          <a:p>
            <a:r>
              <a:t>Campaign data-flow diagrams and measured stages: https://github.com/ajith-sirra-amd/InferenceMAX_Rocm_Team/blob/b786b8cae9992c190c3d3323197c937d8ed8f8b8/docs/kimi/fp8-fmha-dataflow.md</a:t>
            </a:r>
          </a:p>
          <a:p>
            <a:r>
              <a:t>ATOM MLA reference implementation: https://github.com/ROCm/ATOM/blob/661ef7661eef0d804d2b52d81ed41d80aeaf9fdb/atom/model_ops/attention_mla.py</a:t>
            </a:r>
          </a:p>
          <a:p>
            <a:r>
              <a:t>AITER fused FP8 gather and up-projection: https://github.com/ROCm/aiter/blob/bbef5a6f2d3733b293c80d2cee6a8d464e88bc01/aiter/ops/flydsl/gather_kv_b_proj.py</a:t>
            </a:r>
          </a:p>
          <a:p>
            <a:r>
              <a:t>New-token FP8 full GSM8K evaluation: https://github.com/ajith-sirra-amd/InferenceMAX_Rocm_Team/actions/runs/40712931283</a:t>
            </a:r>
          </a:p>
          <a:p>
            <a:r>
              <a:t>Native vLLM draft PR: https://github.com/vllm-project/vllm/pull/64288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0-orientation.md#s-01"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0-orientation.md#s-02"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3"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4"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5"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6"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7"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8"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09"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0"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1"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2"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3"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4"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5"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1-attention-fundamentals.md#s-16"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2-fused-attention.md#s-17"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2-fused-attention.md#s-18"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2-fused-attention.md#s-19"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0"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1"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2"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3"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4"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5"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6"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7"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8"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29"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0"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1" TargetMode="Externa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2"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3"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4"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3-kimi-k3-architecture.md#s-35"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36"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37"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38"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39"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4-mi355x-execution.md#s-40" TargetMode="Externa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1" TargetMode="Externa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2" TargetMode="Externa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3" TargetMode="Externa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4"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5" TargetMode="Externa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6"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7" TargetMode="Externa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8" TargetMode="Externa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5-distributed-serving.md#s-49" TargetMode="Externa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0" TargetMode="Externa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1" TargetMode="Externa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2" TargetMode="Externa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3" TargetMode="Externa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4" TargetMode="Externa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5" TargetMode="Externa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6" TargetMode="Externa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7" TargetMode="Externa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8" TargetMode="Externa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6-fp8-data-flow.md#s-59" TargetMode="Externa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0" TargetMode="Externa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1" TargetMode="Externa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2" TargetMode="Externa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3" TargetMode="Externa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7-accuracy-and-execution-proof.md#s-64" TargetMode="Externa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5" TargetMode="Externa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6" TargetMode="Externa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7" TargetMode="Externa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8" TargetMode="Externa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8-performance-reasoning.md#s-69" TargetMode="Externa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9-putting-it-together.md#s-70" TargetMode="Externa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09-putting-it-together.md#s-71" TargetMode="Externa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10-reference.md#s-72" TargetMode="Externa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10-reference.md#s-73" TargetMode="Externa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10-reference.md#s-74" TargetMode="Externa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jith-sirra-amd/InferenceMAX_Rocm_Team/blob/docs/kimi-k3-mi355x-teaching-20261029/presentations/kimi-k3-mi355x/guide/10-reference.md#s-75" TargetMode="External"/><Relationship Id="rId3"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ORIENTATION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Kimi-K3 on AMD MI355X</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From attention fundamentals to FP8 execution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94360" y="2880360"/>
            <a:ext cx="3502152" cy="21488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306324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063240"/>
            <a:ext cx="3044952" cy="868680"/>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Understand</a:t>
            </a:r>
          </a:p>
        </p:txBody>
      </p:sp>
      <p:sp>
        <p:nvSpPr>
          <p:cNvPr id="14" name="TextBox 13"/>
          <p:cNvSpPr txBox="1"/>
          <p:nvPr/>
        </p:nvSpPr>
        <p:spPr>
          <a:xfrm>
            <a:off x="813816" y="3794760"/>
            <a:ext cx="3081528" cy="112471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Attention, KDA, MLA and MoE</a:t>
            </a:r>
          </a:p>
        </p:txBody>
      </p:sp>
      <p:sp>
        <p:nvSpPr>
          <p:cNvPr id="15" name="Rounded Rectangle 14"/>
          <p:cNvSpPr/>
          <p:nvPr/>
        </p:nvSpPr>
        <p:spPr>
          <a:xfrm>
            <a:off x="4407408" y="2880360"/>
            <a:ext cx="3502152" cy="21488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62856" y="306324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8304" y="3063240"/>
            <a:ext cx="3044952" cy="868680"/>
          </a:xfrm>
          <a:prstGeom prst="rect">
            <a:avLst/>
          </a:prstGeom>
          <a:noFill/>
        </p:spPr>
        <p:txBody>
          <a:bodyPr wrap="square" lIns="13716" rIns="13716" tIns="0" bIns="0">
            <a:spAutoFit/>
          </a:bodyPr>
          <a:lstStyle/>
          <a:p>
            <a:pPr algn="l">
              <a:spcBef>
                <a:spcPts val="0"/>
              </a:spcBef>
              <a:spcAft>
                <a:spcPts val="0"/>
              </a:spcAft>
            </a:pPr>
            <a:r>
              <a:rPr sz="3000" b="1">
                <a:solidFill>
                  <a:srgbClr val="69AEFF"/>
                </a:solidFill>
                <a:latin typeface="DejaVu Sans"/>
              </a:rPr>
              <a:t>Trace</a:t>
            </a:r>
          </a:p>
        </p:txBody>
      </p:sp>
      <p:sp>
        <p:nvSpPr>
          <p:cNvPr id="18" name="TextBox 17"/>
          <p:cNvSpPr txBox="1"/>
          <p:nvPr/>
        </p:nvSpPr>
        <p:spPr>
          <a:xfrm>
            <a:off x="4626864" y="3794760"/>
            <a:ext cx="3081528" cy="112471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One token across eight GPUs</a:t>
            </a:r>
          </a:p>
        </p:txBody>
      </p:sp>
      <p:sp>
        <p:nvSpPr>
          <p:cNvPr id="19" name="Rounded Rectangle 18"/>
          <p:cNvSpPr/>
          <p:nvPr/>
        </p:nvSpPr>
        <p:spPr>
          <a:xfrm>
            <a:off x="8220456" y="2880360"/>
            <a:ext cx="3502152" cy="21488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75904" y="3063240"/>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31352" y="3063240"/>
            <a:ext cx="3044952" cy="868680"/>
          </a:xfrm>
          <a:prstGeom prst="rect">
            <a:avLst/>
          </a:prstGeom>
          <a:noFill/>
        </p:spPr>
        <p:txBody>
          <a:bodyPr wrap="square" lIns="13716" rIns="13716" tIns="0" bIns="0">
            <a:spAutoFit/>
          </a:bodyPr>
          <a:lstStyle/>
          <a:p>
            <a:pPr algn="l">
              <a:spcBef>
                <a:spcPts val="0"/>
              </a:spcBef>
              <a:spcAft>
                <a:spcPts val="0"/>
              </a:spcAft>
            </a:pPr>
            <a:r>
              <a:rPr sz="3000" b="1">
                <a:solidFill>
                  <a:srgbClr val="51D79B"/>
                </a:solidFill>
                <a:latin typeface="DejaVu Sans"/>
              </a:rPr>
              <a:t>Optimize</a:t>
            </a:r>
          </a:p>
        </p:txBody>
      </p:sp>
      <p:sp>
        <p:nvSpPr>
          <p:cNvPr id="22" name="TextBox 21"/>
          <p:cNvSpPr txBox="1"/>
          <p:nvPr/>
        </p:nvSpPr>
        <p:spPr>
          <a:xfrm>
            <a:off x="8439912" y="3794760"/>
            <a:ext cx="3081528" cy="112471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Precision, memory traffic and correctness</a:t>
            </a:r>
          </a:p>
        </p:txBody>
      </p:sp>
      <p:sp>
        <p:nvSpPr>
          <p:cNvPr id="23" name="TextBox 22"/>
          <p:cNvSpPr txBox="1"/>
          <p:nvPr/>
        </p:nvSpPr>
        <p:spPr>
          <a:xfrm>
            <a:off x="594360" y="1965960"/>
            <a:ext cx="9144000" cy="502920"/>
          </a:xfrm>
          <a:prstGeom prst="rect">
            <a:avLst/>
          </a:prstGeom>
          <a:noFill/>
        </p:spPr>
        <p:txBody>
          <a:bodyPr wrap="square" lIns="13716" rIns="13716" tIns="0" bIns="0">
            <a:spAutoFit/>
          </a:bodyPr>
          <a:lstStyle/>
          <a:p>
            <a:pPr algn="l">
              <a:spcBef>
                <a:spcPts val="0"/>
              </a:spcBef>
              <a:spcAft>
                <a:spcPts val="0"/>
              </a:spcAft>
            </a:pPr>
            <a:r>
              <a:rPr sz="2300" b="1">
                <a:solidFill>
                  <a:srgbClr val="F2F6FC"/>
                </a:solidFill>
                <a:latin typeface="DejaVu Sans"/>
              </a:rPr>
              <a:t>A CONCEPTUAL FIELD GUIDE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ORIENTATION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A learning path with six stops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Build each concept before using it to explain performance.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01</a:t>
            </a:r>
          </a:p>
        </p:txBody>
      </p:sp>
      <p:sp>
        <p:nvSpPr>
          <p:cNvPr id="13" name="TextBox 12"/>
          <p:cNvSpPr txBox="1"/>
          <p:nvPr/>
        </p:nvSpPr>
        <p:spPr>
          <a:xfrm>
            <a:off x="73152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Attention from first principles</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02</a:t>
            </a:r>
          </a:p>
        </p:txBody>
      </p:sp>
      <p:sp>
        <p:nvSpPr>
          <p:cNvPr id="16" name="TextBox 15"/>
          <p:cNvSpPr txBox="1"/>
          <p:nvPr/>
        </p:nvSpPr>
        <p:spPr>
          <a:xfrm>
            <a:off x="449580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Kimi-K3 architecture</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008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03</a:t>
            </a:r>
          </a:p>
        </p:txBody>
      </p:sp>
      <p:sp>
        <p:nvSpPr>
          <p:cNvPr id="19" name="TextBox 18"/>
          <p:cNvSpPr txBox="1"/>
          <p:nvPr/>
        </p:nvSpPr>
        <p:spPr>
          <a:xfrm>
            <a:off x="826008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GPU execution and memory</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04</a:t>
            </a:r>
          </a:p>
        </p:txBody>
      </p:sp>
      <p:sp>
        <p:nvSpPr>
          <p:cNvPr id="22" name="TextBox 21"/>
          <p:cNvSpPr txBox="1"/>
          <p:nvPr/>
        </p:nvSpPr>
        <p:spPr>
          <a:xfrm>
            <a:off x="73152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Serving across eight GPUs</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05</a:t>
            </a:r>
          </a:p>
        </p:txBody>
      </p:sp>
      <p:sp>
        <p:nvSpPr>
          <p:cNvPr id="25" name="TextBox 24"/>
          <p:cNvSpPr txBox="1"/>
          <p:nvPr/>
        </p:nvSpPr>
        <p:spPr>
          <a:xfrm>
            <a:off x="449580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FP8 data flow and numerics</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06</a:t>
            </a:r>
          </a:p>
        </p:txBody>
      </p:sp>
      <p:sp>
        <p:nvSpPr>
          <p:cNvPr id="28" name="TextBox 27"/>
          <p:cNvSpPr txBox="1"/>
          <p:nvPr/>
        </p:nvSpPr>
        <p:spPr>
          <a:xfrm>
            <a:off x="826008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Evidence and optimization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00"/>
                                        <p:tgtEl>
                                          <p:spTgt spid="23"/>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00"/>
                                        <p:tgtEl>
                                          <p:spTgt spid="24"/>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Attention asks: which earlier information matters?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token builds its next representation by reading relevant context.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612648"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The</a:t>
            </a:r>
          </a:p>
        </p:txBody>
      </p:sp>
      <p:sp>
        <p:nvSpPr>
          <p:cNvPr id="13" name="Rounded Rectangle 12"/>
          <p:cNvSpPr/>
          <p:nvPr/>
        </p:nvSpPr>
        <p:spPr>
          <a:xfrm>
            <a:off x="1837944"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74520"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robot</a:t>
            </a:r>
          </a:p>
        </p:txBody>
      </p:sp>
      <p:sp>
        <p:nvSpPr>
          <p:cNvPr id="15" name="Rounded Rectangle 14"/>
          <p:cNvSpPr/>
          <p:nvPr/>
        </p:nvSpPr>
        <p:spPr>
          <a:xfrm>
            <a:off x="3063240"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99816"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moved</a:t>
            </a:r>
          </a:p>
        </p:txBody>
      </p:sp>
      <p:sp>
        <p:nvSpPr>
          <p:cNvPr id="17" name="Rounded Rectangle 16"/>
          <p:cNvSpPr/>
          <p:nvPr/>
        </p:nvSpPr>
        <p:spPr>
          <a:xfrm>
            <a:off x="4288536"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5112"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the</a:t>
            </a:r>
          </a:p>
        </p:txBody>
      </p:sp>
      <p:sp>
        <p:nvSpPr>
          <p:cNvPr id="19" name="Rounded Rectangle 18"/>
          <p:cNvSpPr/>
          <p:nvPr/>
        </p:nvSpPr>
        <p:spPr>
          <a:xfrm>
            <a:off x="5513832" y="2148840"/>
            <a:ext cx="1042415" cy="585216"/>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50408"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52CFD1"/>
                </a:solidFill>
                <a:latin typeface="DejaVu Sans"/>
              </a:rPr>
              <a:t>box</a:t>
            </a:r>
          </a:p>
        </p:txBody>
      </p:sp>
      <p:sp>
        <p:nvSpPr>
          <p:cNvPr id="21" name="Rounded Rectangle 20"/>
          <p:cNvSpPr/>
          <p:nvPr/>
        </p:nvSpPr>
        <p:spPr>
          <a:xfrm>
            <a:off x="6739128"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5704"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because</a:t>
            </a:r>
          </a:p>
        </p:txBody>
      </p:sp>
      <p:sp>
        <p:nvSpPr>
          <p:cNvPr id="23" name="Rounded Rectangle 22"/>
          <p:cNvSpPr/>
          <p:nvPr/>
        </p:nvSpPr>
        <p:spPr>
          <a:xfrm>
            <a:off x="7964424" y="2148840"/>
            <a:ext cx="1042415" cy="585216"/>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F4BF61"/>
                </a:solidFill>
                <a:latin typeface="DejaVu Sans"/>
              </a:rPr>
              <a:t>it</a:t>
            </a:r>
          </a:p>
        </p:txBody>
      </p:sp>
      <p:sp>
        <p:nvSpPr>
          <p:cNvPr id="25" name="Rounded Rectangle 24"/>
          <p:cNvSpPr/>
          <p:nvPr/>
        </p:nvSpPr>
        <p:spPr>
          <a:xfrm>
            <a:off x="9189720"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6296"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was</a:t>
            </a:r>
          </a:p>
        </p:txBody>
      </p:sp>
      <p:sp>
        <p:nvSpPr>
          <p:cNvPr id="27" name="Rounded Rectangle 26"/>
          <p:cNvSpPr/>
          <p:nvPr/>
        </p:nvSpPr>
        <p:spPr>
          <a:xfrm>
            <a:off x="10415016" y="2148840"/>
            <a:ext cx="1042415" cy="585216"/>
          </a:xfrm>
          <a:prstGeom prst="roundRect">
            <a:avLst>
              <a:gd name="adj" fmla="val 9000"/>
            </a:avLst>
          </a:prstGeom>
          <a:solidFill>
            <a:srgbClr val="152239"/>
          </a:solidFill>
          <a:ln w="14604">
            <a:solidFill>
              <a:srgbClr val="A7B8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51592" y="2313432"/>
            <a:ext cx="969264" cy="246888"/>
          </a:xfrm>
          <a:prstGeom prst="rect">
            <a:avLst/>
          </a:prstGeom>
          <a:noFill/>
        </p:spPr>
        <p:txBody>
          <a:bodyPr wrap="square" lIns="13716" rIns="13716" tIns="0" bIns="0">
            <a:spAutoFit/>
          </a:bodyPr>
          <a:lstStyle/>
          <a:p>
            <a:pPr algn="ctr">
              <a:spcBef>
                <a:spcPts val="0"/>
              </a:spcBef>
              <a:spcAft>
                <a:spcPts val="0"/>
              </a:spcAft>
            </a:pPr>
            <a:r>
              <a:rPr sz="1400" b="1">
                <a:solidFill>
                  <a:srgbClr val="A7B8CD"/>
                </a:solidFill>
                <a:latin typeface="DejaVu Sans"/>
              </a:rPr>
              <a:t>heavy</a:t>
            </a:r>
          </a:p>
        </p:txBody>
      </p:sp>
      <p:sp>
        <p:nvSpPr>
          <p:cNvPr id="29" name="Rounded Rectangle 28"/>
          <p:cNvSpPr/>
          <p:nvPr/>
        </p:nvSpPr>
        <p:spPr>
          <a:xfrm>
            <a:off x="4251960" y="4160520"/>
            <a:ext cx="3703320" cy="1399032"/>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07408" y="434340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62856" y="4343400"/>
            <a:ext cx="3246120"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Contextual meaning</a:t>
            </a:r>
          </a:p>
        </p:txBody>
      </p:sp>
      <p:sp>
        <p:nvSpPr>
          <p:cNvPr id="32" name="TextBox 31"/>
          <p:cNvSpPr txBox="1"/>
          <p:nvPr/>
        </p:nvSpPr>
        <p:spPr>
          <a:xfrm>
            <a:off x="4471416" y="5074920"/>
            <a:ext cx="3282696" cy="374903"/>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 learned weighted read</a:t>
            </a:r>
          </a:p>
        </p:txBody>
      </p:sp>
      <p:cxnSp>
        <p:nvCxnSpPr>
          <p:cNvPr id="33" name="Connector 32"/>
          <p:cNvCxnSpPr/>
          <p:nvPr/>
        </p:nvCxnSpPr>
        <p:spPr>
          <a:xfrm>
            <a:off x="2359152" y="2852928"/>
            <a:ext cx="3721608" cy="1170432"/>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35040" y="2852928"/>
            <a:ext cx="45720" cy="1170432"/>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080760" y="2852928"/>
            <a:ext cx="1179576" cy="1170432"/>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31520" y="3227832"/>
            <a:ext cx="2971800" cy="685800"/>
          </a:xfrm>
          <a:prstGeom prst="rect">
            <a:avLst/>
          </a:prstGeom>
          <a:noFill/>
        </p:spPr>
        <p:txBody>
          <a:bodyPr wrap="square" lIns="13716" rIns="13716" tIns="0" bIns="0">
            <a:spAutoFit/>
          </a:bodyPr>
          <a:lstStyle/>
          <a:p>
            <a:pPr algn="l">
              <a:spcBef>
                <a:spcPts val="0"/>
              </a:spcBef>
              <a:spcAft>
                <a:spcPts val="0"/>
              </a:spcAft>
            </a:pPr>
            <a:r>
              <a:rPr sz="1400" b="0">
                <a:solidFill>
                  <a:srgbClr val="A7B8CD"/>
                </a:solidFill>
                <a:latin typeface="DejaVu Sans"/>
              </a:rPr>
              <a:t>Illustration of relevance,</a:t>
            </a:r>
          </a:p>
          <a:p>
            <a:pPr algn="l">
              <a:spcBef>
                <a:spcPts val="0"/>
              </a:spcBef>
              <a:spcAft>
                <a:spcPts val="0"/>
              </a:spcAft>
            </a:pPr>
            <a:r>
              <a:rPr sz="1400" b="0">
                <a:solidFill>
                  <a:srgbClr val="A7B8CD"/>
                </a:solidFill>
                <a:latin typeface="DejaVu Sans"/>
              </a:rPr>
              <a:t>not a measured attention map.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00"/>
                                        <p:tgtEl>
                                          <p:spTgt spid="19"/>
                                        </p:tgtEl>
                                      </p:cBhvr>
                                    </p:animEffect>
                                  </p:childTnLst>
                                </p:cTn>
                              </p:par>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00"/>
                                        <p:tgtEl>
                                          <p:spTgt spid="29"/>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00"/>
                                        <p:tgtEl>
                                          <p:spTgt spid="30"/>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00"/>
                                        <p:tgtEl>
                                          <p:spTgt spid="31"/>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00"/>
                                        <p:tgtEl>
                                          <p:spTgt spid="32"/>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00"/>
                                        <p:tgtEl>
                                          <p:spTgt spid="33"/>
                                        </p:tgtEl>
                                      </p:cBhvr>
                                    </p:animEffect>
                                  </p:childTnLst>
                                </p:cTn>
                              </p:par>
                              <p:par>
                                <p:cTn id="68" presetID="10" presetClass="entr" presetSubtype="0"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00"/>
                                        <p:tgtEl>
                                          <p:spTgt spid="34"/>
                                        </p:tgtEl>
                                      </p:cBhvr>
                                    </p:animEffect>
                                  </p:childTnLst>
                                </p:cTn>
                              </p:par>
                              <p:par>
                                <p:cTn id="71" presetID="10" presetClass="entr" presetSubtype="0" fill="hold" grpId="0" nodeType="click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Tokens become vectors; vectors become matrices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token is an ID. Its hidden state is a learned list of numbers.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04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X ∈ R^(T × d_model)</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CBD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CBD7E6"/>
                </a:solidFill>
                <a:latin typeface="DejaVu Sans"/>
              </a:rPr>
              <a:t>Text</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Subword tokenization</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Token IDs</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Indices into an embedding table</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Hidden states X</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 rows × d_model columns</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Kimi-K3 example</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d_model = 7,168</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Q, K and V are three learned projections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Query = what to look for. Key = how to match. Value = what to retrieve.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731520" y="2770632"/>
            <a:ext cx="2331720" cy="1115568"/>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3054096"/>
            <a:ext cx="1975104" cy="502920"/>
          </a:xfrm>
          <a:prstGeom prst="rect">
            <a:avLst/>
          </a:prstGeom>
          <a:noFill/>
        </p:spPr>
        <p:txBody>
          <a:bodyPr wrap="square" lIns="13716" rIns="13716" tIns="0" bIns="0">
            <a:spAutoFit/>
          </a:bodyPr>
          <a:lstStyle/>
          <a:p>
            <a:pPr algn="ctr">
              <a:spcBef>
                <a:spcPts val="0"/>
              </a:spcBef>
              <a:spcAft>
                <a:spcPts val="0"/>
              </a:spcAft>
            </a:pPr>
            <a:r>
              <a:rPr sz="2100" b="1">
                <a:solidFill>
                  <a:srgbClr val="F2F6FC"/>
                </a:solidFill>
                <a:latin typeface="DejaVu Sans"/>
              </a:rPr>
              <a:t>Hidden states X</a:t>
            </a:r>
          </a:p>
        </p:txBody>
      </p:sp>
      <p:cxnSp>
        <p:nvCxnSpPr>
          <p:cNvPr id="13" name="Connector 12"/>
          <p:cNvCxnSpPr/>
          <p:nvPr/>
        </p:nvCxnSpPr>
        <p:spPr>
          <a:xfrm flipV="1">
            <a:off x="3154680" y="2404872"/>
            <a:ext cx="1508760" cy="923544"/>
          </a:xfrm>
          <a:prstGeom prst="line">
            <a:avLst/>
          </a:prstGeom>
          <a:ln w="22860">
            <a:solidFill>
              <a:srgbClr val="69AEFF"/>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54880" y="1975104"/>
            <a:ext cx="6355080" cy="923544"/>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56048" y="2139696"/>
            <a:ext cx="3474720" cy="29260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Q = XW_Q</a:t>
            </a:r>
          </a:p>
        </p:txBody>
      </p:sp>
      <p:sp>
        <p:nvSpPr>
          <p:cNvPr id="16" name="TextBox 15"/>
          <p:cNvSpPr txBox="1"/>
          <p:nvPr/>
        </p:nvSpPr>
        <p:spPr>
          <a:xfrm>
            <a:off x="8485632" y="2148840"/>
            <a:ext cx="2359152" cy="502920"/>
          </a:xfrm>
          <a:prstGeom prst="rect">
            <a:avLst/>
          </a:prstGeom>
          <a:noFill/>
        </p:spPr>
        <p:txBody>
          <a:bodyPr wrap="square" lIns="13716" rIns="13716" tIns="0" bIns="0">
            <a:spAutoFit/>
          </a:bodyPr>
          <a:lstStyle/>
          <a:p>
            <a:pPr algn="l">
              <a:spcBef>
                <a:spcPts val="0"/>
              </a:spcBef>
              <a:spcAft>
                <a:spcPts val="0"/>
              </a:spcAft>
            </a:pPr>
            <a:r>
              <a:rPr sz="1200" b="0">
                <a:solidFill>
                  <a:srgbClr val="F2F6FC"/>
                </a:solidFill>
                <a:latin typeface="DejaVu Sans"/>
              </a:rPr>
              <a:t>One query per query token</a:t>
            </a:r>
          </a:p>
        </p:txBody>
      </p:sp>
      <p:cxnSp>
        <p:nvCxnSpPr>
          <p:cNvPr id="17" name="Connector 16"/>
          <p:cNvCxnSpPr/>
          <p:nvPr/>
        </p:nvCxnSpPr>
        <p:spPr>
          <a:xfrm>
            <a:off x="3154680" y="3328416"/>
            <a:ext cx="1508760" cy="265175"/>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754880" y="3163824"/>
            <a:ext cx="6355080" cy="923544"/>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56048" y="3328416"/>
            <a:ext cx="3474720" cy="292608"/>
          </a:xfrm>
          <a:prstGeom prst="rect">
            <a:avLst/>
          </a:prstGeom>
          <a:noFill/>
        </p:spPr>
        <p:txBody>
          <a:bodyPr wrap="square" lIns="13716" rIns="13716" tIns="0" bIns="0">
            <a:spAutoFit/>
          </a:bodyPr>
          <a:lstStyle/>
          <a:p>
            <a:pPr algn="l">
              <a:spcBef>
                <a:spcPts val="0"/>
              </a:spcBef>
              <a:spcAft>
                <a:spcPts val="0"/>
              </a:spcAft>
            </a:pPr>
            <a:r>
              <a:rPr sz="2000" b="1">
                <a:solidFill>
                  <a:srgbClr val="52CFD1"/>
                </a:solidFill>
                <a:latin typeface="DejaVu Sans"/>
              </a:rPr>
              <a:t>K = XW_K</a:t>
            </a:r>
          </a:p>
        </p:txBody>
      </p:sp>
      <p:sp>
        <p:nvSpPr>
          <p:cNvPr id="20" name="TextBox 19"/>
          <p:cNvSpPr txBox="1"/>
          <p:nvPr/>
        </p:nvSpPr>
        <p:spPr>
          <a:xfrm>
            <a:off x="8485632" y="3337560"/>
            <a:ext cx="2359152" cy="502920"/>
          </a:xfrm>
          <a:prstGeom prst="rect">
            <a:avLst/>
          </a:prstGeom>
          <a:noFill/>
        </p:spPr>
        <p:txBody>
          <a:bodyPr wrap="square" lIns="13716" rIns="13716" tIns="0" bIns="0">
            <a:spAutoFit/>
          </a:bodyPr>
          <a:lstStyle/>
          <a:p>
            <a:pPr algn="l">
              <a:spcBef>
                <a:spcPts val="0"/>
              </a:spcBef>
              <a:spcAft>
                <a:spcPts val="0"/>
              </a:spcAft>
            </a:pPr>
            <a:r>
              <a:rPr sz="1200" b="0">
                <a:solidFill>
                  <a:srgbClr val="F2F6FC"/>
                </a:solidFill>
                <a:latin typeface="DejaVu Sans"/>
              </a:rPr>
              <a:t>One key per context token</a:t>
            </a:r>
          </a:p>
        </p:txBody>
      </p:sp>
      <p:cxnSp>
        <p:nvCxnSpPr>
          <p:cNvPr id="21" name="Connector 20"/>
          <p:cNvCxnSpPr/>
          <p:nvPr/>
        </p:nvCxnSpPr>
        <p:spPr>
          <a:xfrm>
            <a:off x="3154680" y="3328416"/>
            <a:ext cx="1508760" cy="1453896"/>
          </a:xfrm>
          <a:prstGeom prst="line">
            <a:avLst/>
          </a:prstGeom>
          <a:ln w="22860">
            <a:solidFill>
              <a:srgbClr val="B799F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754880" y="4352544"/>
            <a:ext cx="6355080" cy="923544"/>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56048" y="4517136"/>
            <a:ext cx="3474720" cy="292608"/>
          </a:xfrm>
          <a:prstGeom prst="rect">
            <a:avLst/>
          </a:prstGeom>
          <a:noFill/>
        </p:spPr>
        <p:txBody>
          <a:bodyPr wrap="square" lIns="13716" rIns="13716" tIns="0" bIns="0">
            <a:spAutoFit/>
          </a:bodyPr>
          <a:lstStyle/>
          <a:p>
            <a:pPr algn="l">
              <a:spcBef>
                <a:spcPts val="0"/>
              </a:spcBef>
              <a:spcAft>
                <a:spcPts val="0"/>
              </a:spcAft>
            </a:pPr>
            <a:r>
              <a:rPr sz="2000" b="1">
                <a:solidFill>
                  <a:srgbClr val="B799FF"/>
                </a:solidFill>
                <a:latin typeface="DejaVu Sans"/>
              </a:rPr>
              <a:t>V = XW_V</a:t>
            </a:r>
          </a:p>
        </p:txBody>
      </p:sp>
      <p:sp>
        <p:nvSpPr>
          <p:cNvPr id="24" name="TextBox 23"/>
          <p:cNvSpPr txBox="1"/>
          <p:nvPr/>
        </p:nvSpPr>
        <p:spPr>
          <a:xfrm>
            <a:off x="8485632" y="4526280"/>
            <a:ext cx="2359152" cy="502920"/>
          </a:xfrm>
          <a:prstGeom prst="rect">
            <a:avLst/>
          </a:prstGeom>
          <a:noFill/>
        </p:spPr>
        <p:txBody>
          <a:bodyPr wrap="square" lIns="13716" rIns="13716" tIns="0" bIns="0">
            <a:spAutoFit/>
          </a:bodyPr>
          <a:lstStyle/>
          <a:p>
            <a:pPr algn="l">
              <a:spcBef>
                <a:spcPts val="0"/>
              </a:spcBef>
              <a:spcAft>
                <a:spcPts val="0"/>
              </a:spcAft>
            </a:pPr>
            <a:r>
              <a:rPr sz="1200" b="0">
                <a:solidFill>
                  <a:srgbClr val="F2F6FC"/>
                </a:solidFill>
                <a:latin typeface="DejaVu Sans"/>
              </a:rPr>
              <a:t>Content to mix into the output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par>
                                <p:cTn id="47" presetID="10"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00"/>
                                        <p:tgtEl>
                                          <p:spTgt spid="23"/>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dot product produces a matching score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Aligned features reinforce each other; unrelated features contribute less.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06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score(q, k) = (q · k) / √d_k</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Multiply features</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q = [1, 2],  k = [3, 1]</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Add the products</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q · k = 1×3 + 2×1 = 5</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Control the scale</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Usually divide by √d_k</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Softmax turns scores into relative weights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Subtract the maximum, exponentiate, and normalize each query row.</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07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p_j = exp(s_j − m) / Σ_i exp(s_i − m),  m = max_i s_i</a:t>
            </a:r>
          </a:p>
        </p:txBody>
      </p:sp>
      <p:sp>
        <p:nvSpPr>
          <p:cNvPr id="12" name="TextBox 11"/>
          <p:cNvSpPr txBox="1"/>
          <p:nvPr/>
        </p:nvSpPr>
        <p:spPr>
          <a:xfrm>
            <a:off x="640080" y="2240280"/>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score 2 → weight</a:t>
            </a:r>
          </a:p>
        </p:txBody>
      </p:sp>
      <p:sp>
        <p:nvSpPr>
          <p:cNvPr id="13" name="Rectangle 12"/>
          <p:cNvSpPr/>
          <p:nvPr/>
        </p:nvSpPr>
        <p:spPr>
          <a:xfrm>
            <a:off x="4160520" y="2240280"/>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240280"/>
            <a:ext cx="4530166" cy="36576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2670048"/>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52CFD1"/>
                </a:solidFill>
                <a:latin typeface="DejaVu Sans"/>
              </a:rPr>
              <a:t>0.665</a:t>
            </a:r>
          </a:p>
        </p:txBody>
      </p:sp>
      <p:sp>
        <p:nvSpPr>
          <p:cNvPr id="16" name="TextBox 15"/>
          <p:cNvSpPr txBox="1"/>
          <p:nvPr/>
        </p:nvSpPr>
        <p:spPr>
          <a:xfrm>
            <a:off x="640080" y="3118104"/>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score 1 → weight</a:t>
            </a:r>
          </a:p>
        </p:txBody>
      </p:sp>
      <p:sp>
        <p:nvSpPr>
          <p:cNvPr id="17" name="Rectangle 16"/>
          <p:cNvSpPr/>
          <p:nvPr/>
        </p:nvSpPr>
        <p:spPr>
          <a:xfrm>
            <a:off x="4160520" y="3118104"/>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3118104"/>
            <a:ext cx="1669008" cy="36576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20" y="3547872"/>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69AEFF"/>
                </a:solidFill>
                <a:latin typeface="DejaVu Sans"/>
              </a:rPr>
              <a:t>0.245</a:t>
            </a:r>
          </a:p>
        </p:txBody>
      </p:sp>
      <p:sp>
        <p:nvSpPr>
          <p:cNvPr id="20" name="TextBox 19"/>
          <p:cNvSpPr txBox="1"/>
          <p:nvPr/>
        </p:nvSpPr>
        <p:spPr>
          <a:xfrm>
            <a:off x="640080" y="3995928"/>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score 0 → weight</a:t>
            </a:r>
          </a:p>
        </p:txBody>
      </p:sp>
      <p:sp>
        <p:nvSpPr>
          <p:cNvPr id="21" name="Rectangle 20"/>
          <p:cNvSpPr/>
          <p:nvPr/>
        </p:nvSpPr>
        <p:spPr>
          <a:xfrm>
            <a:off x="4160520" y="3995928"/>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60520" y="3995928"/>
            <a:ext cx="613105" cy="36576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60520" y="4425696"/>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B799FF"/>
                </a:solidFill>
                <a:latin typeface="DejaVu Sans"/>
              </a:rPr>
              <a:t>0.09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output is a weighted sum of values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Attention returns a vector—not the index of the best-matching token.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O = 0.665V₁ + 0.245V₂ + 0.090V₃ ≈ [7.10, 2.90]</a:t>
            </a:r>
          </a:p>
        </p:txBody>
      </p:sp>
      <p:sp>
        <p:nvSpPr>
          <p:cNvPr id="12" name="Rounded Rectangle 11"/>
          <p:cNvSpPr/>
          <p:nvPr/>
        </p:nvSpPr>
        <p:spPr>
          <a:xfrm>
            <a:off x="566928" y="2487168"/>
            <a:ext cx="3553968" cy="228600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30967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V₁ = [10, 0]</a:t>
            </a:r>
          </a:p>
        </p:txBody>
      </p:sp>
      <p:sp>
        <p:nvSpPr>
          <p:cNvPr id="15" name="TextBox 14"/>
          <p:cNvSpPr txBox="1"/>
          <p:nvPr/>
        </p:nvSpPr>
        <p:spPr>
          <a:xfrm>
            <a:off x="786384" y="3401568"/>
            <a:ext cx="3133344"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Weight 0.665</a:t>
            </a:r>
          </a:p>
        </p:txBody>
      </p:sp>
      <p:sp>
        <p:nvSpPr>
          <p:cNvPr id="16" name="Rounded Rectangle 15"/>
          <p:cNvSpPr/>
          <p:nvPr/>
        </p:nvSpPr>
        <p:spPr>
          <a:xfrm>
            <a:off x="4322064" y="2487168"/>
            <a:ext cx="3553968"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7751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2960" y="2670048"/>
            <a:ext cx="30967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V₂ = [0, 10]</a:t>
            </a:r>
          </a:p>
        </p:txBody>
      </p:sp>
      <p:sp>
        <p:nvSpPr>
          <p:cNvPr id="19" name="TextBox 18"/>
          <p:cNvSpPr txBox="1"/>
          <p:nvPr/>
        </p:nvSpPr>
        <p:spPr>
          <a:xfrm>
            <a:off x="4541520" y="3401568"/>
            <a:ext cx="3133344"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Weight 0.245</a:t>
            </a:r>
          </a:p>
        </p:txBody>
      </p:sp>
      <p:cxnSp>
        <p:nvCxnSpPr>
          <p:cNvPr id="20" name="Connector 19"/>
          <p:cNvCxnSpPr/>
          <p:nvPr/>
        </p:nvCxnSpPr>
        <p:spPr>
          <a:xfrm>
            <a:off x="416661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77199" y="2487168"/>
            <a:ext cx="3553968"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32647"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8095" y="2670048"/>
            <a:ext cx="3096768"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V₃ = [5, 5]</a:t>
            </a:r>
          </a:p>
        </p:txBody>
      </p:sp>
      <p:sp>
        <p:nvSpPr>
          <p:cNvPr id="24" name="TextBox 23"/>
          <p:cNvSpPr txBox="1"/>
          <p:nvPr/>
        </p:nvSpPr>
        <p:spPr>
          <a:xfrm>
            <a:off x="8296655" y="3401568"/>
            <a:ext cx="3133344"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Weight 0.090</a:t>
            </a:r>
          </a:p>
        </p:txBody>
      </p:sp>
      <p:cxnSp>
        <p:nvCxnSpPr>
          <p:cNvPr id="25" name="Connector 24"/>
          <p:cNvCxnSpPr/>
          <p:nvPr/>
        </p:nvCxnSpPr>
        <p:spPr>
          <a:xfrm>
            <a:off x="7921751"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401568" y="5074920"/>
            <a:ext cx="5486400" cy="429768"/>
          </a:xfrm>
          <a:prstGeom prst="rect">
            <a:avLst/>
          </a:prstGeom>
          <a:noFill/>
        </p:spPr>
        <p:txBody>
          <a:bodyPr wrap="square" lIns="13716" rIns="13716" tIns="0" bIns="0">
            <a:spAutoFit/>
          </a:bodyPr>
          <a:lstStyle/>
          <a:p>
            <a:pPr algn="ctr">
              <a:spcBef>
                <a:spcPts val="0"/>
              </a:spcBef>
              <a:spcAft>
                <a:spcPts val="0"/>
              </a:spcAft>
            </a:pPr>
            <a:r>
              <a:rPr sz="2300" b="1">
                <a:solidFill>
                  <a:srgbClr val="52CFD1"/>
                </a:solidFill>
                <a:latin typeface="DejaVu Sans"/>
              </a:rPr>
              <a:t>Sum the weighted vectors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Causal masking prevents future-token reads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token can see the existing prefix and its own allowed position.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09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M[i,j] = 0 for allowed keys; otherwise −∞</a:t>
            </a:r>
          </a:p>
        </p:txBody>
      </p:sp>
      <p:sp>
        <p:nvSpPr>
          <p:cNvPr id="12" name="TextBox 11"/>
          <p:cNvSpPr txBox="1"/>
          <p:nvPr/>
        </p:nvSpPr>
        <p:spPr>
          <a:xfrm>
            <a:off x="1033271" y="2020824"/>
            <a:ext cx="3657600" cy="274320"/>
          </a:xfrm>
          <a:prstGeom prst="rect">
            <a:avLst/>
          </a:prstGeom>
          <a:noFill/>
        </p:spPr>
        <p:txBody>
          <a:bodyPr wrap="square" lIns="13716" rIns="13716" tIns="0" bIns="0">
            <a:spAutoFit/>
          </a:bodyPr>
          <a:lstStyle/>
          <a:p>
            <a:pPr algn="l">
              <a:spcBef>
                <a:spcPts val="0"/>
              </a:spcBef>
              <a:spcAft>
                <a:spcPts val="0"/>
              </a:spcAft>
            </a:pPr>
            <a:r>
              <a:rPr sz="1200" b="1">
                <a:solidFill>
                  <a:srgbClr val="A7B8CD"/>
                </a:solidFill>
                <a:latin typeface="DejaVu Sans"/>
              </a:rPr>
              <a:t>KEY POSITIONS →</a:t>
            </a:r>
          </a:p>
        </p:txBody>
      </p:sp>
      <p:sp>
        <p:nvSpPr>
          <p:cNvPr id="13" name="TextBox 12"/>
          <p:cNvSpPr txBox="1"/>
          <p:nvPr/>
        </p:nvSpPr>
        <p:spPr>
          <a:xfrm>
            <a:off x="612648" y="5376672"/>
            <a:ext cx="2743200" cy="228600"/>
          </a:xfrm>
          <a:prstGeom prst="rect">
            <a:avLst/>
          </a:prstGeom>
          <a:noFill/>
        </p:spPr>
        <p:txBody>
          <a:bodyPr wrap="square" lIns="13716" rIns="13716" tIns="0" bIns="0">
            <a:spAutoFit/>
          </a:bodyPr>
          <a:lstStyle/>
          <a:p>
            <a:pPr algn="l">
              <a:spcBef>
                <a:spcPts val="0"/>
              </a:spcBef>
              <a:spcAft>
                <a:spcPts val="0"/>
              </a:spcAft>
            </a:pPr>
            <a:r>
              <a:rPr sz="1000" b="1">
                <a:solidFill>
                  <a:srgbClr val="A7B8CD"/>
                </a:solidFill>
                <a:latin typeface="DejaVu Sans"/>
              </a:rPr>
              <a:t>QUERY ROWS ↓</a:t>
            </a:r>
          </a:p>
        </p:txBody>
      </p:sp>
      <p:sp>
        <p:nvSpPr>
          <p:cNvPr id="14" name="Rectangle 13"/>
          <p:cNvSpPr/>
          <p:nvPr/>
        </p:nvSpPr>
        <p:spPr>
          <a:xfrm>
            <a:off x="1033271" y="245059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72184"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91055"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17" name="Rectangle 16"/>
          <p:cNvSpPr/>
          <p:nvPr/>
        </p:nvSpPr>
        <p:spPr>
          <a:xfrm>
            <a:off x="1911095"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29967"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19" name="Rectangle 18"/>
          <p:cNvSpPr/>
          <p:nvPr/>
        </p:nvSpPr>
        <p:spPr>
          <a:xfrm>
            <a:off x="2350008"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8879"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1" name="Rectangle 20"/>
          <p:cNvSpPr/>
          <p:nvPr/>
        </p:nvSpPr>
        <p:spPr>
          <a:xfrm>
            <a:off x="2788920"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07791"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3" name="Rectangle 22"/>
          <p:cNvSpPr/>
          <p:nvPr/>
        </p:nvSpPr>
        <p:spPr>
          <a:xfrm>
            <a:off x="3227832"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46703"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5" name="Rectangle 24"/>
          <p:cNvSpPr/>
          <p:nvPr/>
        </p:nvSpPr>
        <p:spPr>
          <a:xfrm>
            <a:off x="1033271" y="2889504"/>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72184" y="2889504"/>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11095"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29967"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9" name="Rectangle 28"/>
          <p:cNvSpPr/>
          <p:nvPr/>
        </p:nvSpPr>
        <p:spPr>
          <a:xfrm>
            <a:off x="2350008"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68879"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1" name="Rectangle 30"/>
          <p:cNvSpPr/>
          <p:nvPr/>
        </p:nvSpPr>
        <p:spPr>
          <a:xfrm>
            <a:off x="2788920"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07791"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3" name="Rectangle 32"/>
          <p:cNvSpPr/>
          <p:nvPr/>
        </p:nvSpPr>
        <p:spPr>
          <a:xfrm>
            <a:off x="3227832"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46703"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5" name="Rectangle 34"/>
          <p:cNvSpPr/>
          <p:nvPr/>
        </p:nvSpPr>
        <p:spPr>
          <a:xfrm>
            <a:off x="1033271"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472184"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11095"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350008"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68879"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0" name="Rectangle 39"/>
          <p:cNvSpPr/>
          <p:nvPr/>
        </p:nvSpPr>
        <p:spPr>
          <a:xfrm>
            <a:off x="2788920"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07791"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2" name="Rectangle 41"/>
          <p:cNvSpPr/>
          <p:nvPr/>
        </p:nvSpPr>
        <p:spPr>
          <a:xfrm>
            <a:off x="3227832"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46703"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4" name="Rectangle 43"/>
          <p:cNvSpPr/>
          <p:nvPr/>
        </p:nvSpPr>
        <p:spPr>
          <a:xfrm>
            <a:off x="1033271"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472184"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11095"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350008"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88920" y="3767328"/>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07791" y="3877056"/>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0" name="Rectangle 49"/>
          <p:cNvSpPr/>
          <p:nvPr/>
        </p:nvSpPr>
        <p:spPr>
          <a:xfrm>
            <a:off x="3227832" y="3767328"/>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46703" y="3877056"/>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2" name="Rectangle 51"/>
          <p:cNvSpPr/>
          <p:nvPr/>
        </p:nvSpPr>
        <p:spPr>
          <a:xfrm>
            <a:off x="1033271"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472184"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911095"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350008"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788920"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227832" y="4206240"/>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346703" y="4315968"/>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9" name="Rectangle 58"/>
          <p:cNvSpPr/>
          <p:nvPr/>
        </p:nvSpPr>
        <p:spPr>
          <a:xfrm>
            <a:off x="1033271"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472184"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911095"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350008"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88920"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227832"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0" y="2176272"/>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52CFD1"/>
                </a:solidFill>
                <a:latin typeface="DejaVu Sans"/>
              </a:rPr>
              <a:t>Rows are queries</a:t>
            </a:r>
          </a:p>
        </p:txBody>
      </p:sp>
      <p:sp>
        <p:nvSpPr>
          <p:cNvPr id="66" name="TextBox 65"/>
          <p:cNvSpPr txBox="1"/>
          <p:nvPr/>
        </p:nvSpPr>
        <p:spPr>
          <a:xfrm>
            <a:off x="6400800" y="2532888"/>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One row for each new token</a:t>
            </a:r>
          </a:p>
        </p:txBody>
      </p:sp>
      <p:sp>
        <p:nvSpPr>
          <p:cNvPr id="67" name="TextBox 66"/>
          <p:cNvSpPr txBox="1"/>
          <p:nvPr/>
        </p:nvSpPr>
        <p:spPr>
          <a:xfrm>
            <a:off x="6400800" y="2980944"/>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69AEFF"/>
                </a:solidFill>
                <a:latin typeface="DejaVu Sans"/>
              </a:rPr>
              <a:t>Columns are keys</a:t>
            </a:r>
          </a:p>
        </p:txBody>
      </p:sp>
      <p:sp>
        <p:nvSpPr>
          <p:cNvPr id="68" name="TextBox 67"/>
          <p:cNvSpPr txBox="1"/>
          <p:nvPr/>
        </p:nvSpPr>
        <p:spPr>
          <a:xfrm>
            <a:off x="6400800" y="3337560"/>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One column for each available token</a:t>
            </a:r>
          </a:p>
        </p:txBody>
      </p:sp>
      <p:sp>
        <p:nvSpPr>
          <p:cNvPr id="69" name="TextBox 68"/>
          <p:cNvSpPr txBox="1"/>
          <p:nvPr/>
        </p:nvSpPr>
        <p:spPr>
          <a:xfrm>
            <a:off x="6400800" y="3785615"/>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B799FF"/>
                </a:solidFill>
                <a:latin typeface="DejaVu Sans"/>
              </a:rPr>
              <a:t>Future entries</a:t>
            </a:r>
          </a:p>
        </p:txBody>
      </p:sp>
      <p:sp>
        <p:nvSpPr>
          <p:cNvPr id="70" name="TextBox 69"/>
          <p:cNvSpPr txBox="1"/>
          <p:nvPr/>
        </p:nvSpPr>
        <p:spPr>
          <a:xfrm>
            <a:off x="6400800" y="4142231"/>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Masked before softmax</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00"/>
                                        <p:tgtEl>
                                          <p:spTgt spid="17"/>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00"/>
                                        <p:tgtEl>
                                          <p:spTgt spid="18"/>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00"/>
                                        <p:tgtEl>
                                          <p:spTgt spid="20"/>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400"/>
                                        <p:tgtEl>
                                          <p:spTgt spid="21"/>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00"/>
                                        <p:tgtEl>
                                          <p:spTgt spid="25"/>
                                        </p:tgtEl>
                                      </p:cBhvr>
                                    </p:animEffect>
                                  </p:childTnLst>
                                </p:cTn>
                              </p:par>
                              <p:par>
                                <p:cTn id="43" presetID="10"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400"/>
                                        <p:tgtEl>
                                          <p:spTgt spid="26"/>
                                        </p:tgtEl>
                                      </p:cBhvr>
                                    </p:animEffect>
                                  </p:childTnLst>
                                </p:cTn>
                              </p:par>
                              <p:par>
                                <p:cTn id="46" presetID="10"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400"/>
                                        <p:tgtEl>
                                          <p:spTgt spid="27"/>
                                        </p:tgtEl>
                                      </p:cBhvr>
                                    </p:animEffect>
                                  </p:childTnLst>
                                </p:cTn>
                              </p:par>
                              <p:par>
                                <p:cTn id="49" presetID="10"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400"/>
                                        <p:tgtEl>
                                          <p:spTgt spid="28"/>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400"/>
                                        <p:tgtEl>
                                          <p:spTgt spid="29"/>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00"/>
                                        <p:tgtEl>
                                          <p:spTgt spid="30"/>
                                        </p:tgtEl>
                                      </p:cBhvr>
                                    </p:animEffect>
                                  </p:childTnLst>
                                </p:cTn>
                              </p:par>
                              <p:par>
                                <p:cTn id="58" presetID="10" presetClass="entr" presetSubtype="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00"/>
                                        <p:tgtEl>
                                          <p:spTgt spid="31"/>
                                        </p:tgtEl>
                                      </p:cBhvr>
                                    </p:animEffect>
                                  </p:childTnLst>
                                </p:cTn>
                              </p:par>
                              <p:par>
                                <p:cTn id="61" presetID="10"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click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400"/>
                                        <p:tgtEl>
                                          <p:spTgt spid="35"/>
                                        </p:tgtEl>
                                      </p:cBhvr>
                                    </p:animEffect>
                                  </p:childTnLst>
                                </p:cTn>
                              </p:par>
                              <p:par>
                                <p:cTn id="75" presetID="10" presetClass="entr" presetSubtype="0"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400"/>
                                        <p:tgtEl>
                                          <p:spTgt spid="36"/>
                                        </p:tgtEl>
                                      </p:cBhvr>
                                    </p:animEffect>
                                  </p:childTnLst>
                                </p:cTn>
                              </p:par>
                              <p:par>
                                <p:cTn id="78" presetID="10" presetClass="entr" presetSubtype="0" fill="hold" grpId="0" nodeType="click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400"/>
                                        <p:tgtEl>
                                          <p:spTgt spid="37"/>
                                        </p:tgtEl>
                                      </p:cBhvr>
                                    </p:animEffect>
                                  </p:childTnLst>
                                </p:cTn>
                              </p:par>
                              <p:par>
                                <p:cTn id="81" presetID="10" presetClass="entr" presetSubtype="0" fill="hold" grpId="0" nodeType="click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400"/>
                                        <p:tgtEl>
                                          <p:spTgt spid="38"/>
                                        </p:tgtEl>
                                      </p:cBhvr>
                                    </p:animEffect>
                                  </p:childTnLst>
                                </p:cTn>
                              </p:par>
                              <p:par>
                                <p:cTn id="84" presetID="10" presetClass="entr" presetSubtype="0" fill="hold" grpId="0" nodeType="click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400"/>
                                        <p:tgtEl>
                                          <p:spTgt spid="39"/>
                                        </p:tgtEl>
                                      </p:cBhvr>
                                    </p:animEffect>
                                  </p:childTnLst>
                                </p:cTn>
                              </p:par>
                              <p:par>
                                <p:cTn id="87" presetID="10" presetClass="entr" presetSubtype="0" fill="hold" grpId="0"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400"/>
                                        <p:tgtEl>
                                          <p:spTgt spid="40"/>
                                        </p:tgtEl>
                                      </p:cBhvr>
                                    </p:animEffect>
                                  </p:childTnLst>
                                </p:cTn>
                              </p:par>
                              <p:par>
                                <p:cTn id="90" presetID="10" presetClass="entr" presetSubtype="0" fill="hold" grpId="0" nodeType="click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400"/>
                                        <p:tgtEl>
                                          <p:spTgt spid="41"/>
                                        </p:tgtEl>
                                      </p:cBhvr>
                                    </p:animEffect>
                                  </p:childTnLst>
                                </p:cTn>
                              </p:par>
                              <p:par>
                                <p:cTn id="93" presetID="10" presetClass="entr" presetSubtype="0" fill="hold" grpId="0" nodeType="clickEffect">
                                  <p:stCondLst>
                                    <p:cond delay="0"/>
                                  </p:stCondLst>
                                  <p:childTnLst>
                                    <p:set>
                                      <p:cBhvr>
                                        <p:cTn id="94" dur="1" fill="hold">
                                          <p:stCondLst>
                                            <p:cond delay="0"/>
                                          </p:stCondLst>
                                        </p:cTn>
                                        <p:tgtEl>
                                          <p:spTgt spid="42"/>
                                        </p:tgtEl>
                                        <p:attrNameLst>
                                          <p:attrName>style.visibility</p:attrName>
                                        </p:attrNameLst>
                                      </p:cBhvr>
                                      <p:to>
                                        <p:strVal val="visible"/>
                                      </p:to>
                                    </p:set>
                                    <p:animEffect transition="in" filter="fade">
                                      <p:cBhvr>
                                        <p:cTn id="95" dur="400"/>
                                        <p:tgtEl>
                                          <p:spTgt spid="42"/>
                                        </p:tgtEl>
                                      </p:cBhvr>
                                    </p:animEffect>
                                  </p:childTnLst>
                                </p:cTn>
                              </p:par>
                              <p:par>
                                <p:cTn id="96" presetID="10" presetClass="entr" presetSubtype="0" fill="hold" grpId="0" nodeType="clickEffect">
                                  <p:stCondLst>
                                    <p:cond delay="0"/>
                                  </p:stCondLst>
                                  <p:childTnLst>
                                    <p:set>
                                      <p:cBhvr>
                                        <p:cTn id="97" dur="1" fill="hold">
                                          <p:stCondLst>
                                            <p:cond delay="0"/>
                                          </p:stCondLst>
                                        </p:cTn>
                                        <p:tgtEl>
                                          <p:spTgt spid="43"/>
                                        </p:tgtEl>
                                        <p:attrNameLst>
                                          <p:attrName>style.visibility</p:attrName>
                                        </p:attrNameLst>
                                      </p:cBhvr>
                                      <p:to>
                                        <p:strVal val="visible"/>
                                      </p:to>
                                    </p:set>
                                    <p:animEffect transition="in" filter="fade">
                                      <p:cBhvr>
                                        <p:cTn id="98" dur="400"/>
                                        <p:tgtEl>
                                          <p:spTgt spid="43"/>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400"/>
                                        <p:tgtEl>
                                          <p:spTgt spid="44"/>
                                        </p:tgtEl>
                                      </p:cBhvr>
                                    </p:animEffect>
                                  </p:childTnLst>
                                </p:cTn>
                              </p:par>
                              <p:par>
                                <p:cTn id="104" presetID="10"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00"/>
                                        <p:tgtEl>
                                          <p:spTgt spid="45"/>
                                        </p:tgtEl>
                                      </p:cBhvr>
                                    </p:animEffect>
                                  </p:childTnLst>
                                </p:cTn>
                              </p:par>
                              <p:par>
                                <p:cTn id="107" presetID="10" presetClass="entr" presetSubtype="0" fill="hold" grpId="0" nodeType="click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400"/>
                                        <p:tgtEl>
                                          <p:spTgt spid="46"/>
                                        </p:tgtEl>
                                      </p:cBhvr>
                                    </p:animEffect>
                                  </p:childTnLst>
                                </p:cTn>
                              </p:par>
                              <p:par>
                                <p:cTn id="110" presetID="10" presetClass="entr" presetSubtype="0" fill="hold" grpId="0" nodeType="click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fade">
                                      <p:cBhvr>
                                        <p:cTn id="112" dur="400"/>
                                        <p:tgtEl>
                                          <p:spTgt spid="47"/>
                                        </p:tgtEl>
                                      </p:cBhvr>
                                    </p:animEffect>
                                  </p:childTnLst>
                                </p:cTn>
                              </p:par>
                              <p:par>
                                <p:cTn id="113" presetID="10"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400"/>
                                        <p:tgtEl>
                                          <p:spTgt spid="48"/>
                                        </p:tgtEl>
                                      </p:cBhvr>
                                    </p:animEffect>
                                  </p:childTnLst>
                                </p:cTn>
                              </p:par>
                              <p:par>
                                <p:cTn id="116" presetID="10" presetClass="entr" presetSubtype="0" fill="hold" grpId="0" nodeType="clickEffect">
                                  <p:stCondLst>
                                    <p:cond delay="0"/>
                                  </p:stCondLst>
                                  <p:childTnLst>
                                    <p:set>
                                      <p:cBhvr>
                                        <p:cTn id="117" dur="1" fill="hold">
                                          <p:stCondLst>
                                            <p:cond delay="0"/>
                                          </p:stCondLst>
                                        </p:cTn>
                                        <p:tgtEl>
                                          <p:spTgt spid="49"/>
                                        </p:tgtEl>
                                        <p:attrNameLst>
                                          <p:attrName>style.visibility</p:attrName>
                                        </p:attrNameLst>
                                      </p:cBhvr>
                                      <p:to>
                                        <p:strVal val="visible"/>
                                      </p:to>
                                    </p:set>
                                    <p:animEffect transition="in" filter="fade">
                                      <p:cBhvr>
                                        <p:cTn id="118" dur="400"/>
                                        <p:tgtEl>
                                          <p:spTgt spid="49"/>
                                        </p:tgtEl>
                                      </p:cBhvr>
                                    </p:animEffect>
                                  </p:childTnLst>
                                </p:cTn>
                              </p:par>
                              <p:par>
                                <p:cTn id="119" presetID="10" presetClass="entr" presetSubtype="0" fill="hold" grpId="0" nodeType="clickEffect">
                                  <p:stCondLst>
                                    <p:cond delay="0"/>
                                  </p:stCondLst>
                                  <p:childTnLst>
                                    <p:set>
                                      <p:cBhvr>
                                        <p:cTn id="120" dur="1" fill="hold">
                                          <p:stCondLst>
                                            <p:cond delay="0"/>
                                          </p:stCondLst>
                                        </p:cTn>
                                        <p:tgtEl>
                                          <p:spTgt spid="50"/>
                                        </p:tgtEl>
                                        <p:attrNameLst>
                                          <p:attrName>style.visibility</p:attrName>
                                        </p:attrNameLst>
                                      </p:cBhvr>
                                      <p:to>
                                        <p:strVal val="visible"/>
                                      </p:to>
                                    </p:set>
                                    <p:animEffect transition="in" filter="fade">
                                      <p:cBhvr>
                                        <p:cTn id="121" dur="400"/>
                                        <p:tgtEl>
                                          <p:spTgt spid="50"/>
                                        </p:tgtEl>
                                      </p:cBhvr>
                                    </p:animEffect>
                                  </p:childTnLst>
                                </p:cTn>
                              </p:par>
                              <p:par>
                                <p:cTn id="122" presetID="10" presetClass="entr" presetSubtype="0" fill="hold" grpId="0" nodeType="clickEffect">
                                  <p:stCondLst>
                                    <p:cond delay="0"/>
                                  </p:stCondLst>
                                  <p:childTnLst>
                                    <p:set>
                                      <p:cBhvr>
                                        <p:cTn id="123" dur="1" fill="hold">
                                          <p:stCondLst>
                                            <p:cond delay="0"/>
                                          </p:stCondLst>
                                        </p:cTn>
                                        <p:tgtEl>
                                          <p:spTgt spid="51"/>
                                        </p:tgtEl>
                                        <p:attrNameLst>
                                          <p:attrName>style.visibility</p:attrName>
                                        </p:attrNameLst>
                                      </p:cBhvr>
                                      <p:to>
                                        <p:strVal val="visible"/>
                                      </p:to>
                                    </p:set>
                                    <p:animEffect transition="in" filter="fade">
                                      <p:cBhvr>
                                        <p:cTn id="124" dur="400"/>
                                        <p:tgtEl>
                                          <p:spTgt spid="51"/>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9" dur="400"/>
                                        <p:tgtEl>
                                          <p:spTgt spid="52"/>
                                        </p:tgtEl>
                                      </p:cBhvr>
                                    </p:animEffect>
                                  </p:childTnLst>
                                </p:cTn>
                              </p:par>
                              <p:par>
                                <p:cTn id="130" presetID="10" presetClass="entr" presetSubtype="0" fill="hold" grpId="0" nodeType="clickEffect">
                                  <p:stCondLst>
                                    <p:cond delay="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2" dur="400"/>
                                        <p:tgtEl>
                                          <p:spTgt spid="53"/>
                                        </p:tgtEl>
                                      </p:cBhvr>
                                    </p:animEffect>
                                  </p:childTnLst>
                                </p:cTn>
                              </p:par>
                              <p:par>
                                <p:cTn id="133" presetID="10" presetClass="entr" presetSubtype="0" fill="hold" grpId="0" nodeType="clickEffect">
                                  <p:stCondLst>
                                    <p:cond delay="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5" dur="400"/>
                                        <p:tgtEl>
                                          <p:spTgt spid="54"/>
                                        </p:tgtEl>
                                      </p:cBhvr>
                                    </p:animEffect>
                                  </p:childTnLst>
                                </p:cTn>
                              </p:par>
                              <p:par>
                                <p:cTn id="136" presetID="10" presetClass="entr" presetSubtype="0" fill="hold" grpId="0" nodeType="clickEffect">
                                  <p:stCondLst>
                                    <p:cond delay="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8" dur="400"/>
                                        <p:tgtEl>
                                          <p:spTgt spid="55"/>
                                        </p:tgtEl>
                                      </p:cBhvr>
                                    </p:animEffect>
                                  </p:childTnLst>
                                </p:cTn>
                              </p:par>
                              <p:par>
                                <p:cTn id="139" presetID="10" presetClass="entr" presetSubtype="0" fill="hold" grpId="0" nodeType="clickEffect">
                                  <p:stCondLst>
                                    <p:cond delay="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41" dur="400"/>
                                        <p:tgtEl>
                                          <p:spTgt spid="56"/>
                                        </p:tgtEl>
                                      </p:cBhvr>
                                    </p:animEffect>
                                  </p:childTnLst>
                                </p:cTn>
                              </p:par>
                              <p:par>
                                <p:cTn id="142" presetID="10" presetClass="entr" presetSubtype="0" fill="hold" grpId="0" nodeType="clickEffect">
                                  <p:stCondLst>
                                    <p:cond delay="0"/>
                                  </p:stCondLst>
                                  <p:childTnLst>
                                    <p:set>
                                      <p:cBhvr>
                                        <p:cTn id="143" dur="1" fill="hold">
                                          <p:stCondLst>
                                            <p:cond delay="0"/>
                                          </p:stCondLst>
                                        </p:cTn>
                                        <p:tgtEl>
                                          <p:spTgt spid="57"/>
                                        </p:tgtEl>
                                        <p:attrNameLst>
                                          <p:attrName>style.visibility</p:attrName>
                                        </p:attrNameLst>
                                      </p:cBhvr>
                                      <p:to>
                                        <p:strVal val="visible"/>
                                      </p:to>
                                    </p:set>
                                    <p:animEffect transition="in" filter="fade">
                                      <p:cBhvr>
                                        <p:cTn id="144" dur="400"/>
                                        <p:tgtEl>
                                          <p:spTgt spid="57"/>
                                        </p:tgtEl>
                                      </p:cBhvr>
                                    </p:animEffect>
                                  </p:childTnLst>
                                </p:cTn>
                              </p:par>
                              <p:par>
                                <p:cTn id="145" presetID="10" presetClass="entr" presetSubtype="0" fill="hold" grpId="0" nodeType="clickEffect">
                                  <p:stCondLst>
                                    <p:cond delay="0"/>
                                  </p:stCondLst>
                                  <p:childTnLst>
                                    <p:set>
                                      <p:cBhvr>
                                        <p:cTn id="146" dur="1" fill="hold">
                                          <p:stCondLst>
                                            <p:cond delay="0"/>
                                          </p:stCondLst>
                                        </p:cTn>
                                        <p:tgtEl>
                                          <p:spTgt spid="58"/>
                                        </p:tgtEl>
                                        <p:attrNameLst>
                                          <p:attrName>style.visibility</p:attrName>
                                        </p:attrNameLst>
                                      </p:cBhvr>
                                      <p:to>
                                        <p:strVal val="visible"/>
                                      </p:to>
                                    </p:set>
                                    <p:animEffect transition="in" filter="fade">
                                      <p:cBhvr>
                                        <p:cTn id="147" dur="400"/>
                                        <p:tgtEl>
                                          <p:spTgt spid="58"/>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59"/>
                                        </p:tgtEl>
                                        <p:attrNameLst>
                                          <p:attrName>style.visibility</p:attrName>
                                        </p:attrNameLst>
                                      </p:cBhvr>
                                      <p:to>
                                        <p:strVal val="visible"/>
                                      </p:to>
                                    </p:set>
                                    <p:animEffect transition="in" filter="fade">
                                      <p:cBhvr>
                                        <p:cTn id="152" dur="400"/>
                                        <p:tgtEl>
                                          <p:spTgt spid="59"/>
                                        </p:tgtEl>
                                      </p:cBhvr>
                                    </p:animEffect>
                                  </p:childTnLst>
                                </p:cTn>
                              </p:par>
                              <p:par>
                                <p:cTn id="153" presetID="10" presetClass="entr" presetSubtype="0" fill="hold" grpId="0" nodeType="clickEffect">
                                  <p:stCondLst>
                                    <p:cond delay="0"/>
                                  </p:stCondLst>
                                  <p:childTnLst>
                                    <p:set>
                                      <p:cBhvr>
                                        <p:cTn id="154" dur="1" fill="hold">
                                          <p:stCondLst>
                                            <p:cond delay="0"/>
                                          </p:stCondLst>
                                        </p:cTn>
                                        <p:tgtEl>
                                          <p:spTgt spid="60"/>
                                        </p:tgtEl>
                                        <p:attrNameLst>
                                          <p:attrName>style.visibility</p:attrName>
                                        </p:attrNameLst>
                                      </p:cBhvr>
                                      <p:to>
                                        <p:strVal val="visible"/>
                                      </p:to>
                                    </p:set>
                                    <p:animEffect transition="in" filter="fade">
                                      <p:cBhvr>
                                        <p:cTn id="155" dur="400"/>
                                        <p:tgtEl>
                                          <p:spTgt spid="60"/>
                                        </p:tgtEl>
                                      </p:cBhvr>
                                    </p:animEffect>
                                  </p:childTnLst>
                                </p:cTn>
                              </p:par>
                              <p:par>
                                <p:cTn id="156" presetID="10" presetClass="entr" presetSubtype="0" fill="hold" grpId="0" nodeType="clickEffect">
                                  <p:stCondLst>
                                    <p:cond delay="0"/>
                                  </p:stCondLst>
                                  <p:childTnLst>
                                    <p:set>
                                      <p:cBhvr>
                                        <p:cTn id="157" dur="1" fill="hold">
                                          <p:stCondLst>
                                            <p:cond delay="0"/>
                                          </p:stCondLst>
                                        </p:cTn>
                                        <p:tgtEl>
                                          <p:spTgt spid="61"/>
                                        </p:tgtEl>
                                        <p:attrNameLst>
                                          <p:attrName>style.visibility</p:attrName>
                                        </p:attrNameLst>
                                      </p:cBhvr>
                                      <p:to>
                                        <p:strVal val="visible"/>
                                      </p:to>
                                    </p:set>
                                    <p:animEffect transition="in" filter="fade">
                                      <p:cBhvr>
                                        <p:cTn id="158" dur="400"/>
                                        <p:tgtEl>
                                          <p:spTgt spid="61"/>
                                        </p:tgtEl>
                                      </p:cBhvr>
                                    </p:animEffect>
                                  </p:childTnLst>
                                </p:cTn>
                              </p:par>
                              <p:par>
                                <p:cTn id="159" presetID="10" presetClass="entr" presetSubtype="0" fill="hold" grpId="0" nodeType="clickEffect">
                                  <p:stCondLst>
                                    <p:cond delay="0"/>
                                  </p:stCondLst>
                                  <p:childTnLst>
                                    <p:set>
                                      <p:cBhvr>
                                        <p:cTn id="160" dur="1" fill="hold">
                                          <p:stCondLst>
                                            <p:cond delay="0"/>
                                          </p:stCondLst>
                                        </p:cTn>
                                        <p:tgtEl>
                                          <p:spTgt spid="62"/>
                                        </p:tgtEl>
                                        <p:attrNameLst>
                                          <p:attrName>style.visibility</p:attrName>
                                        </p:attrNameLst>
                                      </p:cBhvr>
                                      <p:to>
                                        <p:strVal val="visible"/>
                                      </p:to>
                                    </p:set>
                                    <p:animEffect transition="in" filter="fade">
                                      <p:cBhvr>
                                        <p:cTn id="161" dur="400"/>
                                        <p:tgtEl>
                                          <p:spTgt spid="62"/>
                                        </p:tgtEl>
                                      </p:cBhvr>
                                    </p:animEffect>
                                  </p:childTnLst>
                                </p:cTn>
                              </p:par>
                              <p:par>
                                <p:cTn id="162" presetID="10" presetClass="entr" presetSubtype="0" fill="hold" grpId="0" nodeType="clickEffect">
                                  <p:stCondLst>
                                    <p:cond delay="0"/>
                                  </p:stCondLst>
                                  <p:childTnLst>
                                    <p:set>
                                      <p:cBhvr>
                                        <p:cTn id="163" dur="1" fill="hold">
                                          <p:stCondLst>
                                            <p:cond delay="0"/>
                                          </p:stCondLst>
                                        </p:cTn>
                                        <p:tgtEl>
                                          <p:spTgt spid="63"/>
                                        </p:tgtEl>
                                        <p:attrNameLst>
                                          <p:attrName>style.visibility</p:attrName>
                                        </p:attrNameLst>
                                      </p:cBhvr>
                                      <p:to>
                                        <p:strVal val="visible"/>
                                      </p:to>
                                    </p:set>
                                    <p:animEffect transition="in" filter="fade">
                                      <p:cBhvr>
                                        <p:cTn id="164" dur="400"/>
                                        <p:tgtEl>
                                          <p:spTgt spid="63"/>
                                        </p:tgtEl>
                                      </p:cBhvr>
                                    </p:animEffect>
                                  </p:childTnLst>
                                </p:cTn>
                              </p:par>
                              <p:par>
                                <p:cTn id="165" presetID="10" presetClass="entr" presetSubtype="0" fill="hold" grpId="0" nodeType="clickEffect">
                                  <p:stCondLst>
                                    <p:cond delay="0"/>
                                  </p:stCondLst>
                                  <p:childTnLst>
                                    <p:set>
                                      <p:cBhvr>
                                        <p:cTn id="166" dur="1" fill="hold">
                                          <p:stCondLst>
                                            <p:cond delay="0"/>
                                          </p:stCondLst>
                                        </p:cTn>
                                        <p:tgtEl>
                                          <p:spTgt spid="64"/>
                                        </p:tgtEl>
                                        <p:attrNameLst>
                                          <p:attrName>style.visibility</p:attrName>
                                        </p:attrNameLst>
                                      </p:cBhvr>
                                      <p:to>
                                        <p:strVal val="visible"/>
                                      </p:to>
                                    </p:set>
                                    <p:animEffect transition="in" filter="fade">
                                      <p:cBhvr>
                                        <p:cTn id="167" dur="400"/>
                                        <p:tgtEl>
                                          <p:spTgt spid="64"/>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65"/>
                                        </p:tgtEl>
                                        <p:attrNameLst>
                                          <p:attrName>style.visibility</p:attrName>
                                        </p:attrNameLst>
                                      </p:cBhvr>
                                      <p:to>
                                        <p:strVal val="visible"/>
                                      </p:to>
                                    </p:set>
                                    <p:animEffect transition="in" filter="fade">
                                      <p:cBhvr>
                                        <p:cTn id="172" dur="400"/>
                                        <p:tgtEl>
                                          <p:spTgt spid="65"/>
                                        </p:tgtEl>
                                      </p:cBhvr>
                                    </p:animEffect>
                                  </p:childTnLst>
                                </p:cTn>
                              </p:par>
                              <p:par>
                                <p:cTn id="173" presetID="10" presetClass="entr" presetSubtype="0" fill="hold" grpId="0" nodeType="clickEffect">
                                  <p:stCondLst>
                                    <p:cond delay="0"/>
                                  </p:stCondLst>
                                  <p:childTnLst>
                                    <p:set>
                                      <p:cBhvr>
                                        <p:cTn id="174" dur="1" fill="hold">
                                          <p:stCondLst>
                                            <p:cond delay="0"/>
                                          </p:stCondLst>
                                        </p:cTn>
                                        <p:tgtEl>
                                          <p:spTgt spid="66"/>
                                        </p:tgtEl>
                                        <p:attrNameLst>
                                          <p:attrName>style.visibility</p:attrName>
                                        </p:attrNameLst>
                                      </p:cBhvr>
                                      <p:to>
                                        <p:strVal val="visible"/>
                                      </p:to>
                                    </p:set>
                                    <p:animEffect transition="in" filter="fade">
                                      <p:cBhvr>
                                        <p:cTn id="175" dur="400"/>
                                        <p:tgtEl>
                                          <p:spTgt spid="66"/>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67"/>
                                        </p:tgtEl>
                                        <p:attrNameLst>
                                          <p:attrName>style.visibility</p:attrName>
                                        </p:attrNameLst>
                                      </p:cBhvr>
                                      <p:to>
                                        <p:strVal val="visible"/>
                                      </p:to>
                                    </p:set>
                                    <p:animEffect transition="in" filter="fade">
                                      <p:cBhvr>
                                        <p:cTn id="180" dur="400"/>
                                        <p:tgtEl>
                                          <p:spTgt spid="67"/>
                                        </p:tgtEl>
                                      </p:cBhvr>
                                    </p:animEffect>
                                  </p:childTnLst>
                                </p:cTn>
                              </p:par>
                              <p:par>
                                <p:cTn id="181" presetID="10" presetClass="entr" presetSubtype="0" fill="hold" grpId="0" nodeType="clickEffect">
                                  <p:stCondLst>
                                    <p:cond delay="0"/>
                                  </p:stCondLst>
                                  <p:childTnLst>
                                    <p:set>
                                      <p:cBhvr>
                                        <p:cTn id="182" dur="1" fill="hold">
                                          <p:stCondLst>
                                            <p:cond delay="0"/>
                                          </p:stCondLst>
                                        </p:cTn>
                                        <p:tgtEl>
                                          <p:spTgt spid="68"/>
                                        </p:tgtEl>
                                        <p:attrNameLst>
                                          <p:attrName>style.visibility</p:attrName>
                                        </p:attrNameLst>
                                      </p:cBhvr>
                                      <p:to>
                                        <p:strVal val="visible"/>
                                      </p:to>
                                    </p:set>
                                    <p:animEffect transition="in" filter="fade">
                                      <p:cBhvr>
                                        <p:cTn id="183" dur="400"/>
                                        <p:tgtEl>
                                          <p:spTgt spid="68"/>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grpId="0" nodeType="clickEffect">
                                  <p:stCondLst>
                                    <p:cond delay="0"/>
                                  </p:stCondLst>
                                  <p:childTnLst>
                                    <p:set>
                                      <p:cBhvr>
                                        <p:cTn id="187" dur="1" fill="hold">
                                          <p:stCondLst>
                                            <p:cond delay="0"/>
                                          </p:stCondLst>
                                        </p:cTn>
                                        <p:tgtEl>
                                          <p:spTgt spid="69"/>
                                        </p:tgtEl>
                                        <p:attrNameLst>
                                          <p:attrName>style.visibility</p:attrName>
                                        </p:attrNameLst>
                                      </p:cBhvr>
                                      <p:to>
                                        <p:strVal val="visible"/>
                                      </p:to>
                                    </p:set>
                                    <p:animEffect transition="in" filter="fade">
                                      <p:cBhvr>
                                        <p:cTn id="188" dur="400"/>
                                        <p:tgtEl>
                                          <p:spTgt spid="69"/>
                                        </p:tgtEl>
                                      </p:cBhvr>
                                    </p:animEffect>
                                  </p:childTnLst>
                                </p:cTn>
                              </p:par>
                              <p:par>
                                <p:cTn id="189" presetID="10" presetClass="entr" presetSubtype="0" fill="hold" grpId="0" nodeType="clickEffect">
                                  <p:stCondLst>
                                    <p:cond delay="0"/>
                                  </p:stCondLst>
                                  <p:childTnLst>
                                    <p:set>
                                      <p:cBhvr>
                                        <p:cTn id="190" dur="1" fill="hold">
                                          <p:stCondLst>
                                            <p:cond delay="0"/>
                                          </p:stCondLst>
                                        </p:cTn>
                                        <p:tgtEl>
                                          <p:spTgt spid="70"/>
                                        </p:tgtEl>
                                        <p:attrNameLst>
                                          <p:attrName>style.visibility</p:attrName>
                                        </p:attrNameLst>
                                      </p:cBhvr>
                                      <p:to>
                                        <p:strVal val="visible"/>
                                      </p:to>
                                    </p:set>
                                    <p:animEffect transition="in" filter="fade">
                                      <p:cBhvr>
                                        <p:cTn id="191"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One equation joins the complete operation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Two matrix products surround the softmax.</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10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O = softmax(αQKᵀ + M)V</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QKᵀ</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Tq × Tk score matrix</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Scale + mask</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Apply model scale and visibility</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Softmax</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Normalize each query row</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PV</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Tq × d_v output</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700" b="1">
                <a:solidFill>
                  <a:srgbClr val="F2F6FC"/>
                </a:solidFill>
                <a:latin typeface="DejaVu Sans"/>
              </a:rPr>
              <a:t>Multiple heads learn multiple kinds of relationships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Each head produces its own weighted read; an output projection mixes them.</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11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Y = concat(O₁, …, O_H) W_O</a:t>
            </a:r>
          </a:p>
        </p:txBody>
      </p:sp>
      <p:sp>
        <p:nvSpPr>
          <p:cNvPr id="12" name="Rounded Rectangle 11"/>
          <p:cNvSpPr/>
          <p:nvPr/>
        </p:nvSpPr>
        <p:spPr>
          <a:xfrm>
            <a:off x="777240" y="2029968"/>
            <a:ext cx="1920240" cy="310896"/>
          </a:xfrm>
          <a:prstGeom prst="roundRect">
            <a:avLst>
              <a:gd name="adj" fmla="val 9000"/>
            </a:avLst>
          </a:prstGeom>
          <a:solidFill>
            <a:srgbClr val="1C2B44"/>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3" y="2089404"/>
            <a:ext cx="1810512" cy="182880"/>
          </a:xfrm>
          <a:prstGeom prst="rect">
            <a:avLst/>
          </a:prstGeom>
          <a:noFill/>
        </p:spPr>
        <p:txBody>
          <a:bodyPr wrap="square" lIns="13716" rIns="13716" tIns="0" bIns="0">
            <a:spAutoFit/>
          </a:bodyPr>
          <a:lstStyle/>
          <a:p>
            <a:pPr algn="ctr">
              <a:spcBef>
                <a:spcPts val="0"/>
              </a:spcBef>
              <a:spcAft>
                <a:spcPts val="0"/>
              </a:spcAft>
            </a:pPr>
            <a:r>
              <a:rPr sz="900" b="1">
                <a:solidFill>
                  <a:srgbClr val="52CFD1"/>
                </a:solidFill>
                <a:latin typeface="DejaVu Sans"/>
              </a:rPr>
              <a:t>HEAD 1</a:t>
            </a:r>
          </a:p>
        </p:txBody>
      </p:sp>
      <p:sp>
        <p:nvSpPr>
          <p:cNvPr id="14" name="Rectangle 13"/>
          <p:cNvSpPr/>
          <p:nvPr/>
        </p:nvSpPr>
        <p:spPr>
          <a:xfrm>
            <a:off x="3291840" y="1938528"/>
            <a:ext cx="3657600" cy="484632"/>
          </a:xfrm>
          <a:prstGeom prst="rect">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2052828"/>
            <a:ext cx="3291840" cy="201168"/>
          </a:xfrm>
          <a:prstGeom prst="rect">
            <a:avLst/>
          </a:prstGeom>
          <a:noFill/>
        </p:spPr>
        <p:txBody>
          <a:bodyPr wrap="square" lIns="13716" rIns="13716" tIns="0" bIns="0">
            <a:spAutoFit/>
          </a:bodyPr>
          <a:lstStyle/>
          <a:p>
            <a:pPr algn="l">
              <a:spcBef>
                <a:spcPts val="0"/>
              </a:spcBef>
              <a:spcAft>
                <a:spcPts val="0"/>
              </a:spcAft>
            </a:pPr>
            <a:r>
              <a:rPr sz="1200" b="0">
                <a:solidFill>
                  <a:srgbClr val="52CFD1"/>
                </a:solidFill>
                <a:latin typeface="DejaVu Sans"/>
              </a:rPr>
              <a:t>Independent weighted read</a:t>
            </a:r>
          </a:p>
        </p:txBody>
      </p:sp>
      <p:cxnSp>
        <p:nvCxnSpPr>
          <p:cNvPr id="16" name="Connector 15"/>
          <p:cNvCxnSpPr/>
          <p:nvPr/>
        </p:nvCxnSpPr>
        <p:spPr>
          <a:xfrm>
            <a:off x="2743200" y="2176272"/>
            <a:ext cx="448056" cy="0"/>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2834640"/>
            <a:ext cx="1920240" cy="310896"/>
          </a:xfrm>
          <a:prstGeom prst="roundRect">
            <a:avLst>
              <a:gd name="adj" fmla="val 9000"/>
            </a:avLst>
          </a:prstGeom>
          <a:solidFill>
            <a:srgbClr val="1C2B44"/>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3" y="2894076"/>
            <a:ext cx="1810512" cy="182880"/>
          </a:xfrm>
          <a:prstGeom prst="rect">
            <a:avLst/>
          </a:prstGeom>
          <a:noFill/>
        </p:spPr>
        <p:txBody>
          <a:bodyPr wrap="square" lIns="13716" rIns="13716" tIns="0" bIns="0">
            <a:spAutoFit/>
          </a:bodyPr>
          <a:lstStyle/>
          <a:p>
            <a:pPr algn="ctr">
              <a:spcBef>
                <a:spcPts val="0"/>
              </a:spcBef>
              <a:spcAft>
                <a:spcPts val="0"/>
              </a:spcAft>
            </a:pPr>
            <a:r>
              <a:rPr sz="900" b="1">
                <a:solidFill>
                  <a:srgbClr val="69AEFF"/>
                </a:solidFill>
                <a:latin typeface="DejaVu Sans"/>
              </a:rPr>
              <a:t>HEAD 2</a:t>
            </a:r>
          </a:p>
        </p:txBody>
      </p:sp>
      <p:sp>
        <p:nvSpPr>
          <p:cNvPr id="19" name="Rectangle 18"/>
          <p:cNvSpPr/>
          <p:nvPr/>
        </p:nvSpPr>
        <p:spPr>
          <a:xfrm>
            <a:off x="3291840" y="2743200"/>
            <a:ext cx="3657600" cy="484632"/>
          </a:xfrm>
          <a:prstGeom prst="rect">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857500"/>
            <a:ext cx="3291840" cy="201168"/>
          </a:xfrm>
          <a:prstGeom prst="rect">
            <a:avLst/>
          </a:prstGeom>
          <a:noFill/>
        </p:spPr>
        <p:txBody>
          <a:bodyPr wrap="square" lIns="13716" rIns="13716" tIns="0" bIns="0">
            <a:spAutoFit/>
          </a:bodyPr>
          <a:lstStyle/>
          <a:p>
            <a:pPr algn="l">
              <a:spcBef>
                <a:spcPts val="0"/>
              </a:spcBef>
              <a:spcAft>
                <a:spcPts val="0"/>
              </a:spcAft>
            </a:pPr>
            <a:r>
              <a:rPr sz="1200" b="0">
                <a:solidFill>
                  <a:srgbClr val="69AEFF"/>
                </a:solidFill>
                <a:latin typeface="DejaVu Sans"/>
              </a:rPr>
              <a:t>Independent weighted read</a:t>
            </a:r>
          </a:p>
        </p:txBody>
      </p:sp>
      <p:cxnSp>
        <p:nvCxnSpPr>
          <p:cNvPr id="21" name="Connector 20"/>
          <p:cNvCxnSpPr/>
          <p:nvPr/>
        </p:nvCxnSpPr>
        <p:spPr>
          <a:xfrm>
            <a:off x="2743200" y="2980944"/>
            <a:ext cx="448056" cy="0"/>
          </a:xfrm>
          <a:prstGeom prst="line">
            <a:avLst/>
          </a:prstGeom>
          <a:ln w="22860">
            <a:solidFill>
              <a:srgbClr val="69AEF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3639312"/>
            <a:ext cx="1920240" cy="310896"/>
          </a:xfrm>
          <a:prstGeom prst="roundRect">
            <a:avLst>
              <a:gd name="adj" fmla="val 9000"/>
            </a:avLst>
          </a:prstGeom>
          <a:solidFill>
            <a:srgbClr val="1C2B44"/>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3" y="3698748"/>
            <a:ext cx="1810512" cy="182880"/>
          </a:xfrm>
          <a:prstGeom prst="rect">
            <a:avLst/>
          </a:prstGeom>
          <a:noFill/>
        </p:spPr>
        <p:txBody>
          <a:bodyPr wrap="square" lIns="13716" rIns="13716" tIns="0" bIns="0">
            <a:spAutoFit/>
          </a:bodyPr>
          <a:lstStyle/>
          <a:p>
            <a:pPr algn="ctr">
              <a:spcBef>
                <a:spcPts val="0"/>
              </a:spcBef>
              <a:spcAft>
                <a:spcPts val="0"/>
              </a:spcAft>
            </a:pPr>
            <a:r>
              <a:rPr sz="900" b="1">
                <a:solidFill>
                  <a:srgbClr val="B799FF"/>
                </a:solidFill>
                <a:latin typeface="DejaVu Sans"/>
              </a:rPr>
              <a:t>HEAD 3</a:t>
            </a:r>
          </a:p>
        </p:txBody>
      </p:sp>
      <p:sp>
        <p:nvSpPr>
          <p:cNvPr id="24" name="Rectangle 23"/>
          <p:cNvSpPr/>
          <p:nvPr/>
        </p:nvSpPr>
        <p:spPr>
          <a:xfrm>
            <a:off x="3291840" y="3547872"/>
            <a:ext cx="3657600" cy="484632"/>
          </a:xfrm>
          <a:prstGeom prst="rect">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3662172"/>
            <a:ext cx="3291840" cy="201168"/>
          </a:xfrm>
          <a:prstGeom prst="rect">
            <a:avLst/>
          </a:prstGeom>
          <a:noFill/>
        </p:spPr>
        <p:txBody>
          <a:bodyPr wrap="square" lIns="13716" rIns="13716" tIns="0" bIns="0">
            <a:spAutoFit/>
          </a:bodyPr>
          <a:lstStyle/>
          <a:p>
            <a:pPr algn="l">
              <a:spcBef>
                <a:spcPts val="0"/>
              </a:spcBef>
              <a:spcAft>
                <a:spcPts val="0"/>
              </a:spcAft>
            </a:pPr>
            <a:r>
              <a:rPr sz="1200" b="0">
                <a:solidFill>
                  <a:srgbClr val="B799FF"/>
                </a:solidFill>
                <a:latin typeface="DejaVu Sans"/>
              </a:rPr>
              <a:t>Independent weighted read</a:t>
            </a:r>
          </a:p>
        </p:txBody>
      </p:sp>
      <p:cxnSp>
        <p:nvCxnSpPr>
          <p:cNvPr id="26" name="Connector 25"/>
          <p:cNvCxnSpPr/>
          <p:nvPr/>
        </p:nvCxnSpPr>
        <p:spPr>
          <a:xfrm>
            <a:off x="2743200" y="3785616"/>
            <a:ext cx="448056" cy="0"/>
          </a:xfrm>
          <a:prstGeom prst="line">
            <a:avLst/>
          </a:prstGeom>
          <a:ln w="22860">
            <a:solidFill>
              <a:srgbClr val="B799FF"/>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77240" y="4443984"/>
            <a:ext cx="1920240" cy="310896"/>
          </a:xfrm>
          <a:prstGeom prst="roundRect">
            <a:avLst>
              <a:gd name="adj" fmla="val 9000"/>
            </a:avLst>
          </a:prstGeom>
          <a:solidFill>
            <a:srgbClr val="1C2B44"/>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4503420"/>
            <a:ext cx="1810512" cy="182880"/>
          </a:xfrm>
          <a:prstGeom prst="rect">
            <a:avLst/>
          </a:prstGeom>
          <a:noFill/>
        </p:spPr>
        <p:txBody>
          <a:bodyPr wrap="square" lIns="13716" rIns="13716" tIns="0" bIns="0">
            <a:spAutoFit/>
          </a:bodyPr>
          <a:lstStyle/>
          <a:p>
            <a:pPr algn="ctr">
              <a:spcBef>
                <a:spcPts val="0"/>
              </a:spcBef>
              <a:spcAft>
                <a:spcPts val="0"/>
              </a:spcAft>
            </a:pPr>
            <a:r>
              <a:rPr sz="900" b="1">
                <a:solidFill>
                  <a:srgbClr val="F4BF61"/>
                </a:solidFill>
                <a:latin typeface="DejaVu Sans"/>
              </a:rPr>
              <a:t>HEAD 4</a:t>
            </a:r>
          </a:p>
        </p:txBody>
      </p:sp>
      <p:sp>
        <p:nvSpPr>
          <p:cNvPr id="29" name="Rectangle 28"/>
          <p:cNvSpPr/>
          <p:nvPr/>
        </p:nvSpPr>
        <p:spPr>
          <a:xfrm>
            <a:off x="3291840" y="4352544"/>
            <a:ext cx="3657600" cy="484632"/>
          </a:xfrm>
          <a:prstGeom prst="rect">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0" y="4466844"/>
            <a:ext cx="3291840" cy="201168"/>
          </a:xfrm>
          <a:prstGeom prst="rect">
            <a:avLst/>
          </a:prstGeom>
          <a:noFill/>
        </p:spPr>
        <p:txBody>
          <a:bodyPr wrap="square" lIns="13716" rIns="13716" tIns="0" bIns="0">
            <a:spAutoFit/>
          </a:bodyPr>
          <a:lstStyle/>
          <a:p>
            <a:pPr algn="l">
              <a:spcBef>
                <a:spcPts val="0"/>
              </a:spcBef>
              <a:spcAft>
                <a:spcPts val="0"/>
              </a:spcAft>
            </a:pPr>
            <a:r>
              <a:rPr sz="1200" b="0">
                <a:solidFill>
                  <a:srgbClr val="F4BF61"/>
                </a:solidFill>
                <a:latin typeface="DejaVu Sans"/>
              </a:rPr>
              <a:t>Independent weighted read</a:t>
            </a:r>
          </a:p>
        </p:txBody>
      </p:sp>
      <p:cxnSp>
        <p:nvCxnSpPr>
          <p:cNvPr id="31" name="Connector 30"/>
          <p:cNvCxnSpPr/>
          <p:nvPr/>
        </p:nvCxnSpPr>
        <p:spPr>
          <a:xfrm>
            <a:off x="2743200" y="4590288"/>
            <a:ext cx="448056" cy="0"/>
          </a:xfrm>
          <a:prstGeom prst="line">
            <a:avLst/>
          </a:prstGeom>
          <a:ln w="22860">
            <a:solidFill>
              <a:srgbClr val="F4BF61"/>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75320" y="2286000"/>
            <a:ext cx="3017520" cy="246888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30768" y="2468880"/>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86216" y="2468880"/>
            <a:ext cx="2560320"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W_O</a:t>
            </a:r>
          </a:p>
        </p:txBody>
      </p:sp>
      <p:sp>
        <p:nvSpPr>
          <p:cNvPr id="35" name="TextBox 34"/>
          <p:cNvSpPr txBox="1"/>
          <p:nvPr/>
        </p:nvSpPr>
        <p:spPr>
          <a:xfrm>
            <a:off x="8494776" y="3200400"/>
            <a:ext cx="2596896" cy="1444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Mix head outputs into hidden features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par>
                                <p:cTn id="34" presetID="10"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par>
                                <p:cTn id="51" presetID="10" presetClass="entr" presetSubtype="0"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click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00"/>
                                        <p:tgtEl>
                                          <p:spTgt spid="32"/>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400"/>
                                        <p:tgtEl>
                                          <p:spTgt spid="33"/>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Residuals, normalization and MLPs complete the block</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Attention is one part of a model layer.</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12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RMSNorm(x) = g ⊙ x / √(mean(x²) + ε)</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Normalize</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Control activation magnitude</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Attention</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Mix information across tokens</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Residual path</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Preserve and combine earlier features</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MLP / MoE</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Transform features within each token</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500" b="1">
                <a:solidFill>
                  <a:srgbClr val="F2F6FC"/>
                </a:solidFill>
                <a:latin typeface="DejaVu Sans"/>
              </a:rPr>
              <a:t>Position information: separate the general idea from K3</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RoPE is common in attention; this checkpoint's MLA uses NoPE.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General RoPE</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Rotate query/key feature pairs according to position.</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Kimi-K3 MLA</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mla_use_nope = true; inspected wrapper passes rotary_emb=None.</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Naming trap</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 64-column “RoPE” field still exists in the MLA layout.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Prefill and decode are different execution regimes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Prefill processes known tokens; decode produces the next token.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Prefill</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Many query rows; large matrix products; new-token causal attention.</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Decode</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Few query rows per request; read cached history; repeat every output step.</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Mixed serving</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New prompt chunks can share a scheduler step with decoding requests.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KV cache avoids recomputing the past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Cache persistent context; compute the new query for the current step.</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15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Standard KV bytes ≈ 2 × layers × tokens × KV_heads × head_dim × bytes/value</a:t>
            </a:r>
          </a:p>
        </p:txBody>
      </p:sp>
      <p:sp>
        <p:nvSpPr>
          <p:cNvPr id="12" name="TextBox 11"/>
          <p:cNvSpPr txBox="1"/>
          <p:nvPr/>
        </p:nvSpPr>
        <p:spPr>
          <a:xfrm>
            <a:off x="685800" y="2002536"/>
            <a:ext cx="3657600" cy="30175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Persistent history</a:t>
            </a:r>
          </a:p>
        </p:txBody>
      </p:sp>
      <p:sp>
        <p:nvSpPr>
          <p:cNvPr id="13" name="Rectangle 12"/>
          <p:cNvSpPr/>
          <p:nvPr/>
        </p:nvSpPr>
        <p:spPr>
          <a:xfrm>
            <a:off x="713232"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a:t>
            </a:r>
          </a:p>
        </p:txBody>
      </p:sp>
      <p:sp>
        <p:nvSpPr>
          <p:cNvPr id="15" name="Rectangle 14"/>
          <p:cNvSpPr/>
          <p:nvPr/>
        </p:nvSpPr>
        <p:spPr>
          <a:xfrm>
            <a:off x="1271016"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5880"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2</a:t>
            </a:r>
          </a:p>
        </p:txBody>
      </p:sp>
      <p:sp>
        <p:nvSpPr>
          <p:cNvPr id="17" name="Rectangle 16"/>
          <p:cNvSpPr/>
          <p:nvPr/>
        </p:nvSpPr>
        <p:spPr>
          <a:xfrm>
            <a:off x="1828800"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83664"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3</a:t>
            </a:r>
          </a:p>
        </p:txBody>
      </p:sp>
      <p:sp>
        <p:nvSpPr>
          <p:cNvPr id="19" name="Rectangle 18"/>
          <p:cNvSpPr/>
          <p:nvPr/>
        </p:nvSpPr>
        <p:spPr>
          <a:xfrm>
            <a:off x="2386584"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1448"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4</a:t>
            </a:r>
          </a:p>
        </p:txBody>
      </p:sp>
      <p:sp>
        <p:nvSpPr>
          <p:cNvPr id="21" name="Rectangle 20"/>
          <p:cNvSpPr/>
          <p:nvPr/>
        </p:nvSpPr>
        <p:spPr>
          <a:xfrm>
            <a:off x="2944368"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99232"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5</a:t>
            </a:r>
          </a:p>
        </p:txBody>
      </p:sp>
      <p:sp>
        <p:nvSpPr>
          <p:cNvPr id="23" name="Rectangle 22"/>
          <p:cNvSpPr/>
          <p:nvPr/>
        </p:nvSpPr>
        <p:spPr>
          <a:xfrm>
            <a:off x="3502152"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57015"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6</a:t>
            </a:r>
          </a:p>
        </p:txBody>
      </p:sp>
      <p:sp>
        <p:nvSpPr>
          <p:cNvPr id="25" name="Rectangle 24"/>
          <p:cNvSpPr/>
          <p:nvPr/>
        </p:nvSpPr>
        <p:spPr>
          <a:xfrm>
            <a:off x="4059936"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0"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7</a:t>
            </a:r>
          </a:p>
        </p:txBody>
      </p:sp>
      <p:sp>
        <p:nvSpPr>
          <p:cNvPr id="27" name="Rectangle 26"/>
          <p:cNvSpPr/>
          <p:nvPr/>
        </p:nvSpPr>
        <p:spPr>
          <a:xfrm>
            <a:off x="4617720"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72583"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8</a:t>
            </a:r>
          </a:p>
        </p:txBody>
      </p:sp>
      <p:sp>
        <p:nvSpPr>
          <p:cNvPr id="29" name="Rectangle 28"/>
          <p:cNvSpPr/>
          <p:nvPr/>
        </p:nvSpPr>
        <p:spPr>
          <a:xfrm>
            <a:off x="5175504"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30368"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9</a:t>
            </a:r>
          </a:p>
        </p:txBody>
      </p:sp>
      <p:sp>
        <p:nvSpPr>
          <p:cNvPr id="31" name="Rectangle 30"/>
          <p:cNvSpPr/>
          <p:nvPr/>
        </p:nvSpPr>
        <p:spPr>
          <a:xfrm>
            <a:off x="5733288"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88152"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10</a:t>
            </a:r>
          </a:p>
        </p:txBody>
      </p:sp>
      <p:sp>
        <p:nvSpPr>
          <p:cNvPr id="33" name="TextBox 32"/>
          <p:cNvSpPr txBox="1"/>
          <p:nvPr/>
        </p:nvSpPr>
        <p:spPr>
          <a:xfrm>
            <a:off x="685800" y="3127248"/>
            <a:ext cx="3657600" cy="30175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New token rows</a:t>
            </a:r>
          </a:p>
        </p:txBody>
      </p:sp>
      <p:sp>
        <p:nvSpPr>
          <p:cNvPr id="34" name="Rectangle 33"/>
          <p:cNvSpPr/>
          <p:nvPr/>
        </p:nvSpPr>
        <p:spPr>
          <a:xfrm>
            <a:off x="713232"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a:t>
            </a:r>
          </a:p>
        </p:txBody>
      </p:sp>
      <p:sp>
        <p:nvSpPr>
          <p:cNvPr id="36" name="Rectangle 35"/>
          <p:cNvSpPr/>
          <p:nvPr/>
        </p:nvSpPr>
        <p:spPr>
          <a:xfrm>
            <a:off x="1271016"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25880"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2</a:t>
            </a:r>
          </a:p>
        </p:txBody>
      </p:sp>
      <p:sp>
        <p:nvSpPr>
          <p:cNvPr id="38" name="Rectangle 37"/>
          <p:cNvSpPr/>
          <p:nvPr/>
        </p:nvSpPr>
        <p:spPr>
          <a:xfrm>
            <a:off x="1828800"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83664"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3</a:t>
            </a:r>
          </a:p>
        </p:txBody>
      </p:sp>
      <p:sp>
        <p:nvSpPr>
          <p:cNvPr id="40" name="Rounded Rectangle 39"/>
          <p:cNvSpPr/>
          <p:nvPr/>
        </p:nvSpPr>
        <p:spPr>
          <a:xfrm>
            <a:off x="7360920" y="2212848"/>
            <a:ext cx="3840480" cy="2734056"/>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16368" y="239572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71816" y="2395728"/>
            <a:ext cx="33832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Reuse + append</a:t>
            </a:r>
          </a:p>
        </p:txBody>
      </p:sp>
      <p:sp>
        <p:nvSpPr>
          <p:cNvPr id="43" name="TextBox 42"/>
          <p:cNvSpPr txBox="1"/>
          <p:nvPr/>
        </p:nvSpPr>
        <p:spPr>
          <a:xfrm>
            <a:off x="7580376" y="3127248"/>
            <a:ext cx="3419856" cy="1709928"/>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Keep the history consistent with the current request.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00"/>
                                        <p:tgtEl>
                                          <p:spTgt spid="23"/>
                                        </p:tgtEl>
                                      </p:cBhvr>
                                    </p:animEffect>
                                  </p:childTnLst>
                                </p:cTn>
                              </p:par>
                              <p:par>
                                <p:cTn id="38" presetID="10"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00"/>
                                        <p:tgtEl>
                                          <p:spTgt spid="24"/>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00"/>
                                        <p:tgtEl>
                                          <p:spTgt spid="25"/>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400"/>
                                        <p:tgtEl>
                                          <p:spTgt spid="26"/>
                                        </p:tgtEl>
                                      </p:cBhvr>
                                    </p:animEffect>
                                  </p:childTnLst>
                                </p:cTn>
                              </p:par>
                              <p:par>
                                <p:cTn id="47" presetID="10"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400"/>
                                        <p:tgtEl>
                                          <p:spTgt spid="27"/>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00"/>
                                        <p:tgtEl>
                                          <p:spTgt spid="28"/>
                                        </p:tgtEl>
                                      </p:cBhvr>
                                    </p:animEffect>
                                  </p:childTnLst>
                                </p:cTn>
                              </p:par>
                              <p:par>
                                <p:cTn id="53" presetID="10"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00"/>
                                        <p:tgtEl>
                                          <p:spTgt spid="29"/>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00"/>
                                        <p:tgtEl>
                                          <p:spTgt spid="30"/>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00"/>
                                        <p:tgtEl>
                                          <p:spTgt spid="31"/>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00"/>
                                        <p:tgtEl>
                                          <p:spTgt spid="3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400"/>
                                        <p:tgtEl>
                                          <p:spTgt spid="38"/>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400"/>
                                        <p:tgtEl>
                                          <p:spTgt spid="3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400"/>
                                        <p:tgtEl>
                                          <p:spTgt spid="40"/>
                                        </p:tgtEl>
                                      </p:cBhvr>
                                    </p:animEffect>
                                  </p:childTnLst>
                                </p:cTn>
                              </p:par>
                              <p:par>
                                <p:cTn id="90" presetID="10" presetClass="entr" presetSubtype="0" fill="hold" grpId="0" nodeType="click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400"/>
                                        <p:tgtEl>
                                          <p:spTgt spid="41"/>
                                        </p:tgtEl>
                                      </p:cBhvr>
                                    </p:animEffect>
                                  </p:childTnLst>
                                </p:cTn>
                              </p:par>
                              <p:par>
                                <p:cTn id="93" presetID="10" presetClass="entr" presetSubtype="0" fill="hold" grpId="0" nodeType="clickEffect">
                                  <p:stCondLst>
                                    <p:cond delay="0"/>
                                  </p:stCondLst>
                                  <p:childTnLst>
                                    <p:set>
                                      <p:cBhvr>
                                        <p:cTn id="94" dur="1" fill="hold">
                                          <p:stCondLst>
                                            <p:cond delay="0"/>
                                          </p:stCondLst>
                                        </p:cTn>
                                        <p:tgtEl>
                                          <p:spTgt spid="42"/>
                                        </p:tgtEl>
                                        <p:attrNameLst>
                                          <p:attrName>style.visibility</p:attrName>
                                        </p:attrNameLst>
                                      </p:cBhvr>
                                      <p:to>
                                        <p:strVal val="visible"/>
                                      </p:to>
                                    </p:set>
                                    <p:animEffect transition="in" filter="fade">
                                      <p:cBhvr>
                                        <p:cTn id="95" dur="400"/>
                                        <p:tgtEl>
                                          <p:spTgt spid="42"/>
                                        </p:tgtEl>
                                      </p:cBhvr>
                                    </p:animEffect>
                                  </p:childTnLst>
                                </p:cTn>
                              </p:par>
                              <p:par>
                                <p:cTn id="96" presetID="10" presetClass="entr" presetSubtype="0" fill="hold" grpId="0" nodeType="clickEffect">
                                  <p:stCondLst>
                                    <p:cond delay="0"/>
                                  </p:stCondLst>
                                  <p:childTnLst>
                                    <p:set>
                                      <p:cBhvr>
                                        <p:cTn id="97" dur="1" fill="hold">
                                          <p:stCondLst>
                                            <p:cond delay="0"/>
                                          </p:stCondLst>
                                        </p:cTn>
                                        <p:tgtEl>
                                          <p:spTgt spid="43"/>
                                        </p:tgtEl>
                                        <p:attrNameLst>
                                          <p:attrName>style.visibility</p:attrName>
                                        </p:attrNameLst>
                                      </p:cBhvr>
                                      <p:to>
                                        <p:strVal val="visible"/>
                                      </p:to>
                                    </p:set>
                                    <p:animEffect transition="in" filter="fade">
                                      <p:cBhvr>
                                        <p:cTn id="98"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ATTENTION FUNDAMENTALS</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Why attention becomes expensive at long context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Every query can compare against many keys.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16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Attention FLOPs ≈ 2TqTk(d_k + d_v) per head</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Full prefill</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Attention pair count grows roughly with T²</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One-token decode</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Attention pair count grows roughly with cached T</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Naive intermediates</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Scores and probabilities can dominate temporary memory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FUSED ATTENTION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FlashAttention changes data movement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Tile the computation and keep temporary scores close to the compute units.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ectangle 10"/>
          <p:cNvSpPr/>
          <p:nvPr/>
        </p:nvSpPr>
        <p:spPr>
          <a:xfrm>
            <a:off x="777240" y="2468880"/>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53895"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30552"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7208"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80944"/>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53895"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30552"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07208"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493008"/>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53895"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130552"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07208"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05072"/>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53895"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30552"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807208"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773168"/>
            <a:ext cx="3200400" cy="411480"/>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Load tile</a:t>
            </a:r>
          </a:p>
        </p:txBody>
      </p:sp>
      <p:sp>
        <p:nvSpPr>
          <p:cNvPr id="28" name="Rectangle 27"/>
          <p:cNvSpPr/>
          <p:nvPr/>
        </p:nvSpPr>
        <p:spPr>
          <a:xfrm>
            <a:off x="4544568"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21224" y="2468880"/>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97879"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74536"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44568"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21224" y="2980944"/>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97879"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74536"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44568"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221224" y="3493008"/>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97879"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74536"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44568"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221224" y="4005072"/>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97879"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74536"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0" y="4773168"/>
            <a:ext cx="3200400" cy="411480"/>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Update m, l, a</a:t>
            </a:r>
          </a:p>
        </p:txBody>
      </p:sp>
      <p:sp>
        <p:nvSpPr>
          <p:cNvPr id="45" name="Rectangle 44"/>
          <p:cNvSpPr/>
          <p:nvPr/>
        </p:nvSpPr>
        <p:spPr>
          <a:xfrm>
            <a:off x="8311896"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988552"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665208" y="2468880"/>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341863" y="2468880"/>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11896"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988552"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665208" y="2980944"/>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341863" y="2980944"/>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311896"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88552"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65208" y="3493008"/>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341863" y="3493008"/>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311896"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988552"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665208" y="4005072"/>
            <a:ext cx="594360" cy="420624"/>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341863" y="4005072"/>
            <a:ext cx="594360" cy="420624"/>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39328" y="4773168"/>
            <a:ext cx="3200400" cy="411480"/>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Continue streaming</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00"/>
                                        <p:tgtEl>
                                          <p:spTgt spid="19"/>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00"/>
                                        <p:tgtEl>
                                          <p:spTgt spid="20"/>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par>
                                <p:cTn id="38" presetID="10"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00"/>
                                        <p:tgtEl>
                                          <p:spTgt spid="22"/>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00"/>
                                        <p:tgtEl>
                                          <p:spTgt spid="28"/>
                                        </p:tgtEl>
                                      </p:cBhvr>
                                    </p:animEffect>
                                  </p:childTnLst>
                                </p:cTn>
                              </p:par>
                              <p:par>
                                <p:cTn id="61" presetID="10"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400"/>
                                        <p:tgtEl>
                                          <p:spTgt spid="29"/>
                                        </p:tgtEl>
                                      </p:cBhvr>
                                    </p:animEffect>
                                  </p:childTnLst>
                                </p:cTn>
                              </p:par>
                              <p:par>
                                <p:cTn id="64" presetID="10" presetClass="entr" presetSubtype="0" fill="hold" grpId="0" nodeType="click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00"/>
                                        <p:tgtEl>
                                          <p:spTgt spid="30"/>
                                        </p:tgtEl>
                                      </p:cBhvr>
                                    </p:animEffect>
                                  </p:childTnLst>
                                </p:cTn>
                              </p:par>
                              <p:par>
                                <p:cTn id="67" presetID="10" presetClass="entr" presetSubtype="0"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00"/>
                                        <p:tgtEl>
                                          <p:spTgt spid="31"/>
                                        </p:tgtEl>
                                      </p:cBhvr>
                                    </p:animEffect>
                                  </p:childTnLst>
                                </p:cTn>
                              </p:par>
                              <p:par>
                                <p:cTn id="70" presetID="10" presetClass="entr" presetSubtype="0"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400"/>
                                        <p:tgtEl>
                                          <p:spTgt spid="32"/>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400"/>
                                        <p:tgtEl>
                                          <p:spTgt spid="33"/>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400"/>
                                        <p:tgtEl>
                                          <p:spTgt spid="34"/>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grpId="0" nodeType="click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click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grpId="0" nodeType="click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click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click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grpId="0" nodeType="click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grpId="0" nodeType="click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45"/>
                                        </p:tgtEl>
                                        <p:attrNameLst>
                                          <p:attrName>style.visibility</p:attrName>
                                        </p:attrNameLst>
                                      </p:cBhvr>
                                      <p:to>
                                        <p:strVal val="visible"/>
                                      </p:to>
                                    </p:set>
                                    <p:animEffect transition="in" filter="fade">
                                      <p:cBhvr>
                                        <p:cTn id="113" dur="400"/>
                                        <p:tgtEl>
                                          <p:spTgt spid="45"/>
                                        </p:tgtEl>
                                      </p:cBhvr>
                                    </p:animEffect>
                                  </p:childTnLst>
                                </p:cTn>
                              </p:par>
                              <p:par>
                                <p:cTn id="114" presetID="10" presetClass="entr" presetSubtype="0" fill="hold" grpId="0" nodeType="click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fade">
                                      <p:cBhvr>
                                        <p:cTn id="116" dur="400"/>
                                        <p:tgtEl>
                                          <p:spTgt spid="46"/>
                                        </p:tgtEl>
                                      </p:cBhvr>
                                    </p:animEffect>
                                  </p:childTnLst>
                                </p:cTn>
                              </p:par>
                              <p:par>
                                <p:cTn id="117" presetID="10" presetClass="entr" presetSubtype="0" fill="hold" grpId="0"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click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grpId="0" nodeType="click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click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grpId="0" nodeType="click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click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grpId="0" nodeType="click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click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grpId="0" nodeType="click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click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grpId="0" nodeType="click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click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par>
                                <p:cTn id="153" presetID="10" presetClass="entr" presetSubtype="0" fill="hold" grpId="0" nodeType="clickEffect">
                                  <p:stCondLst>
                                    <p:cond delay="0"/>
                                  </p:stCondLst>
                                  <p:childTnLst>
                                    <p:set>
                                      <p:cBhvr>
                                        <p:cTn id="154" dur="1" fill="hold">
                                          <p:stCondLst>
                                            <p:cond delay="0"/>
                                          </p:stCondLst>
                                        </p:cTn>
                                        <p:tgtEl>
                                          <p:spTgt spid="59"/>
                                        </p:tgtEl>
                                        <p:attrNameLst>
                                          <p:attrName>style.visibility</p:attrName>
                                        </p:attrNameLst>
                                      </p:cBhvr>
                                      <p:to>
                                        <p:strVal val="visible"/>
                                      </p:to>
                                    </p:set>
                                    <p:animEffect transition="in" filter="fade">
                                      <p:cBhvr>
                                        <p:cTn id="155" dur="400"/>
                                        <p:tgtEl>
                                          <p:spTgt spid="59"/>
                                        </p:tgtEl>
                                      </p:cBhvr>
                                    </p:animEffect>
                                  </p:childTnLst>
                                </p:cTn>
                              </p:par>
                              <p:par>
                                <p:cTn id="156" presetID="10" presetClass="entr" presetSubtype="0" fill="hold" grpId="0" nodeType="clickEffect">
                                  <p:stCondLst>
                                    <p:cond delay="0"/>
                                  </p:stCondLst>
                                  <p:childTnLst>
                                    <p:set>
                                      <p:cBhvr>
                                        <p:cTn id="157" dur="1" fill="hold">
                                          <p:stCondLst>
                                            <p:cond delay="0"/>
                                          </p:stCondLst>
                                        </p:cTn>
                                        <p:tgtEl>
                                          <p:spTgt spid="60"/>
                                        </p:tgtEl>
                                        <p:attrNameLst>
                                          <p:attrName>style.visibility</p:attrName>
                                        </p:attrNameLst>
                                      </p:cBhvr>
                                      <p:to>
                                        <p:strVal val="visible"/>
                                      </p:to>
                                    </p:set>
                                    <p:animEffect transition="in" filter="fade">
                                      <p:cBhvr>
                                        <p:cTn id="158" dur="400"/>
                                        <p:tgtEl>
                                          <p:spTgt spid="60"/>
                                        </p:tgtEl>
                                      </p:cBhvr>
                                    </p:animEffect>
                                  </p:childTnLst>
                                </p:cTn>
                              </p:par>
                              <p:par>
                                <p:cTn id="159" presetID="10" presetClass="entr" presetSubtype="0" fill="hold" grpId="0" nodeType="clickEffect">
                                  <p:stCondLst>
                                    <p:cond delay="0"/>
                                  </p:stCondLst>
                                  <p:childTnLst>
                                    <p:set>
                                      <p:cBhvr>
                                        <p:cTn id="160" dur="1" fill="hold">
                                          <p:stCondLst>
                                            <p:cond delay="0"/>
                                          </p:stCondLst>
                                        </p:cTn>
                                        <p:tgtEl>
                                          <p:spTgt spid="61"/>
                                        </p:tgtEl>
                                        <p:attrNameLst>
                                          <p:attrName>style.visibility</p:attrName>
                                        </p:attrNameLst>
                                      </p:cBhvr>
                                      <p:to>
                                        <p:strVal val="visible"/>
                                      </p:to>
                                    </p:set>
                                    <p:animEffect transition="in" filter="fade">
                                      <p:cBhvr>
                                        <p:cTn id="161"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FUSED ATTENTION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Online softmax carries three pieces of state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running maximum, a normalization sum, and a weighted accumulator.</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m′ = max(m, max(s));  l′ = e^(m−m′)l + Σe^(s−m′)</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m</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Largest score seen so far</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l</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Rescaled sum of exponentials</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a</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Rescaled weighted value sum</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Finish</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 = a/l;  LSE = m + ln(l)</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FUSED ATTENTION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A fused kernel can still lose end to end</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Kernel speed must repay quantization, memory traffic and dispatch costs.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19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Net saving = time removed − time introduced</a:t>
            </a:r>
          </a:p>
        </p:txBody>
      </p:sp>
      <p:sp>
        <p:nvSpPr>
          <p:cNvPr id="12" name="Rounded Rectangle 11"/>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Kernel-only view</a:t>
            </a:r>
          </a:p>
        </p:txBody>
      </p:sp>
      <p:sp>
        <p:nvSpPr>
          <p:cNvPr id="15" name="TextBox 14"/>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Time just the new FMHA call.</a:t>
            </a:r>
          </a:p>
        </p:txBody>
      </p:sp>
      <p:sp>
        <p:nvSpPr>
          <p:cNvPr id="16" name="Rounded Rectangle 15"/>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Execution-path view</a:t>
            </a:r>
          </a:p>
        </p:txBody>
      </p:sp>
      <p:sp>
        <p:nvSpPr>
          <p:cNvPr id="19" name="TextBox 18"/>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Include preparation, quantization, layout changes and launches.</a:t>
            </a:r>
          </a:p>
        </p:txBody>
      </p:sp>
      <p:sp>
        <p:nvSpPr>
          <p:cNvPr id="20" name="Rounded Rectangle 19"/>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Serving view</a:t>
            </a:r>
          </a:p>
        </p:txBody>
      </p:sp>
      <p:sp>
        <p:nvSpPr>
          <p:cNvPr id="23" name="TextBox 22"/>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Include scheduling, communication, cache behavior and errors.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Kimi-K3 is a hybrid model</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Different mechanisms share the work of understanding long context.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KDA</a:t>
            </a:r>
          </a:p>
        </p:txBody>
      </p:sp>
      <p:sp>
        <p:nvSpPr>
          <p:cNvPr id="13" name="TextBox 12"/>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69 layers: recurrent sequence mixing</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Gated MLA</a:t>
            </a:r>
          </a:p>
        </p:txBody>
      </p:sp>
      <p:sp>
        <p:nvSpPr>
          <p:cNvPr id="16" name="TextBox 15"/>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24 layers: compressed-cache attention</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Latent MoE</a:t>
            </a:r>
          </a:p>
        </p:txBody>
      </p:sp>
      <p:sp>
        <p:nvSpPr>
          <p:cNvPr id="19" name="TextBox 18"/>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Sparse expert computation</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Attention Residuals</a:t>
            </a:r>
          </a:p>
        </p:txBody>
      </p:sp>
      <p:sp>
        <p:nvSpPr>
          <p:cNvPr id="22" name="TextBox 21"/>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Learned mixing across model depth</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actual 93-layer pattern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Mostly three KDA layers followed by one MLA layer, then a final MLA.</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21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69 KDA + 24 MLA = 93 sequence-mixing layers</a:t>
            </a:r>
          </a:p>
        </p:txBody>
      </p:sp>
      <p:sp>
        <p:nvSpPr>
          <p:cNvPr id="12" name="Rectangle 11"/>
          <p:cNvSpPr/>
          <p:nvPr/>
        </p:nvSpPr>
        <p:spPr>
          <a:xfrm>
            <a:off x="704088"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a:t>
            </a:r>
          </a:p>
        </p:txBody>
      </p:sp>
      <p:sp>
        <p:nvSpPr>
          <p:cNvPr id="14" name="Rectangle 13"/>
          <p:cNvSpPr/>
          <p:nvPr/>
        </p:nvSpPr>
        <p:spPr>
          <a:xfrm>
            <a:off x="1154887"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8603"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a:t>
            </a:r>
          </a:p>
        </p:txBody>
      </p:sp>
      <p:sp>
        <p:nvSpPr>
          <p:cNvPr id="16" name="Rectangle 15"/>
          <p:cNvSpPr/>
          <p:nvPr/>
        </p:nvSpPr>
        <p:spPr>
          <a:xfrm>
            <a:off x="1605686"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19402"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a:t>
            </a:r>
          </a:p>
        </p:txBody>
      </p:sp>
      <p:sp>
        <p:nvSpPr>
          <p:cNvPr id="18" name="Rectangle 17"/>
          <p:cNvSpPr/>
          <p:nvPr/>
        </p:nvSpPr>
        <p:spPr>
          <a:xfrm>
            <a:off x="2056485"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70201"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a:t>
            </a:r>
          </a:p>
        </p:txBody>
      </p:sp>
      <p:sp>
        <p:nvSpPr>
          <p:cNvPr id="20" name="Rectangle 19"/>
          <p:cNvSpPr/>
          <p:nvPr/>
        </p:nvSpPr>
        <p:spPr>
          <a:xfrm>
            <a:off x="2507284"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21000"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a:t>
            </a:r>
          </a:p>
        </p:txBody>
      </p:sp>
      <p:sp>
        <p:nvSpPr>
          <p:cNvPr id="22" name="Rectangle 21"/>
          <p:cNvSpPr/>
          <p:nvPr/>
        </p:nvSpPr>
        <p:spPr>
          <a:xfrm>
            <a:off x="2958084"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71800"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a:t>
            </a:r>
          </a:p>
        </p:txBody>
      </p:sp>
      <p:sp>
        <p:nvSpPr>
          <p:cNvPr id="24" name="Rectangle 23"/>
          <p:cNvSpPr/>
          <p:nvPr/>
        </p:nvSpPr>
        <p:spPr>
          <a:xfrm>
            <a:off x="3408883"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22599"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a:t>
            </a:r>
          </a:p>
        </p:txBody>
      </p:sp>
      <p:sp>
        <p:nvSpPr>
          <p:cNvPr id="26" name="Rectangle 25"/>
          <p:cNvSpPr/>
          <p:nvPr/>
        </p:nvSpPr>
        <p:spPr>
          <a:xfrm>
            <a:off x="3859682"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73398"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a:t>
            </a:r>
          </a:p>
        </p:txBody>
      </p:sp>
      <p:sp>
        <p:nvSpPr>
          <p:cNvPr id="28" name="Rectangle 27"/>
          <p:cNvSpPr/>
          <p:nvPr/>
        </p:nvSpPr>
        <p:spPr>
          <a:xfrm>
            <a:off x="4310481"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24197"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a:t>
            </a:r>
          </a:p>
        </p:txBody>
      </p:sp>
      <p:sp>
        <p:nvSpPr>
          <p:cNvPr id="30" name="Rectangle 29"/>
          <p:cNvSpPr/>
          <p:nvPr/>
        </p:nvSpPr>
        <p:spPr>
          <a:xfrm>
            <a:off x="4761280"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74996"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10</a:t>
            </a:r>
          </a:p>
        </p:txBody>
      </p:sp>
      <p:sp>
        <p:nvSpPr>
          <p:cNvPr id="32" name="Rectangle 31"/>
          <p:cNvSpPr/>
          <p:nvPr/>
        </p:nvSpPr>
        <p:spPr>
          <a:xfrm>
            <a:off x="5212079"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25795"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11</a:t>
            </a:r>
          </a:p>
        </p:txBody>
      </p:sp>
      <p:sp>
        <p:nvSpPr>
          <p:cNvPr id="34" name="Rectangle 33"/>
          <p:cNvSpPr/>
          <p:nvPr/>
        </p:nvSpPr>
        <p:spPr>
          <a:xfrm>
            <a:off x="5662879"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6595"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12</a:t>
            </a:r>
          </a:p>
        </p:txBody>
      </p:sp>
      <p:sp>
        <p:nvSpPr>
          <p:cNvPr id="36" name="Rectangle 35"/>
          <p:cNvSpPr/>
          <p:nvPr/>
        </p:nvSpPr>
        <p:spPr>
          <a:xfrm>
            <a:off x="6113678"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7394"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13</a:t>
            </a:r>
          </a:p>
        </p:txBody>
      </p:sp>
      <p:sp>
        <p:nvSpPr>
          <p:cNvPr id="38" name="Rectangle 37"/>
          <p:cNvSpPr/>
          <p:nvPr/>
        </p:nvSpPr>
        <p:spPr>
          <a:xfrm>
            <a:off x="6564477"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78193"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14</a:t>
            </a:r>
          </a:p>
        </p:txBody>
      </p:sp>
      <p:sp>
        <p:nvSpPr>
          <p:cNvPr id="40" name="Rectangle 39"/>
          <p:cNvSpPr/>
          <p:nvPr/>
        </p:nvSpPr>
        <p:spPr>
          <a:xfrm>
            <a:off x="7015276"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28992"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15</a:t>
            </a:r>
          </a:p>
        </p:txBody>
      </p:sp>
      <p:sp>
        <p:nvSpPr>
          <p:cNvPr id="42" name="Rectangle 41"/>
          <p:cNvSpPr/>
          <p:nvPr/>
        </p:nvSpPr>
        <p:spPr>
          <a:xfrm>
            <a:off x="7466075"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79792"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16</a:t>
            </a:r>
          </a:p>
        </p:txBody>
      </p:sp>
      <p:sp>
        <p:nvSpPr>
          <p:cNvPr id="44" name="Rectangle 43"/>
          <p:cNvSpPr/>
          <p:nvPr/>
        </p:nvSpPr>
        <p:spPr>
          <a:xfrm>
            <a:off x="7916875"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30591"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17</a:t>
            </a:r>
          </a:p>
        </p:txBody>
      </p:sp>
      <p:sp>
        <p:nvSpPr>
          <p:cNvPr id="46" name="Rectangle 45"/>
          <p:cNvSpPr/>
          <p:nvPr/>
        </p:nvSpPr>
        <p:spPr>
          <a:xfrm>
            <a:off x="8367674"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81390"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18</a:t>
            </a:r>
          </a:p>
        </p:txBody>
      </p:sp>
      <p:sp>
        <p:nvSpPr>
          <p:cNvPr id="48" name="Rectangle 47"/>
          <p:cNvSpPr/>
          <p:nvPr/>
        </p:nvSpPr>
        <p:spPr>
          <a:xfrm>
            <a:off x="8818473"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32189"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19</a:t>
            </a:r>
          </a:p>
        </p:txBody>
      </p:sp>
      <p:sp>
        <p:nvSpPr>
          <p:cNvPr id="50" name="Rectangle 49"/>
          <p:cNvSpPr/>
          <p:nvPr/>
        </p:nvSpPr>
        <p:spPr>
          <a:xfrm>
            <a:off x="9269272"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82988"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20</a:t>
            </a:r>
          </a:p>
        </p:txBody>
      </p:sp>
      <p:sp>
        <p:nvSpPr>
          <p:cNvPr id="52" name="Rectangle 51"/>
          <p:cNvSpPr/>
          <p:nvPr/>
        </p:nvSpPr>
        <p:spPr>
          <a:xfrm>
            <a:off x="9720072"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3788"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21</a:t>
            </a:r>
          </a:p>
        </p:txBody>
      </p:sp>
      <p:sp>
        <p:nvSpPr>
          <p:cNvPr id="54" name="Rectangle 53"/>
          <p:cNvSpPr/>
          <p:nvPr/>
        </p:nvSpPr>
        <p:spPr>
          <a:xfrm>
            <a:off x="10170871"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184587"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22</a:t>
            </a:r>
          </a:p>
        </p:txBody>
      </p:sp>
      <p:sp>
        <p:nvSpPr>
          <p:cNvPr id="56" name="Rectangle 55"/>
          <p:cNvSpPr/>
          <p:nvPr/>
        </p:nvSpPr>
        <p:spPr>
          <a:xfrm>
            <a:off x="10621670" y="237744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635386"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23</a:t>
            </a:r>
          </a:p>
        </p:txBody>
      </p:sp>
      <p:sp>
        <p:nvSpPr>
          <p:cNvPr id="58" name="Rectangle 57"/>
          <p:cNvSpPr/>
          <p:nvPr/>
        </p:nvSpPr>
        <p:spPr>
          <a:xfrm>
            <a:off x="11072469" y="237744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086185" y="250088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24</a:t>
            </a:r>
          </a:p>
        </p:txBody>
      </p:sp>
      <p:sp>
        <p:nvSpPr>
          <p:cNvPr id="60" name="Rectangle 59"/>
          <p:cNvSpPr/>
          <p:nvPr/>
        </p:nvSpPr>
        <p:spPr>
          <a:xfrm>
            <a:off x="704088"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7804"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25</a:t>
            </a:r>
          </a:p>
        </p:txBody>
      </p:sp>
      <p:sp>
        <p:nvSpPr>
          <p:cNvPr id="62" name="Rectangle 61"/>
          <p:cNvSpPr/>
          <p:nvPr/>
        </p:nvSpPr>
        <p:spPr>
          <a:xfrm>
            <a:off x="1154887"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68603"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26</a:t>
            </a:r>
          </a:p>
        </p:txBody>
      </p:sp>
      <p:sp>
        <p:nvSpPr>
          <p:cNvPr id="64" name="Rectangle 63"/>
          <p:cNvSpPr/>
          <p:nvPr/>
        </p:nvSpPr>
        <p:spPr>
          <a:xfrm>
            <a:off x="1605686"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619402"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27</a:t>
            </a:r>
          </a:p>
        </p:txBody>
      </p:sp>
      <p:sp>
        <p:nvSpPr>
          <p:cNvPr id="66" name="Rectangle 65"/>
          <p:cNvSpPr/>
          <p:nvPr/>
        </p:nvSpPr>
        <p:spPr>
          <a:xfrm>
            <a:off x="2056485"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070201"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28</a:t>
            </a:r>
          </a:p>
        </p:txBody>
      </p:sp>
      <p:sp>
        <p:nvSpPr>
          <p:cNvPr id="68" name="Rectangle 67"/>
          <p:cNvSpPr/>
          <p:nvPr/>
        </p:nvSpPr>
        <p:spPr>
          <a:xfrm>
            <a:off x="2507284"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521000"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29</a:t>
            </a:r>
          </a:p>
        </p:txBody>
      </p:sp>
      <p:sp>
        <p:nvSpPr>
          <p:cNvPr id="70" name="Rectangle 69"/>
          <p:cNvSpPr/>
          <p:nvPr/>
        </p:nvSpPr>
        <p:spPr>
          <a:xfrm>
            <a:off x="2958084"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971800"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30</a:t>
            </a:r>
          </a:p>
        </p:txBody>
      </p:sp>
      <p:sp>
        <p:nvSpPr>
          <p:cNvPr id="72" name="Rectangle 71"/>
          <p:cNvSpPr/>
          <p:nvPr/>
        </p:nvSpPr>
        <p:spPr>
          <a:xfrm>
            <a:off x="3408883"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22599"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31</a:t>
            </a:r>
          </a:p>
        </p:txBody>
      </p:sp>
      <p:sp>
        <p:nvSpPr>
          <p:cNvPr id="74" name="Rectangle 73"/>
          <p:cNvSpPr/>
          <p:nvPr/>
        </p:nvSpPr>
        <p:spPr>
          <a:xfrm>
            <a:off x="3859682"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73398"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32</a:t>
            </a:r>
          </a:p>
        </p:txBody>
      </p:sp>
      <p:sp>
        <p:nvSpPr>
          <p:cNvPr id="76" name="Rectangle 75"/>
          <p:cNvSpPr/>
          <p:nvPr/>
        </p:nvSpPr>
        <p:spPr>
          <a:xfrm>
            <a:off x="4310481"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324197"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33</a:t>
            </a:r>
          </a:p>
        </p:txBody>
      </p:sp>
      <p:sp>
        <p:nvSpPr>
          <p:cNvPr id="78" name="Rectangle 77"/>
          <p:cNvSpPr/>
          <p:nvPr/>
        </p:nvSpPr>
        <p:spPr>
          <a:xfrm>
            <a:off x="4761280"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74996"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34</a:t>
            </a:r>
          </a:p>
        </p:txBody>
      </p:sp>
      <p:sp>
        <p:nvSpPr>
          <p:cNvPr id="80" name="Rectangle 79"/>
          <p:cNvSpPr/>
          <p:nvPr/>
        </p:nvSpPr>
        <p:spPr>
          <a:xfrm>
            <a:off x="5212079"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225795"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35</a:t>
            </a:r>
          </a:p>
        </p:txBody>
      </p:sp>
      <p:sp>
        <p:nvSpPr>
          <p:cNvPr id="82" name="Rectangle 81"/>
          <p:cNvSpPr/>
          <p:nvPr/>
        </p:nvSpPr>
        <p:spPr>
          <a:xfrm>
            <a:off x="5662879"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676595"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36</a:t>
            </a:r>
          </a:p>
        </p:txBody>
      </p:sp>
      <p:sp>
        <p:nvSpPr>
          <p:cNvPr id="84" name="Rectangle 83"/>
          <p:cNvSpPr/>
          <p:nvPr/>
        </p:nvSpPr>
        <p:spPr>
          <a:xfrm>
            <a:off x="6113678"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27394"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37</a:t>
            </a:r>
          </a:p>
        </p:txBody>
      </p:sp>
      <p:sp>
        <p:nvSpPr>
          <p:cNvPr id="86" name="Rectangle 85"/>
          <p:cNvSpPr/>
          <p:nvPr/>
        </p:nvSpPr>
        <p:spPr>
          <a:xfrm>
            <a:off x="6564477"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578193"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38</a:t>
            </a:r>
          </a:p>
        </p:txBody>
      </p:sp>
      <p:sp>
        <p:nvSpPr>
          <p:cNvPr id="88" name="Rectangle 87"/>
          <p:cNvSpPr/>
          <p:nvPr/>
        </p:nvSpPr>
        <p:spPr>
          <a:xfrm>
            <a:off x="7015276"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28992"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39</a:t>
            </a:r>
          </a:p>
        </p:txBody>
      </p:sp>
      <p:sp>
        <p:nvSpPr>
          <p:cNvPr id="90" name="Rectangle 89"/>
          <p:cNvSpPr/>
          <p:nvPr/>
        </p:nvSpPr>
        <p:spPr>
          <a:xfrm>
            <a:off x="7466075"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479792"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40</a:t>
            </a:r>
          </a:p>
        </p:txBody>
      </p:sp>
      <p:sp>
        <p:nvSpPr>
          <p:cNvPr id="92" name="Rectangle 91"/>
          <p:cNvSpPr/>
          <p:nvPr/>
        </p:nvSpPr>
        <p:spPr>
          <a:xfrm>
            <a:off x="7916875"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930591"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41</a:t>
            </a:r>
          </a:p>
        </p:txBody>
      </p:sp>
      <p:sp>
        <p:nvSpPr>
          <p:cNvPr id="94" name="Rectangle 93"/>
          <p:cNvSpPr/>
          <p:nvPr/>
        </p:nvSpPr>
        <p:spPr>
          <a:xfrm>
            <a:off x="8367674"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81390"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42</a:t>
            </a:r>
          </a:p>
        </p:txBody>
      </p:sp>
      <p:sp>
        <p:nvSpPr>
          <p:cNvPr id="96" name="Rectangle 95"/>
          <p:cNvSpPr/>
          <p:nvPr/>
        </p:nvSpPr>
        <p:spPr>
          <a:xfrm>
            <a:off x="8818473"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832189"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43</a:t>
            </a:r>
          </a:p>
        </p:txBody>
      </p:sp>
      <p:sp>
        <p:nvSpPr>
          <p:cNvPr id="98" name="Rectangle 97"/>
          <p:cNvSpPr/>
          <p:nvPr/>
        </p:nvSpPr>
        <p:spPr>
          <a:xfrm>
            <a:off x="9269272"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282988"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44</a:t>
            </a:r>
          </a:p>
        </p:txBody>
      </p:sp>
      <p:sp>
        <p:nvSpPr>
          <p:cNvPr id="100" name="Rectangle 99"/>
          <p:cNvSpPr/>
          <p:nvPr/>
        </p:nvSpPr>
        <p:spPr>
          <a:xfrm>
            <a:off x="9720072"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733788"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45</a:t>
            </a:r>
          </a:p>
        </p:txBody>
      </p:sp>
      <p:sp>
        <p:nvSpPr>
          <p:cNvPr id="102" name="Rectangle 101"/>
          <p:cNvSpPr/>
          <p:nvPr/>
        </p:nvSpPr>
        <p:spPr>
          <a:xfrm>
            <a:off x="10170871"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184587"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46</a:t>
            </a:r>
          </a:p>
        </p:txBody>
      </p:sp>
      <p:sp>
        <p:nvSpPr>
          <p:cNvPr id="104" name="Rectangle 103"/>
          <p:cNvSpPr/>
          <p:nvPr/>
        </p:nvSpPr>
        <p:spPr>
          <a:xfrm>
            <a:off x="10621670" y="297180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635386"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47</a:t>
            </a:r>
          </a:p>
        </p:txBody>
      </p:sp>
      <p:sp>
        <p:nvSpPr>
          <p:cNvPr id="106" name="Rectangle 105"/>
          <p:cNvSpPr/>
          <p:nvPr/>
        </p:nvSpPr>
        <p:spPr>
          <a:xfrm>
            <a:off x="11072469" y="297180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086185" y="309524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48</a:t>
            </a:r>
          </a:p>
        </p:txBody>
      </p:sp>
      <p:sp>
        <p:nvSpPr>
          <p:cNvPr id="108" name="Rectangle 107"/>
          <p:cNvSpPr/>
          <p:nvPr/>
        </p:nvSpPr>
        <p:spPr>
          <a:xfrm>
            <a:off x="704088"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17804"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49</a:t>
            </a:r>
          </a:p>
        </p:txBody>
      </p:sp>
      <p:sp>
        <p:nvSpPr>
          <p:cNvPr id="110" name="Rectangle 109"/>
          <p:cNvSpPr/>
          <p:nvPr/>
        </p:nvSpPr>
        <p:spPr>
          <a:xfrm>
            <a:off x="1154887"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68603"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50</a:t>
            </a:r>
          </a:p>
        </p:txBody>
      </p:sp>
      <p:sp>
        <p:nvSpPr>
          <p:cNvPr id="112" name="Rectangle 111"/>
          <p:cNvSpPr/>
          <p:nvPr/>
        </p:nvSpPr>
        <p:spPr>
          <a:xfrm>
            <a:off x="1605686"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619402"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51</a:t>
            </a:r>
          </a:p>
        </p:txBody>
      </p:sp>
      <p:sp>
        <p:nvSpPr>
          <p:cNvPr id="114" name="Rectangle 113"/>
          <p:cNvSpPr/>
          <p:nvPr/>
        </p:nvSpPr>
        <p:spPr>
          <a:xfrm>
            <a:off x="2056485"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070201"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52</a:t>
            </a:r>
          </a:p>
        </p:txBody>
      </p:sp>
      <p:sp>
        <p:nvSpPr>
          <p:cNvPr id="116" name="Rectangle 115"/>
          <p:cNvSpPr/>
          <p:nvPr/>
        </p:nvSpPr>
        <p:spPr>
          <a:xfrm>
            <a:off x="2507284"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2521000"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53</a:t>
            </a:r>
          </a:p>
        </p:txBody>
      </p:sp>
      <p:sp>
        <p:nvSpPr>
          <p:cNvPr id="118" name="Rectangle 117"/>
          <p:cNvSpPr/>
          <p:nvPr/>
        </p:nvSpPr>
        <p:spPr>
          <a:xfrm>
            <a:off x="2958084"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971800"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54</a:t>
            </a:r>
          </a:p>
        </p:txBody>
      </p:sp>
      <p:sp>
        <p:nvSpPr>
          <p:cNvPr id="120" name="Rectangle 119"/>
          <p:cNvSpPr/>
          <p:nvPr/>
        </p:nvSpPr>
        <p:spPr>
          <a:xfrm>
            <a:off x="3408883"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422599"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55</a:t>
            </a:r>
          </a:p>
        </p:txBody>
      </p:sp>
      <p:sp>
        <p:nvSpPr>
          <p:cNvPr id="122" name="Rectangle 121"/>
          <p:cNvSpPr/>
          <p:nvPr/>
        </p:nvSpPr>
        <p:spPr>
          <a:xfrm>
            <a:off x="3859682"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873398"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56</a:t>
            </a:r>
          </a:p>
        </p:txBody>
      </p:sp>
      <p:sp>
        <p:nvSpPr>
          <p:cNvPr id="124" name="Rectangle 123"/>
          <p:cNvSpPr/>
          <p:nvPr/>
        </p:nvSpPr>
        <p:spPr>
          <a:xfrm>
            <a:off x="4310481"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324197"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57</a:t>
            </a:r>
          </a:p>
        </p:txBody>
      </p:sp>
      <p:sp>
        <p:nvSpPr>
          <p:cNvPr id="126" name="Rectangle 125"/>
          <p:cNvSpPr/>
          <p:nvPr/>
        </p:nvSpPr>
        <p:spPr>
          <a:xfrm>
            <a:off x="4761280"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774996"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58</a:t>
            </a:r>
          </a:p>
        </p:txBody>
      </p:sp>
      <p:sp>
        <p:nvSpPr>
          <p:cNvPr id="128" name="Rectangle 127"/>
          <p:cNvSpPr/>
          <p:nvPr/>
        </p:nvSpPr>
        <p:spPr>
          <a:xfrm>
            <a:off x="5212079"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225795"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59</a:t>
            </a:r>
          </a:p>
        </p:txBody>
      </p:sp>
      <p:sp>
        <p:nvSpPr>
          <p:cNvPr id="130" name="Rectangle 129"/>
          <p:cNvSpPr/>
          <p:nvPr/>
        </p:nvSpPr>
        <p:spPr>
          <a:xfrm>
            <a:off x="5662879"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676595"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60</a:t>
            </a:r>
          </a:p>
        </p:txBody>
      </p:sp>
      <p:sp>
        <p:nvSpPr>
          <p:cNvPr id="132" name="Rectangle 131"/>
          <p:cNvSpPr/>
          <p:nvPr/>
        </p:nvSpPr>
        <p:spPr>
          <a:xfrm>
            <a:off x="6113678"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127394"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61</a:t>
            </a:r>
          </a:p>
        </p:txBody>
      </p:sp>
      <p:sp>
        <p:nvSpPr>
          <p:cNvPr id="134" name="Rectangle 133"/>
          <p:cNvSpPr/>
          <p:nvPr/>
        </p:nvSpPr>
        <p:spPr>
          <a:xfrm>
            <a:off x="6564477"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578193"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62</a:t>
            </a:r>
          </a:p>
        </p:txBody>
      </p:sp>
      <p:sp>
        <p:nvSpPr>
          <p:cNvPr id="136" name="Rectangle 135"/>
          <p:cNvSpPr/>
          <p:nvPr/>
        </p:nvSpPr>
        <p:spPr>
          <a:xfrm>
            <a:off x="7015276"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028992"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63</a:t>
            </a:r>
          </a:p>
        </p:txBody>
      </p:sp>
      <p:sp>
        <p:nvSpPr>
          <p:cNvPr id="138" name="Rectangle 137"/>
          <p:cNvSpPr/>
          <p:nvPr/>
        </p:nvSpPr>
        <p:spPr>
          <a:xfrm>
            <a:off x="7466075"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479792"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64</a:t>
            </a:r>
          </a:p>
        </p:txBody>
      </p:sp>
      <p:sp>
        <p:nvSpPr>
          <p:cNvPr id="140" name="Rectangle 139"/>
          <p:cNvSpPr/>
          <p:nvPr/>
        </p:nvSpPr>
        <p:spPr>
          <a:xfrm>
            <a:off x="7916875"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930591"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65</a:t>
            </a:r>
          </a:p>
        </p:txBody>
      </p:sp>
      <p:sp>
        <p:nvSpPr>
          <p:cNvPr id="142" name="Rectangle 141"/>
          <p:cNvSpPr/>
          <p:nvPr/>
        </p:nvSpPr>
        <p:spPr>
          <a:xfrm>
            <a:off x="8367674"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381390"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66</a:t>
            </a:r>
          </a:p>
        </p:txBody>
      </p:sp>
      <p:sp>
        <p:nvSpPr>
          <p:cNvPr id="144" name="Rectangle 143"/>
          <p:cNvSpPr/>
          <p:nvPr/>
        </p:nvSpPr>
        <p:spPr>
          <a:xfrm>
            <a:off x="8818473"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8832189"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67</a:t>
            </a:r>
          </a:p>
        </p:txBody>
      </p:sp>
      <p:sp>
        <p:nvSpPr>
          <p:cNvPr id="146" name="Rectangle 145"/>
          <p:cNvSpPr/>
          <p:nvPr/>
        </p:nvSpPr>
        <p:spPr>
          <a:xfrm>
            <a:off x="9269272"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9282988"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68</a:t>
            </a:r>
          </a:p>
        </p:txBody>
      </p:sp>
      <p:sp>
        <p:nvSpPr>
          <p:cNvPr id="148" name="Rectangle 147"/>
          <p:cNvSpPr/>
          <p:nvPr/>
        </p:nvSpPr>
        <p:spPr>
          <a:xfrm>
            <a:off x="9720072"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733788"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69</a:t>
            </a:r>
          </a:p>
        </p:txBody>
      </p:sp>
      <p:sp>
        <p:nvSpPr>
          <p:cNvPr id="150" name="Rectangle 149"/>
          <p:cNvSpPr/>
          <p:nvPr/>
        </p:nvSpPr>
        <p:spPr>
          <a:xfrm>
            <a:off x="10170871"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0184587"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70</a:t>
            </a:r>
          </a:p>
        </p:txBody>
      </p:sp>
      <p:sp>
        <p:nvSpPr>
          <p:cNvPr id="152" name="Rectangle 151"/>
          <p:cNvSpPr/>
          <p:nvPr/>
        </p:nvSpPr>
        <p:spPr>
          <a:xfrm>
            <a:off x="10621670" y="356616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0635386"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71</a:t>
            </a:r>
          </a:p>
        </p:txBody>
      </p:sp>
      <p:sp>
        <p:nvSpPr>
          <p:cNvPr id="154" name="Rectangle 153"/>
          <p:cNvSpPr/>
          <p:nvPr/>
        </p:nvSpPr>
        <p:spPr>
          <a:xfrm>
            <a:off x="11072469" y="356616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1086185" y="368960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72</a:t>
            </a:r>
          </a:p>
        </p:txBody>
      </p:sp>
      <p:sp>
        <p:nvSpPr>
          <p:cNvPr id="156" name="Rectangle 155"/>
          <p:cNvSpPr/>
          <p:nvPr/>
        </p:nvSpPr>
        <p:spPr>
          <a:xfrm>
            <a:off x="704088"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717804"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73</a:t>
            </a:r>
          </a:p>
        </p:txBody>
      </p:sp>
      <p:sp>
        <p:nvSpPr>
          <p:cNvPr id="158" name="Rectangle 157"/>
          <p:cNvSpPr/>
          <p:nvPr/>
        </p:nvSpPr>
        <p:spPr>
          <a:xfrm>
            <a:off x="1154887"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168603"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74</a:t>
            </a:r>
          </a:p>
        </p:txBody>
      </p:sp>
      <p:sp>
        <p:nvSpPr>
          <p:cNvPr id="160" name="Rectangle 159"/>
          <p:cNvSpPr/>
          <p:nvPr/>
        </p:nvSpPr>
        <p:spPr>
          <a:xfrm>
            <a:off x="1605686"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619402"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75</a:t>
            </a:r>
          </a:p>
        </p:txBody>
      </p:sp>
      <p:sp>
        <p:nvSpPr>
          <p:cNvPr id="162" name="Rectangle 161"/>
          <p:cNvSpPr/>
          <p:nvPr/>
        </p:nvSpPr>
        <p:spPr>
          <a:xfrm>
            <a:off x="2056485"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2070201"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76</a:t>
            </a:r>
          </a:p>
        </p:txBody>
      </p:sp>
      <p:sp>
        <p:nvSpPr>
          <p:cNvPr id="164" name="Rectangle 163"/>
          <p:cNvSpPr/>
          <p:nvPr/>
        </p:nvSpPr>
        <p:spPr>
          <a:xfrm>
            <a:off x="2507284"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2521000"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77</a:t>
            </a:r>
          </a:p>
        </p:txBody>
      </p:sp>
      <p:sp>
        <p:nvSpPr>
          <p:cNvPr id="166" name="Rectangle 165"/>
          <p:cNvSpPr/>
          <p:nvPr/>
        </p:nvSpPr>
        <p:spPr>
          <a:xfrm>
            <a:off x="2958084"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2971800"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78</a:t>
            </a:r>
          </a:p>
        </p:txBody>
      </p:sp>
      <p:sp>
        <p:nvSpPr>
          <p:cNvPr id="168" name="Rectangle 167"/>
          <p:cNvSpPr/>
          <p:nvPr/>
        </p:nvSpPr>
        <p:spPr>
          <a:xfrm>
            <a:off x="3408883"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3422599"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79</a:t>
            </a:r>
          </a:p>
        </p:txBody>
      </p:sp>
      <p:sp>
        <p:nvSpPr>
          <p:cNvPr id="170" name="Rectangle 169"/>
          <p:cNvSpPr/>
          <p:nvPr/>
        </p:nvSpPr>
        <p:spPr>
          <a:xfrm>
            <a:off x="3859682"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3873398"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80</a:t>
            </a:r>
          </a:p>
        </p:txBody>
      </p:sp>
      <p:sp>
        <p:nvSpPr>
          <p:cNvPr id="172" name="Rectangle 171"/>
          <p:cNvSpPr/>
          <p:nvPr/>
        </p:nvSpPr>
        <p:spPr>
          <a:xfrm>
            <a:off x="4310481"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324197"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81</a:t>
            </a:r>
          </a:p>
        </p:txBody>
      </p:sp>
      <p:sp>
        <p:nvSpPr>
          <p:cNvPr id="174" name="Rectangle 173"/>
          <p:cNvSpPr/>
          <p:nvPr/>
        </p:nvSpPr>
        <p:spPr>
          <a:xfrm>
            <a:off x="4761280"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4774996"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82</a:t>
            </a:r>
          </a:p>
        </p:txBody>
      </p:sp>
      <p:sp>
        <p:nvSpPr>
          <p:cNvPr id="176" name="Rectangle 175"/>
          <p:cNvSpPr/>
          <p:nvPr/>
        </p:nvSpPr>
        <p:spPr>
          <a:xfrm>
            <a:off x="5212079"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5225795"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83</a:t>
            </a:r>
          </a:p>
        </p:txBody>
      </p:sp>
      <p:sp>
        <p:nvSpPr>
          <p:cNvPr id="178" name="Rectangle 177"/>
          <p:cNvSpPr/>
          <p:nvPr/>
        </p:nvSpPr>
        <p:spPr>
          <a:xfrm>
            <a:off x="5662879"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676595"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84</a:t>
            </a:r>
          </a:p>
        </p:txBody>
      </p:sp>
      <p:sp>
        <p:nvSpPr>
          <p:cNvPr id="180" name="Rectangle 179"/>
          <p:cNvSpPr/>
          <p:nvPr/>
        </p:nvSpPr>
        <p:spPr>
          <a:xfrm>
            <a:off x="6113678"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127394"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85</a:t>
            </a:r>
          </a:p>
        </p:txBody>
      </p:sp>
      <p:sp>
        <p:nvSpPr>
          <p:cNvPr id="182" name="Rectangle 181"/>
          <p:cNvSpPr/>
          <p:nvPr/>
        </p:nvSpPr>
        <p:spPr>
          <a:xfrm>
            <a:off x="6564477"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578193"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86</a:t>
            </a:r>
          </a:p>
        </p:txBody>
      </p:sp>
      <p:sp>
        <p:nvSpPr>
          <p:cNvPr id="184" name="Rectangle 183"/>
          <p:cNvSpPr/>
          <p:nvPr/>
        </p:nvSpPr>
        <p:spPr>
          <a:xfrm>
            <a:off x="7015276"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7028992"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87</a:t>
            </a:r>
          </a:p>
        </p:txBody>
      </p:sp>
      <p:sp>
        <p:nvSpPr>
          <p:cNvPr id="186" name="Rectangle 185"/>
          <p:cNvSpPr/>
          <p:nvPr/>
        </p:nvSpPr>
        <p:spPr>
          <a:xfrm>
            <a:off x="7466075"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479792"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88</a:t>
            </a:r>
          </a:p>
        </p:txBody>
      </p:sp>
      <p:sp>
        <p:nvSpPr>
          <p:cNvPr id="188" name="Rectangle 187"/>
          <p:cNvSpPr/>
          <p:nvPr/>
        </p:nvSpPr>
        <p:spPr>
          <a:xfrm>
            <a:off x="7916875"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7930591"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89</a:t>
            </a:r>
          </a:p>
        </p:txBody>
      </p:sp>
      <p:sp>
        <p:nvSpPr>
          <p:cNvPr id="190" name="Rectangle 189"/>
          <p:cNvSpPr/>
          <p:nvPr/>
        </p:nvSpPr>
        <p:spPr>
          <a:xfrm>
            <a:off x="8367674"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8381390"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90</a:t>
            </a:r>
          </a:p>
        </p:txBody>
      </p:sp>
      <p:sp>
        <p:nvSpPr>
          <p:cNvPr id="192" name="Rectangle 191"/>
          <p:cNvSpPr/>
          <p:nvPr/>
        </p:nvSpPr>
        <p:spPr>
          <a:xfrm>
            <a:off x="8818473" y="4160520"/>
            <a:ext cx="387705" cy="402336"/>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832189"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91</a:t>
            </a:r>
          </a:p>
        </p:txBody>
      </p:sp>
      <p:sp>
        <p:nvSpPr>
          <p:cNvPr id="194" name="Rectangle 193"/>
          <p:cNvSpPr/>
          <p:nvPr/>
        </p:nvSpPr>
        <p:spPr>
          <a:xfrm>
            <a:off x="9269272"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282988"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92</a:t>
            </a:r>
          </a:p>
        </p:txBody>
      </p:sp>
      <p:sp>
        <p:nvSpPr>
          <p:cNvPr id="196" name="Rectangle 195"/>
          <p:cNvSpPr/>
          <p:nvPr/>
        </p:nvSpPr>
        <p:spPr>
          <a:xfrm>
            <a:off x="9720072" y="4160520"/>
            <a:ext cx="387705" cy="402336"/>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9733788" y="4283964"/>
            <a:ext cx="356616" cy="146304"/>
          </a:xfrm>
          <a:prstGeom prst="rect">
            <a:avLst/>
          </a:prstGeom>
          <a:noFill/>
        </p:spPr>
        <p:txBody>
          <a:bodyPr wrap="square" lIns="13716" rIns="13716" tIns="0" bIns="0">
            <a:spAutoFit/>
          </a:bodyPr>
          <a:lstStyle/>
          <a:p>
            <a:pPr algn="ctr">
              <a:spcBef>
                <a:spcPts val="0"/>
              </a:spcBef>
              <a:spcAft>
                <a:spcPts val="0"/>
              </a:spcAft>
            </a:pPr>
            <a:r>
              <a:rPr sz="800" b="1">
                <a:solidFill>
                  <a:srgbClr val="0B1220"/>
                </a:solidFill>
                <a:latin typeface="DejaVu Sans"/>
              </a:rPr>
              <a:t>93</a:t>
            </a:r>
          </a:p>
        </p:txBody>
      </p:sp>
      <p:sp>
        <p:nvSpPr>
          <p:cNvPr id="198" name="TextBox 197"/>
          <p:cNvSpPr txBox="1"/>
          <p:nvPr/>
        </p:nvSpPr>
        <p:spPr>
          <a:xfrm>
            <a:off x="777240" y="5093208"/>
            <a:ext cx="4572000" cy="365760"/>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TEAL  69 KDA layers</a:t>
            </a:r>
          </a:p>
        </p:txBody>
      </p:sp>
      <p:sp>
        <p:nvSpPr>
          <p:cNvPr id="199" name="TextBox 198"/>
          <p:cNvSpPr txBox="1"/>
          <p:nvPr/>
        </p:nvSpPr>
        <p:spPr>
          <a:xfrm>
            <a:off x="6035040" y="5093208"/>
            <a:ext cx="5212080" cy="365760"/>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BLUE  24 gated MLA layers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00"/>
                                        <p:tgtEl>
                                          <p:spTgt spid="26"/>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00"/>
                                        <p:tgtEl>
                                          <p:spTgt spid="27"/>
                                        </p:tgtEl>
                                      </p:cBhvr>
                                    </p:animEffect>
                                  </p:childTnLst>
                                </p:cTn>
                              </p:par>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00"/>
                                        <p:tgtEl>
                                          <p:spTgt spid="28"/>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00"/>
                                        <p:tgtEl>
                                          <p:spTgt spid="29"/>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00"/>
                                        <p:tgtEl>
                                          <p:spTgt spid="30"/>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00"/>
                                        <p:tgtEl>
                                          <p:spTgt spid="31"/>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400"/>
                                        <p:tgtEl>
                                          <p:spTgt spid="32"/>
                                        </p:tgtEl>
                                      </p:cBhvr>
                                    </p:animEffect>
                                  </p:childTnLst>
                                </p:cTn>
                              </p:par>
                              <p:par>
                                <p:cTn id="68" presetID="10" presetClass="entr" presetSubtype="0"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400"/>
                                        <p:tgtEl>
                                          <p:spTgt spid="33"/>
                                        </p:tgtEl>
                                      </p:cBhvr>
                                    </p:animEffect>
                                  </p:childTnLst>
                                </p:cTn>
                              </p:par>
                              <p:par>
                                <p:cTn id="71" presetID="10" presetClass="entr" presetSubtype="0" fill="hold" grpId="0" nodeType="click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400"/>
                                        <p:tgtEl>
                                          <p:spTgt spid="34"/>
                                        </p:tgtEl>
                                      </p:cBhvr>
                                    </p:animEffect>
                                  </p:childTnLst>
                                </p:cTn>
                              </p:par>
                              <p:par>
                                <p:cTn id="74" presetID="10" presetClass="entr" presetSubtype="0" fill="hold" grpId="0"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400"/>
                                        <p:tgtEl>
                                          <p:spTgt spid="35"/>
                                        </p:tgtEl>
                                      </p:cBhvr>
                                    </p:animEffect>
                                  </p:childTnLst>
                                </p:cTn>
                              </p:par>
                              <p:par>
                                <p:cTn id="77" presetID="10"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400"/>
                                        <p:tgtEl>
                                          <p:spTgt spid="36"/>
                                        </p:tgtEl>
                                      </p:cBhvr>
                                    </p:animEffect>
                                  </p:childTnLst>
                                </p:cTn>
                              </p:par>
                              <p:par>
                                <p:cTn id="80" presetID="10" presetClass="entr" presetSubtype="0" fill="hold" grpId="0" nodeType="click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400"/>
                                        <p:tgtEl>
                                          <p:spTgt spid="37"/>
                                        </p:tgtEl>
                                      </p:cBhvr>
                                    </p:animEffect>
                                  </p:childTnLst>
                                </p:cTn>
                              </p:par>
                              <p:par>
                                <p:cTn id="83" presetID="10" presetClass="entr" presetSubtype="0" fill="hold" grpId="0" nodeType="click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400"/>
                                        <p:tgtEl>
                                          <p:spTgt spid="38"/>
                                        </p:tgtEl>
                                      </p:cBhvr>
                                    </p:animEffect>
                                  </p:childTnLst>
                                </p:cTn>
                              </p:par>
                              <p:par>
                                <p:cTn id="86" presetID="10" presetClass="entr" presetSubtype="0" fill="hold" grpId="0"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400"/>
                                        <p:tgtEl>
                                          <p:spTgt spid="39"/>
                                        </p:tgtEl>
                                      </p:cBhvr>
                                    </p:animEffect>
                                  </p:childTnLst>
                                </p:cTn>
                              </p:par>
                              <p:par>
                                <p:cTn id="89" presetID="10"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400"/>
                                        <p:tgtEl>
                                          <p:spTgt spid="40"/>
                                        </p:tgtEl>
                                      </p:cBhvr>
                                    </p:animEffect>
                                  </p:childTnLst>
                                </p:cTn>
                              </p:par>
                              <p:par>
                                <p:cTn id="92" presetID="10" presetClass="entr" presetSubtype="0" fill="hold" grpId="0" nodeType="click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400"/>
                                        <p:tgtEl>
                                          <p:spTgt spid="41"/>
                                        </p:tgtEl>
                                      </p:cBhvr>
                                    </p:animEffect>
                                  </p:childTnLst>
                                </p:cTn>
                              </p:par>
                              <p:par>
                                <p:cTn id="95" presetID="10" presetClass="entr" presetSubtype="0" fill="hold" grpId="0" nodeType="click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400"/>
                                        <p:tgtEl>
                                          <p:spTgt spid="42"/>
                                        </p:tgtEl>
                                      </p:cBhvr>
                                    </p:animEffect>
                                  </p:childTnLst>
                                </p:cTn>
                              </p:par>
                              <p:par>
                                <p:cTn id="98" presetID="10" presetClass="entr" presetSubtype="0" fill="hold" grpId="0" nodeType="click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400"/>
                                        <p:tgtEl>
                                          <p:spTgt spid="43"/>
                                        </p:tgtEl>
                                      </p:cBhvr>
                                    </p:animEffect>
                                  </p:childTnLst>
                                </p:cTn>
                              </p:par>
                              <p:par>
                                <p:cTn id="101" presetID="10" presetClass="entr" presetSubtype="0" fill="hold" grpId="0" nodeType="click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400"/>
                                        <p:tgtEl>
                                          <p:spTgt spid="44"/>
                                        </p:tgtEl>
                                      </p:cBhvr>
                                    </p:animEffect>
                                  </p:childTnLst>
                                </p:cTn>
                              </p:par>
                              <p:par>
                                <p:cTn id="104" presetID="10"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00"/>
                                        <p:tgtEl>
                                          <p:spTgt spid="45"/>
                                        </p:tgtEl>
                                      </p:cBhvr>
                                    </p:animEffect>
                                  </p:childTnLst>
                                </p:cTn>
                              </p:par>
                              <p:par>
                                <p:cTn id="107" presetID="10" presetClass="entr" presetSubtype="0" fill="hold" grpId="0" nodeType="click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400"/>
                                        <p:tgtEl>
                                          <p:spTgt spid="46"/>
                                        </p:tgtEl>
                                      </p:cBhvr>
                                    </p:animEffect>
                                  </p:childTnLst>
                                </p:cTn>
                              </p:par>
                              <p:par>
                                <p:cTn id="110" presetID="10" presetClass="entr" presetSubtype="0" fill="hold" grpId="0" nodeType="click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fade">
                                      <p:cBhvr>
                                        <p:cTn id="112" dur="400"/>
                                        <p:tgtEl>
                                          <p:spTgt spid="47"/>
                                        </p:tgtEl>
                                      </p:cBhvr>
                                    </p:animEffect>
                                  </p:childTnLst>
                                </p:cTn>
                              </p:par>
                              <p:par>
                                <p:cTn id="113" presetID="10"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400"/>
                                        <p:tgtEl>
                                          <p:spTgt spid="48"/>
                                        </p:tgtEl>
                                      </p:cBhvr>
                                    </p:animEffect>
                                  </p:childTnLst>
                                </p:cTn>
                              </p:par>
                              <p:par>
                                <p:cTn id="116" presetID="10" presetClass="entr" presetSubtype="0" fill="hold" grpId="0" nodeType="clickEffect">
                                  <p:stCondLst>
                                    <p:cond delay="0"/>
                                  </p:stCondLst>
                                  <p:childTnLst>
                                    <p:set>
                                      <p:cBhvr>
                                        <p:cTn id="117" dur="1" fill="hold">
                                          <p:stCondLst>
                                            <p:cond delay="0"/>
                                          </p:stCondLst>
                                        </p:cTn>
                                        <p:tgtEl>
                                          <p:spTgt spid="49"/>
                                        </p:tgtEl>
                                        <p:attrNameLst>
                                          <p:attrName>style.visibility</p:attrName>
                                        </p:attrNameLst>
                                      </p:cBhvr>
                                      <p:to>
                                        <p:strVal val="visible"/>
                                      </p:to>
                                    </p:set>
                                    <p:animEffect transition="in" filter="fade">
                                      <p:cBhvr>
                                        <p:cTn id="118" dur="400"/>
                                        <p:tgtEl>
                                          <p:spTgt spid="49"/>
                                        </p:tgtEl>
                                      </p:cBhvr>
                                    </p:animEffect>
                                  </p:childTnLst>
                                </p:cTn>
                              </p:par>
                              <p:par>
                                <p:cTn id="119" presetID="10" presetClass="entr" presetSubtype="0" fill="hold" grpId="0" nodeType="clickEffect">
                                  <p:stCondLst>
                                    <p:cond delay="0"/>
                                  </p:stCondLst>
                                  <p:childTnLst>
                                    <p:set>
                                      <p:cBhvr>
                                        <p:cTn id="120" dur="1" fill="hold">
                                          <p:stCondLst>
                                            <p:cond delay="0"/>
                                          </p:stCondLst>
                                        </p:cTn>
                                        <p:tgtEl>
                                          <p:spTgt spid="50"/>
                                        </p:tgtEl>
                                        <p:attrNameLst>
                                          <p:attrName>style.visibility</p:attrName>
                                        </p:attrNameLst>
                                      </p:cBhvr>
                                      <p:to>
                                        <p:strVal val="visible"/>
                                      </p:to>
                                    </p:set>
                                    <p:animEffect transition="in" filter="fade">
                                      <p:cBhvr>
                                        <p:cTn id="121" dur="400"/>
                                        <p:tgtEl>
                                          <p:spTgt spid="50"/>
                                        </p:tgtEl>
                                      </p:cBhvr>
                                    </p:animEffect>
                                  </p:childTnLst>
                                </p:cTn>
                              </p:par>
                              <p:par>
                                <p:cTn id="122" presetID="10" presetClass="entr" presetSubtype="0" fill="hold" grpId="0" nodeType="clickEffect">
                                  <p:stCondLst>
                                    <p:cond delay="0"/>
                                  </p:stCondLst>
                                  <p:childTnLst>
                                    <p:set>
                                      <p:cBhvr>
                                        <p:cTn id="123" dur="1" fill="hold">
                                          <p:stCondLst>
                                            <p:cond delay="0"/>
                                          </p:stCondLst>
                                        </p:cTn>
                                        <p:tgtEl>
                                          <p:spTgt spid="51"/>
                                        </p:tgtEl>
                                        <p:attrNameLst>
                                          <p:attrName>style.visibility</p:attrName>
                                        </p:attrNameLst>
                                      </p:cBhvr>
                                      <p:to>
                                        <p:strVal val="visible"/>
                                      </p:to>
                                    </p:set>
                                    <p:animEffect transition="in" filter="fade">
                                      <p:cBhvr>
                                        <p:cTn id="124" dur="400"/>
                                        <p:tgtEl>
                                          <p:spTgt spid="51"/>
                                        </p:tgtEl>
                                      </p:cBhvr>
                                    </p:animEffect>
                                  </p:childTnLst>
                                </p:cTn>
                              </p:par>
                              <p:par>
                                <p:cTn id="125" presetID="10" presetClass="entr" presetSubtype="0" fill="hold" grpId="0" nodeType="clickEffect">
                                  <p:stCondLst>
                                    <p:cond delay="0"/>
                                  </p:stCondLst>
                                  <p:childTnLst>
                                    <p:set>
                                      <p:cBhvr>
                                        <p:cTn id="126" dur="1" fill="hold">
                                          <p:stCondLst>
                                            <p:cond delay="0"/>
                                          </p:stCondLst>
                                        </p:cTn>
                                        <p:tgtEl>
                                          <p:spTgt spid="52"/>
                                        </p:tgtEl>
                                        <p:attrNameLst>
                                          <p:attrName>style.visibility</p:attrName>
                                        </p:attrNameLst>
                                      </p:cBhvr>
                                      <p:to>
                                        <p:strVal val="visible"/>
                                      </p:to>
                                    </p:set>
                                    <p:animEffect transition="in" filter="fade">
                                      <p:cBhvr>
                                        <p:cTn id="127" dur="400"/>
                                        <p:tgtEl>
                                          <p:spTgt spid="52"/>
                                        </p:tgtEl>
                                      </p:cBhvr>
                                    </p:animEffect>
                                  </p:childTnLst>
                                </p:cTn>
                              </p:par>
                              <p:par>
                                <p:cTn id="128" presetID="10" presetClass="entr" presetSubtype="0" fill="hold" grpId="0" nodeType="clickEffect">
                                  <p:stCondLst>
                                    <p:cond delay="0"/>
                                  </p:stCondLst>
                                  <p:childTnLst>
                                    <p:set>
                                      <p:cBhvr>
                                        <p:cTn id="129" dur="1" fill="hold">
                                          <p:stCondLst>
                                            <p:cond delay="0"/>
                                          </p:stCondLst>
                                        </p:cTn>
                                        <p:tgtEl>
                                          <p:spTgt spid="53"/>
                                        </p:tgtEl>
                                        <p:attrNameLst>
                                          <p:attrName>style.visibility</p:attrName>
                                        </p:attrNameLst>
                                      </p:cBhvr>
                                      <p:to>
                                        <p:strVal val="visible"/>
                                      </p:to>
                                    </p:set>
                                    <p:animEffect transition="in" filter="fade">
                                      <p:cBhvr>
                                        <p:cTn id="130" dur="400"/>
                                        <p:tgtEl>
                                          <p:spTgt spid="53"/>
                                        </p:tgtEl>
                                      </p:cBhvr>
                                    </p:animEffect>
                                  </p:childTnLst>
                                </p:cTn>
                              </p:par>
                              <p:par>
                                <p:cTn id="131" presetID="10" presetClass="entr" presetSubtype="0" fill="hold" grpId="0"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fade">
                                      <p:cBhvr>
                                        <p:cTn id="133" dur="400"/>
                                        <p:tgtEl>
                                          <p:spTgt spid="54"/>
                                        </p:tgtEl>
                                      </p:cBhvr>
                                    </p:animEffect>
                                  </p:childTnLst>
                                </p:cTn>
                              </p:par>
                              <p:par>
                                <p:cTn id="134" presetID="10" presetClass="entr" presetSubtype="0" fill="hold" grpId="0" nodeType="click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fade">
                                      <p:cBhvr>
                                        <p:cTn id="136" dur="400"/>
                                        <p:tgtEl>
                                          <p:spTgt spid="55"/>
                                        </p:tgtEl>
                                      </p:cBhvr>
                                    </p:animEffect>
                                  </p:childTnLst>
                                </p:cTn>
                              </p:par>
                              <p:par>
                                <p:cTn id="137" presetID="10" presetClass="entr" presetSubtype="0" fill="hold" grpId="0" nodeType="clickEffect">
                                  <p:stCondLst>
                                    <p:cond delay="0"/>
                                  </p:stCondLst>
                                  <p:childTnLst>
                                    <p:set>
                                      <p:cBhvr>
                                        <p:cTn id="138" dur="1" fill="hold">
                                          <p:stCondLst>
                                            <p:cond delay="0"/>
                                          </p:stCondLst>
                                        </p:cTn>
                                        <p:tgtEl>
                                          <p:spTgt spid="56"/>
                                        </p:tgtEl>
                                        <p:attrNameLst>
                                          <p:attrName>style.visibility</p:attrName>
                                        </p:attrNameLst>
                                      </p:cBhvr>
                                      <p:to>
                                        <p:strVal val="visible"/>
                                      </p:to>
                                    </p:set>
                                    <p:animEffect transition="in" filter="fade">
                                      <p:cBhvr>
                                        <p:cTn id="139" dur="400"/>
                                        <p:tgtEl>
                                          <p:spTgt spid="56"/>
                                        </p:tgtEl>
                                      </p:cBhvr>
                                    </p:animEffect>
                                  </p:childTnLst>
                                </p:cTn>
                              </p:par>
                              <p:par>
                                <p:cTn id="140" presetID="10" presetClass="entr" presetSubtype="0" fill="hold" grpId="0" nodeType="clickEffect">
                                  <p:stCondLst>
                                    <p:cond delay="0"/>
                                  </p:stCondLst>
                                  <p:childTnLst>
                                    <p:set>
                                      <p:cBhvr>
                                        <p:cTn id="141" dur="1" fill="hold">
                                          <p:stCondLst>
                                            <p:cond delay="0"/>
                                          </p:stCondLst>
                                        </p:cTn>
                                        <p:tgtEl>
                                          <p:spTgt spid="57"/>
                                        </p:tgtEl>
                                        <p:attrNameLst>
                                          <p:attrName>style.visibility</p:attrName>
                                        </p:attrNameLst>
                                      </p:cBhvr>
                                      <p:to>
                                        <p:strVal val="visible"/>
                                      </p:to>
                                    </p:set>
                                    <p:animEffect transition="in" filter="fade">
                                      <p:cBhvr>
                                        <p:cTn id="142" dur="400"/>
                                        <p:tgtEl>
                                          <p:spTgt spid="57"/>
                                        </p:tgtEl>
                                      </p:cBhvr>
                                    </p:animEffect>
                                  </p:childTnLst>
                                </p:cTn>
                              </p:par>
                              <p:par>
                                <p:cTn id="143" presetID="10" presetClass="entr" presetSubtype="0" fill="hold" grpId="0" nodeType="clickEffect">
                                  <p:stCondLst>
                                    <p:cond delay="0"/>
                                  </p:stCondLst>
                                  <p:childTnLst>
                                    <p:set>
                                      <p:cBhvr>
                                        <p:cTn id="144" dur="1" fill="hold">
                                          <p:stCondLst>
                                            <p:cond delay="0"/>
                                          </p:stCondLst>
                                        </p:cTn>
                                        <p:tgtEl>
                                          <p:spTgt spid="58"/>
                                        </p:tgtEl>
                                        <p:attrNameLst>
                                          <p:attrName>style.visibility</p:attrName>
                                        </p:attrNameLst>
                                      </p:cBhvr>
                                      <p:to>
                                        <p:strVal val="visible"/>
                                      </p:to>
                                    </p:set>
                                    <p:animEffect transition="in" filter="fade">
                                      <p:cBhvr>
                                        <p:cTn id="145" dur="400"/>
                                        <p:tgtEl>
                                          <p:spTgt spid="58"/>
                                        </p:tgtEl>
                                      </p:cBhvr>
                                    </p:animEffect>
                                  </p:childTnLst>
                                </p:cTn>
                              </p:par>
                              <p:par>
                                <p:cTn id="146" presetID="10" presetClass="entr" presetSubtype="0" fill="hold" grpId="0" nodeType="clickEffect">
                                  <p:stCondLst>
                                    <p:cond delay="0"/>
                                  </p:stCondLst>
                                  <p:childTnLst>
                                    <p:set>
                                      <p:cBhvr>
                                        <p:cTn id="147" dur="1" fill="hold">
                                          <p:stCondLst>
                                            <p:cond delay="0"/>
                                          </p:stCondLst>
                                        </p:cTn>
                                        <p:tgtEl>
                                          <p:spTgt spid="59"/>
                                        </p:tgtEl>
                                        <p:attrNameLst>
                                          <p:attrName>style.visibility</p:attrName>
                                        </p:attrNameLst>
                                      </p:cBhvr>
                                      <p:to>
                                        <p:strVal val="visible"/>
                                      </p:to>
                                    </p:set>
                                    <p:animEffect transition="in" filter="fade">
                                      <p:cBhvr>
                                        <p:cTn id="148" dur="400"/>
                                        <p:tgtEl>
                                          <p:spTgt spid="59"/>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60"/>
                                        </p:tgtEl>
                                        <p:attrNameLst>
                                          <p:attrName>style.visibility</p:attrName>
                                        </p:attrNameLst>
                                      </p:cBhvr>
                                      <p:to>
                                        <p:strVal val="visible"/>
                                      </p:to>
                                    </p:set>
                                    <p:animEffect transition="in" filter="fade">
                                      <p:cBhvr>
                                        <p:cTn id="153" dur="400"/>
                                        <p:tgtEl>
                                          <p:spTgt spid="60"/>
                                        </p:tgtEl>
                                      </p:cBhvr>
                                    </p:animEffect>
                                  </p:childTnLst>
                                </p:cTn>
                              </p:par>
                              <p:par>
                                <p:cTn id="154" presetID="10" presetClass="entr" presetSubtype="0" fill="hold" grpId="0" nodeType="clickEffect">
                                  <p:stCondLst>
                                    <p:cond delay="0"/>
                                  </p:stCondLst>
                                  <p:childTnLst>
                                    <p:set>
                                      <p:cBhvr>
                                        <p:cTn id="155" dur="1" fill="hold">
                                          <p:stCondLst>
                                            <p:cond delay="0"/>
                                          </p:stCondLst>
                                        </p:cTn>
                                        <p:tgtEl>
                                          <p:spTgt spid="61"/>
                                        </p:tgtEl>
                                        <p:attrNameLst>
                                          <p:attrName>style.visibility</p:attrName>
                                        </p:attrNameLst>
                                      </p:cBhvr>
                                      <p:to>
                                        <p:strVal val="visible"/>
                                      </p:to>
                                    </p:set>
                                    <p:animEffect transition="in" filter="fade">
                                      <p:cBhvr>
                                        <p:cTn id="156" dur="400"/>
                                        <p:tgtEl>
                                          <p:spTgt spid="61"/>
                                        </p:tgtEl>
                                      </p:cBhvr>
                                    </p:animEffect>
                                  </p:childTnLst>
                                </p:cTn>
                              </p:par>
                              <p:par>
                                <p:cTn id="157" presetID="10" presetClass="entr" presetSubtype="0" fill="hold" grpId="0" nodeType="clickEffect">
                                  <p:stCondLst>
                                    <p:cond delay="0"/>
                                  </p:stCondLst>
                                  <p:childTnLst>
                                    <p:set>
                                      <p:cBhvr>
                                        <p:cTn id="158" dur="1" fill="hold">
                                          <p:stCondLst>
                                            <p:cond delay="0"/>
                                          </p:stCondLst>
                                        </p:cTn>
                                        <p:tgtEl>
                                          <p:spTgt spid="62"/>
                                        </p:tgtEl>
                                        <p:attrNameLst>
                                          <p:attrName>style.visibility</p:attrName>
                                        </p:attrNameLst>
                                      </p:cBhvr>
                                      <p:to>
                                        <p:strVal val="visible"/>
                                      </p:to>
                                    </p:set>
                                    <p:animEffect transition="in" filter="fade">
                                      <p:cBhvr>
                                        <p:cTn id="159" dur="400"/>
                                        <p:tgtEl>
                                          <p:spTgt spid="62"/>
                                        </p:tgtEl>
                                      </p:cBhvr>
                                    </p:animEffect>
                                  </p:childTnLst>
                                </p:cTn>
                              </p:par>
                              <p:par>
                                <p:cTn id="160" presetID="10" presetClass="entr" presetSubtype="0" fill="hold" grpId="0" nodeType="clickEffect">
                                  <p:stCondLst>
                                    <p:cond delay="0"/>
                                  </p:stCondLst>
                                  <p:childTnLst>
                                    <p:set>
                                      <p:cBhvr>
                                        <p:cTn id="161" dur="1" fill="hold">
                                          <p:stCondLst>
                                            <p:cond delay="0"/>
                                          </p:stCondLst>
                                        </p:cTn>
                                        <p:tgtEl>
                                          <p:spTgt spid="63"/>
                                        </p:tgtEl>
                                        <p:attrNameLst>
                                          <p:attrName>style.visibility</p:attrName>
                                        </p:attrNameLst>
                                      </p:cBhvr>
                                      <p:to>
                                        <p:strVal val="visible"/>
                                      </p:to>
                                    </p:set>
                                    <p:animEffect transition="in" filter="fade">
                                      <p:cBhvr>
                                        <p:cTn id="162" dur="400"/>
                                        <p:tgtEl>
                                          <p:spTgt spid="63"/>
                                        </p:tgtEl>
                                      </p:cBhvr>
                                    </p:animEffect>
                                  </p:childTnLst>
                                </p:cTn>
                              </p:par>
                              <p:par>
                                <p:cTn id="163" presetID="10" presetClass="entr" presetSubtype="0" fill="hold" grpId="0" nodeType="clickEffect">
                                  <p:stCondLst>
                                    <p:cond delay="0"/>
                                  </p:stCondLst>
                                  <p:childTnLst>
                                    <p:set>
                                      <p:cBhvr>
                                        <p:cTn id="164" dur="1" fill="hold">
                                          <p:stCondLst>
                                            <p:cond delay="0"/>
                                          </p:stCondLst>
                                        </p:cTn>
                                        <p:tgtEl>
                                          <p:spTgt spid="64"/>
                                        </p:tgtEl>
                                        <p:attrNameLst>
                                          <p:attrName>style.visibility</p:attrName>
                                        </p:attrNameLst>
                                      </p:cBhvr>
                                      <p:to>
                                        <p:strVal val="visible"/>
                                      </p:to>
                                    </p:set>
                                    <p:animEffect transition="in" filter="fade">
                                      <p:cBhvr>
                                        <p:cTn id="165" dur="400"/>
                                        <p:tgtEl>
                                          <p:spTgt spid="64"/>
                                        </p:tgtEl>
                                      </p:cBhvr>
                                    </p:animEffect>
                                  </p:childTnLst>
                                </p:cTn>
                              </p:par>
                              <p:par>
                                <p:cTn id="166" presetID="10" presetClass="entr" presetSubtype="0" fill="hold" grpId="0" nodeType="clickEffect">
                                  <p:stCondLst>
                                    <p:cond delay="0"/>
                                  </p:stCondLst>
                                  <p:childTnLst>
                                    <p:set>
                                      <p:cBhvr>
                                        <p:cTn id="167" dur="1" fill="hold">
                                          <p:stCondLst>
                                            <p:cond delay="0"/>
                                          </p:stCondLst>
                                        </p:cTn>
                                        <p:tgtEl>
                                          <p:spTgt spid="65"/>
                                        </p:tgtEl>
                                        <p:attrNameLst>
                                          <p:attrName>style.visibility</p:attrName>
                                        </p:attrNameLst>
                                      </p:cBhvr>
                                      <p:to>
                                        <p:strVal val="visible"/>
                                      </p:to>
                                    </p:set>
                                    <p:animEffect transition="in" filter="fade">
                                      <p:cBhvr>
                                        <p:cTn id="168" dur="400"/>
                                        <p:tgtEl>
                                          <p:spTgt spid="65"/>
                                        </p:tgtEl>
                                      </p:cBhvr>
                                    </p:animEffect>
                                  </p:childTnLst>
                                </p:cTn>
                              </p:par>
                              <p:par>
                                <p:cTn id="169" presetID="10" presetClass="entr" presetSubtype="0" fill="hold" grpId="0" nodeType="clickEffect">
                                  <p:stCondLst>
                                    <p:cond delay="0"/>
                                  </p:stCondLst>
                                  <p:childTnLst>
                                    <p:set>
                                      <p:cBhvr>
                                        <p:cTn id="170" dur="1" fill="hold">
                                          <p:stCondLst>
                                            <p:cond delay="0"/>
                                          </p:stCondLst>
                                        </p:cTn>
                                        <p:tgtEl>
                                          <p:spTgt spid="66"/>
                                        </p:tgtEl>
                                        <p:attrNameLst>
                                          <p:attrName>style.visibility</p:attrName>
                                        </p:attrNameLst>
                                      </p:cBhvr>
                                      <p:to>
                                        <p:strVal val="visible"/>
                                      </p:to>
                                    </p:set>
                                    <p:animEffect transition="in" filter="fade">
                                      <p:cBhvr>
                                        <p:cTn id="171" dur="400"/>
                                        <p:tgtEl>
                                          <p:spTgt spid="66"/>
                                        </p:tgtEl>
                                      </p:cBhvr>
                                    </p:animEffect>
                                  </p:childTnLst>
                                </p:cTn>
                              </p:par>
                              <p:par>
                                <p:cTn id="172" presetID="10" presetClass="entr" presetSubtype="0" fill="hold" grpId="0" nodeType="clickEffect">
                                  <p:stCondLst>
                                    <p:cond delay="0"/>
                                  </p:stCondLst>
                                  <p:childTnLst>
                                    <p:set>
                                      <p:cBhvr>
                                        <p:cTn id="173" dur="1" fill="hold">
                                          <p:stCondLst>
                                            <p:cond delay="0"/>
                                          </p:stCondLst>
                                        </p:cTn>
                                        <p:tgtEl>
                                          <p:spTgt spid="67"/>
                                        </p:tgtEl>
                                        <p:attrNameLst>
                                          <p:attrName>style.visibility</p:attrName>
                                        </p:attrNameLst>
                                      </p:cBhvr>
                                      <p:to>
                                        <p:strVal val="visible"/>
                                      </p:to>
                                    </p:set>
                                    <p:animEffect transition="in" filter="fade">
                                      <p:cBhvr>
                                        <p:cTn id="174" dur="400"/>
                                        <p:tgtEl>
                                          <p:spTgt spid="67"/>
                                        </p:tgtEl>
                                      </p:cBhvr>
                                    </p:animEffect>
                                  </p:childTnLst>
                                </p:cTn>
                              </p:par>
                              <p:par>
                                <p:cTn id="175" presetID="10" presetClass="entr" presetSubtype="0" fill="hold" grpId="0" nodeType="clickEffect">
                                  <p:stCondLst>
                                    <p:cond delay="0"/>
                                  </p:stCondLst>
                                  <p:childTnLst>
                                    <p:set>
                                      <p:cBhvr>
                                        <p:cTn id="176" dur="1" fill="hold">
                                          <p:stCondLst>
                                            <p:cond delay="0"/>
                                          </p:stCondLst>
                                        </p:cTn>
                                        <p:tgtEl>
                                          <p:spTgt spid="68"/>
                                        </p:tgtEl>
                                        <p:attrNameLst>
                                          <p:attrName>style.visibility</p:attrName>
                                        </p:attrNameLst>
                                      </p:cBhvr>
                                      <p:to>
                                        <p:strVal val="visible"/>
                                      </p:to>
                                    </p:set>
                                    <p:animEffect transition="in" filter="fade">
                                      <p:cBhvr>
                                        <p:cTn id="177" dur="400"/>
                                        <p:tgtEl>
                                          <p:spTgt spid="68"/>
                                        </p:tgtEl>
                                      </p:cBhvr>
                                    </p:animEffect>
                                  </p:childTnLst>
                                </p:cTn>
                              </p:par>
                              <p:par>
                                <p:cTn id="178" presetID="10" presetClass="entr" presetSubtype="0" fill="hold" grpId="0" nodeType="clickEffect">
                                  <p:stCondLst>
                                    <p:cond delay="0"/>
                                  </p:stCondLst>
                                  <p:childTnLst>
                                    <p:set>
                                      <p:cBhvr>
                                        <p:cTn id="179" dur="1" fill="hold">
                                          <p:stCondLst>
                                            <p:cond delay="0"/>
                                          </p:stCondLst>
                                        </p:cTn>
                                        <p:tgtEl>
                                          <p:spTgt spid="69"/>
                                        </p:tgtEl>
                                        <p:attrNameLst>
                                          <p:attrName>style.visibility</p:attrName>
                                        </p:attrNameLst>
                                      </p:cBhvr>
                                      <p:to>
                                        <p:strVal val="visible"/>
                                      </p:to>
                                    </p:set>
                                    <p:animEffect transition="in" filter="fade">
                                      <p:cBhvr>
                                        <p:cTn id="180" dur="400"/>
                                        <p:tgtEl>
                                          <p:spTgt spid="69"/>
                                        </p:tgtEl>
                                      </p:cBhvr>
                                    </p:animEffect>
                                  </p:childTnLst>
                                </p:cTn>
                              </p:par>
                              <p:par>
                                <p:cTn id="181" presetID="10" presetClass="entr" presetSubtype="0" fill="hold" grpId="0" nodeType="clickEffect">
                                  <p:stCondLst>
                                    <p:cond delay="0"/>
                                  </p:stCondLst>
                                  <p:childTnLst>
                                    <p:set>
                                      <p:cBhvr>
                                        <p:cTn id="182" dur="1" fill="hold">
                                          <p:stCondLst>
                                            <p:cond delay="0"/>
                                          </p:stCondLst>
                                        </p:cTn>
                                        <p:tgtEl>
                                          <p:spTgt spid="70"/>
                                        </p:tgtEl>
                                        <p:attrNameLst>
                                          <p:attrName>style.visibility</p:attrName>
                                        </p:attrNameLst>
                                      </p:cBhvr>
                                      <p:to>
                                        <p:strVal val="visible"/>
                                      </p:to>
                                    </p:set>
                                    <p:animEffect transition="in" filter="fade">
                                      <p:cBhvr>
                                        <p:cTn id="183" dur="400"/>
                                        <p:tgtEl>
                                          <p:spTgt spid="70"/>
                                        </p:tgtEl>
                                      </p:cBhvr>
                                    </p:animEffect>
                                  </p:childTnLst>
                                </p:cTn>
                              </p:par>
                              <p:par>
                                <p:cTn id="184" presetID="10" presetClass="entr" presetSubtype="0" fill="hold" grpId="0" nodeType="clickEffect">
                                  <p:stCondLst>
                                    <p:cond delay="0"/>
                                  </p:stCondLst>
                                  <p:childTnLst>
                                    <p:set>
                                      <p:cBhvr>
                                        <p:cTn id="185" dur="1" fill="hold">
                                          <p:stCondLst>
                                            <p:cond delay="0"/>
                                          </p:stCondLst>
                                        </p:cTn>
                                        <p:tgtEl>
                                          <p:spTgt spid="71"/>
                                        </p:tgtEl>
                                        <p:attrNameLst>
                                          <p:attrName>style.visibility</p:attrName>
                                        </p:attrNameLst>
                                      </p:cBhvr>
                                      <p:to>
                                        <p:strVal val="visible"/>
                                      </p:to>
                                    </p:set>
                                    <p:animEffect transition="in" filter="fade">
                                      <p:cBhvr>
                                        <p:cTn id="186" dur="400"/>
                                        <p:tgtEl>
                                          <p:spTgt spid="71"/>
                                        </p:tgtEl>
                                      </p:cBhvr>
                                    </p:animEffect>
                                  </p:childTnLst>
                                </p:cTn>
                              </p:par>
                              <p:par>
                                <p:cTn id="187" presetID="10" presetClass="entr" presetSubtype="0" fill="hold" grpId="0" nodeType="clickEffect">
                                  <p:stCondLst>
                                    <p:cond delay="0"/>
                                  </p:stCondLst>
                                  <p:childTnLst>
                                    <p:set>
                                      <p:cBhvr>
                                        <p:cTn id="188" dur="1" fill="hold">
                                          <p:stCondLst>
                                            <p:cond delay="0"/>
                                          </p:stCondLst>
                                        </p:cTn>
                                        <p:tgtEl>
                                          <p:spTgt spid="72"/>
                                        </p:tgtEl>
                                        <p:attrNameLst>
                                          <p:attrName>style.visibility</p:attrName>
                                        </p:attrNameLst>
                                      </p:cBhvr>
                                      <p:to>
                                        <p:strVal val="visible"/>
                                      </p:to>
                                    </p:set>
                                    <p:animEffect transition="in" filter="fade">
                                      <p:cBhvr>
                                        <p:cTn id="189" dur="400"/>
                                        <p:tgtEl>
                                          <p:spTgt spid="72"/>
                                        </p:tgtEl>
                                      </p:cBhvr>
                                    </p:animEffect>
                                  </p:childTnLst>
                                </p:cTn>
                              </p:par>
                              <p:par>
                                <p:cTn id="190" presetID="10" presetClass="entr" presetSubtype="0" fill="hold" grpId="0" nodeType="clickEffect">
                                  <p:stCondLst>
                                    <p:cond delay="0"/>
                                  </p:stCondLst>
                                  <p:childTnLst>
                                    <p:set>
                                      <p:cBhvr>
                                        <p:cTn id="191" dur="1" fill="hold">
                                          <p:stCondLst>
                                            <p:cond delay="0"/>
                                          </p:stCondLst>
                                        </p:cTn>
                                        <p:tgtEl>
                                          <p:spTgt spid="73"/>
                                        </p:tgtEl>
                                        <p:attrNameLst>
                                          <p:attrName>style.visibility</p:attrName>
                                        </p:attrNameLst>
                                      </p:cBhvr>
                                      <p:to>
                                        <p:strVal val="visible"/>
                                      </p:to>
                                    </p:set>
                                    <p:animEffect transition="in" filter="fade">
                                      <p:cBhvr>
                                        <p:cTn id="192" dur="400"/>
                                        <p:tgtEl>
                                          <p:spTgt spid="73"/>
                                        </p:tgtEl>
                                      </p:cBhvr>
                                    </p:animEffect>
                                  </p:childTnLst>
                                </p:cTn>
                              </p:par>
                              <p:par>
                                <p:cTn id="193" presetID="10" presetClass="entr" presetSubtype="0" fill="hold" grpId="0" nodeType="clickEffect">
                                  <p:stCondLst>
                                    <p:cond delay="0"/>
                                  </p:stCondLst>
                                  <p:childTnLst>
                                    <p:set>
                                      <p:cBhvr>
                                        <p:cTn id="194" dur="1" fill="hold">
                                          <p:stCondLst>
                                            <p:cond delay="0"/>
                                          </p:stCondLst>
                                        </p:cTn>
                                        <p:tgtEl>
                                          <p:spTgt spid="74"/>
                                        </p:tgtEl>
                                        <p:attrNameLst>
                                          <p:attrName>style.visibility</p:attrName>
                                        </p:attrNameLst>
                                      </p:cBhvr>
                                      <p:to>
                                        <p:strVal val="visible"/>
                                      </p:to>
                                    </p:set>
                                    <p:animEffect transition="in" filter="fade">
                                      <p:cBhvr>
                                        <p:cTn id="195" dur="400"/>
                                        <p:tgtEl>
                                          <p:spTgt spid="74"/>
                                        </p:tgtEl>
                                      </p:cBhvr>
                                    </p:animEffect>
                                  </p:childTnLst>
                                </p:cTn>
                              </p:par>
                              <p:par>
                                <p:cTn id="196" presetID="10" presetClass="entr" presetSubtype="0" fill="hold" grpId="0" nodeType="clickEffect">
                                  <p:stCondLst>
                                    <p:cond delay="0"/>
                                  </p:stCondLst>
                                  <p:childTnLst>
                                    <p:set>
                                      <p:cBhvr>
                                        <p:cTn id="197" dur="1" fill="hold">
                                          <p:stCondLst>
                                            <p:cond delay="0"/>
                                          </p:stCondLst>
                                        </p:cTn>
                                        <p:tgtEl>
                                          <p:spTgt spid="75"/>
                                        </p:tgtEl>
                                        <p:attrNameLst>
                                          <p:attrName>style.visibility</p:attrName>
                                        </p:attrNameLst>
                                      </p:cBhvr>
                                      <p:to>
                                        <p:strVal val="visible"/>
                                      </p:to>
                                    </p:set>
                                    <p:animEffect transition="in" filter="fade">
                                      <p:cBhvr>
                                        <p:cTn id="198" dur="400"/>
                                        <p:tgtEl>
                                          <p:spTgt spid="75"/>
                                        </p:tgtEl>
                                      </p:cBhvr>
                                    </p:animEffect>
                                  </p:childTnLst>
                                </p:cTn>
                              </p:par>
                              <p:par>
                                <p:cTn id="199" presetID="10" presetClass="entr" presetSubtype="0" fill="hold" grpId="0" nodeType="clickEffect">
                                  <p:stCondLst>
                                    <p:cond delay="0"/>
                                  </p:stCondLst>
                                  <p:childTnLst>
                                    <p:set>
                                      <p:cBhvr>
                                        <p:cTn id="200" dur="1" fill="hold">
                                          <p:stCondLst>
                                            <p:cond delay="0"/>
                                          </p:stCondLst>
                                        </p:cTn>
                                        <p:tgtEl>
                                          <p:spTgt spid="76"/>
                                        </p:tgtEl>
                                        <p:attrNameLst>
                                          <p:attrName>style.visibility</p:attrName>
                                        </p:attrNameLst>
                                      </p:cBhvr>
                                      <p:to>
                                        <p:strVal val="visible"/>
                                      </p:to>
                                    </p:set>
                                    <p:animEffect transition="in" filter="fade">
                                      <p:cBhvr>
                                        <p:cTn id="201" dur="400"/>
                                        <p:tgtEl>
                                          <p:spTgt spid="76"/>
                                        </p:tgtEl>
                                      </p:cBhvr>
                                    </p:animEffect>
                                  </p:childTnLst>
                                </p:cTn>
                              </p:par>
                              <p:par>
                                <p:cTn id="202" presetID="10" presetClass="entr" presetSubtype="0" fill="hold" grpId="0" nodeType="clickEffect">
                                  <p:stCondLst>
                                    <p:cond delay="0"/>
                                  </p:stCondLst>
                                  <p:childTnLst>
                                    <p:set>
                                      <p:cBhvr>
                                        <p:cTn id="203" dur="1" fill="hold">
                                          <p:stCondLst>
                                            <p:cond delay="0"/>
                                          </p:stCondLst>
                                        </p:cTn>
                                        <p:tgtEl>
                                          <p:spTgt spid="77"/>
                                        </p:tgtEl>
                                        <p:attrNameLst>
                                          <p:attrName>style.visibility</p:attrName>
                                        </p:attrNameLst>
                                      </p:cBhvr>
                                      <p:to>
                                        <p:strVal val="visible"/>
                                      </p:to>
                                    </p:set>
                                    <p:animEffect transition="in" filter="fade">
                                      <p:cBhvr>
                                        <p:cTn id="204" dur="400"/>
                                        <p:tgtEl>
                                          <p:spTgt spid="77"/>
                                        </p:tgtEl>
                                      </p:cBhvr>
                                    </p:animEffect>
                                  </p:childTnLst>
                                </p:cTn>
                              </p:par>
                              <p:par>
                                <p:cTn id="205" presetID="10" presetClass="entr" presetSubtype="0" fill="hold" grpId="0" nodeType="clickEffect">
                                  <p:stCondLst>
                                    <p:cond delay="0"/>
                                  </p:stCondLst>
                                  <p:childTnLst>
                                    <p:set>
                                      <p:cBhvr>
                                        <p:cTn id="206" dur="1" fill="hold">
                                          <p:stCondLst>
                                            <p:cond delay="0"/>
                                          </p:stCondLst>
                                        </p:cTn>
                                        <p:tgtEl>
                                          <p:spTgt spid="78"/>
                                        </p:tgtEl>
                                        <p:attrNameLst>
                                          <p:attrName>style.visibility</p:attrName>
                                        </p:attrNameLst>
                                      </p:cBhvr>
                                      <p:to>
                                        <p:strVal val="visible"/>
                                      </p:to>
                                    </p:set>
                                    <p:animEffect transition="in" filter="fade">
                                      <p:cBhvr>
                                        <p:cTn id="207" dur="400"/>
                                        <p:tgtEl>
                                          <p:spTgt spid="78"/>
                                        </p:tgtEl>
                                      </p:cBhvr>
                                    </p:animEffect>
                                  </p:childTnLst>
                                </p:cTn>
                              </p:par>
                              <p:par>
                                <p:cTn id="208" presetID="10" presetClass="entr" presetSubtype="0" fill="hold" grpId="0" nodeType="clickEffect">
                                  <p:stCondLst>
                                    <p:cond delay="0"/>
                                  </p:stCondLst>
                                  <p:childTnLst>
                                    <p:set>
                                      <p:cBhvr>
                                        <p:cTn id="209" dur="1" fill="hold">
                                          <p:stCondLst>
                                            <p:cond delay="0"/>
                                          </p:stCondLst>
                                        </p:cTn>
                                        <p:tgtEl>
                                          <p:spTgt spid="79"/>
                                        </p:tgtEl>
                                        <p:attrNameLst>
                                          <p:attrName>style.visibility</p:attrName>
                                        </p:attrNameLst>
                                      </p:cBhvr>
                                      <p:to>
                                        <p:strVal val="visible"/>
                                      </p:to>
                                    </p:set>
                                    <p:animEffect transition="in" filter="fade">
                                      <p:cBhvr>
                                        <p:cTn id="210" dur="400"/>
                                        <p:tgtEl>
                                          <p:spTgt spid="79"/>
                                        </p:tgtEl>
                                      </p:cBhvr>
                                    </p:animEffect>
                                  </p:childTnLst>
                                </p:cTn>
                              </p:par>
                              <p:par>
                                <p:cTn id="211" presetID="10" presetClass="entr" presetSubtype="0" fill="hold" grpId="0" nodeType="clickEffect">
                                  <p:stCondLst>
                                    <p:cond delay="0"/>
                                  </p:stCondLst>
                                  <p:childTnLst>
                                    <p:set>
                                      <p:cBhvr>
                                        <p:cTn id="212" dur="1" fill="hold">
                                          <p:stCondLst>
                                            <p:cond delay="0"/>
                                          </p:stCondLst>
                                        </p:cTn>
                                        <p:tgtEl>
                                          <p:spTgt spid="80"/>
                                        </p:tgtEl>
                                        <p:attrNameLst>
                                          <p:attrName>style.visibility</p:attrName>
                                        </p:attrNameLst>
                                      </p:cBhvr>
                                      <p:to>
                                        <p:strVal val="visible"/>
                                      </p:to>
                                    </p:set>
                                    <p:animEffect transition="in" filter="fade">
                                      <p:cBhvr>
                                        <p:cTn id="213" dur="400"/>
                                        <p:tgtEl>
                                          <p:spTgt spid="80"/>
                                        </p:tgtEl>
                                      </p:cBhvr>
                                    </p:animEffect>
                                  </p:childTnLst>
                                </p:cTn>
                              </p:par>
                              <p:par>
                                <p:cTn id="214" presetID="10" presetClass="entr" presetSubtype="0" fill="hold" grpId="0" nodeType="clickEffect">
                                  <p:stCondLst>
                                    <p:cond delay="0"/>
                                  </p:stCondLst>
                                  <p:childTnLst>
                                    <p:set>
                                      <p:cBhvr>
                                        <p:cTn id="215" dur="1" fill="hold">
                                          <p:stCondLst>
                                            <p:cond delay="0"/>
                                          </p:stCondLst>
                                        </p:cTn>
                                        <p:tgtEl>
                                          <p:spTgt spid="81"/>
                                        </p:tgtEl>
                                        <p:attrNameLst>
                                          <p:attrName>style.visibility</p:attrName>
                                        </p:attrNameLst>
                                      </p:cBhvr>
                                      <p:to>
                                        <p:strVal val="visible"/>
                                      </p:to>
                                    </p:set>
                                    <p:animEffect transition="in" filter="fade">
                                      <p:cBhvr>
                                        <p:cTn id="216" dur="400"/>
                                        <p:tgtEl>
                                          <p:spTgt spid="81"/>
                                        </p:tgtEl>
                                      </p:cBhvr>
                                    </p:animEffect>
                                  </p:childTnLst>
                                </p:cTn>
                              </p:par>
                              <p:par>
                                <p:cTn id="217" presetID="10" presetClass="entr" presetSubtype="0" fill="hold" grpId="0" nodeType="clickEffect">
                                  <p:stCondLst>
                                    <p:cond delay="0"/>
                                  </p:stCondLst>
                                  <p:childTnLst>
                                    <p:set>
                                      <p:cBhvr>
                                        <p:cTn id="218" dur="1" fill="hold">
                                          <p:stCondLst>
                                            <p:cond delay="0"/>
                                          </p:stCondLst>
                                        </p:cTn>
                                        <p:tgtEl>
                                          <p:spTgt spid="82"/>
                                        </p:tgtEl>
                                        <p:attrNameLst>
                                          <p:attrName>style.visibility</p:attrName>
                                        </p:attrNameLst>
                                      </p:cBhvr>
                                      <p:to>
                                        <p:strVal val="visible"/>
                                      </p:to>
                                    </p:set>
                                    <p:animEffect transition="in" filter="fade">
                                      <p:cBhvr>
                                        <p:cTn id="219" dur="400"/>
                                        <p:tgtEl>
                                          <p:spTgt spid="82"/>
                                        </p:tgtEl>
                                      </p:cBhvr>
                                    </p:animEffect>
                                  </p:childTnLst>
                                </p:cTn>
                              </p:par>
                              <p:par>
                                <p:cTn id="220" presetID="10" presetClass="entr" presetSubtype="0" fill="hold" grpId="0" nodeType="clickEffect">
                                  <p:stCondLst>
                                    <p:cond delay="0"/>
                                  </p:stCondLst>
                                  <p:childTnLst>
                                    <p:set>
                                      <p:cBhvr>
                                        <p:cTn id="221" dur="1" fill="hold">
                                          <p:stCondLst>
                                            <p:cond delay="0"/>
                                          </p:stCondLst>
                                        </p:cTn>
                                        <p:tgtEl>
                                          <p:spTgt spid="83"/>
                                        </p:tgtEl>
                                        <p:attrNameLst>
                                          <p:attrName>style.visibility</p:attrName>
                                        </p:attrNameLst>
                                      </p:cBhvr>
                                      <p:to>
                                        <p:strVal val="visible"/>
                                      </p:to>
                                    </p:set>
                                    <p:animEffect transition="in" filter="fade">
                                      <p:cBhvr>
                                        <p:cTn id="222" dur="400"/>
                                        <p:tgtEl>
                                          <p:spTgt spid="83"/>
                                        </p:tgtEl>
                                      </p:cBhvr>
                                    </p:animEffect>
                                  </p:childTnLst>
                                </p:cTn>
                              </p:par>
                              <p:par>
                                <p:cTn id="223" presetID="10" presetClass="entr" presetSubtype="0" fill="hold" grpId="0" nodeType="clickEffect">
                                  <p:stCondLst>
                                    <p:cond delay="0"/>
                                  </p:stCondLst>
                                  <p:childTnLst>
                                    <p:set>
                                      <p:cBhvr>
                                        <p:cTn id="224" dur="1" fill="hold">
                                          <p:stCondLst>
                                            <p:cond delay="0"/>
                                          </p:stCondLst>
                                        </p:cTn>
                                        <p:tgtEl>
                                          <p:spTgt spid="84"/>
                                        </p:tgtEl>
                                        <p:attrNameLst>
                                          <p:attrName>style.visibility</p:attrName>
                                        </p:attrNameLst>
                                      </p:cBhvr>
                                      <p:to>
                                        <p:strVal val="visible"/>
                                      </p:to>
                                    </p:set>
                                    <p:animEffect transition="in" filter="fade">
                                      <p:cBhvr>
                                        <p:cTn id="225" dur="400"/>
                                        <p:tgtEl>
                                          <p:spTgt spid="84"/>
                                        </p:tgtEl>
                                      </p:cBhvr>
                                    </p:animEffect>
                                  </p:childTnLst>
                                </p:cTn>
                              </p:par>
                              <p:par>
                                <p:cTn id="226" presetID="10" presetClass="entr" presetSubtype="0" fill="hold" grpId="0" nodeType="clickEffect">
                                  <p:stCondLst>
                                    <p:cond delay="0"/>
                                  </p:stCondLst>
                                  <p:childTnLst>
                                    <p:set>
                                      <p:cBhvr>
                                        <p:cTn id="227" dur="1" fill="hold">
                                          <p:stCondLst>
                                            <p:cond delay="0"/>
                                          </p:stCondLst>
                                        </p:cTn>
                                        <p:tgtEl>
                                          <p:spTgt spid="85"/>
                                        </p:tgtEl>
                                        <p:attrNameLst>
                                          <p:attrName>style.visibility</p:attrName>
                                        </p:attrNameLst>
                                      </p:cBhvr>
                                      <p:to>
                                        <p:strVal val="visible"/>
                                      </p:to>
                                    </p:set>
                                    <p:animEffect transition="in" filter="fade">
                                      <p:cBhvr>
                                        <p:cTn id="228" dur="400"/>
                                        <p:tgtEl>
                                          <p:spTgt spid="85"/>
                                        </p:tgtEl>
                                      </p:cBhvr>
                                    </p:animEffect>
                                  </p:childTnLst>
                                </p:cTn>
                              </p:par>
                              <p:par>
                                <p:cTn id="229" presetID="10" presetClass="entr" presetSubtype="0" fill="hold" grpId="0" nodeType="clickEffect">
                                  <p:stCondLst>
                                    <p:cond delay="0"/>
                                  </p:stCondLst>
                                  <p:childTnLst>
                                    <p:set>
                                      <p:cBhvr>
                                        <p:cTn id="230" dur="1" fill="hold">
                                          <p:stCondLst>
                                            <p:cond delay="0"/>
                                          </p:stCondLst>
                                        </p:cTn>
                                        <p:tgtEl>
                                          <p:spTgt spid="86"/>
                                        </p:tgtEl>
                                        <p:attrNameLst>
                                          <p:attrName>style.visibility</p:attrName>
                                        </p:attrNameLst>
                                      </p:cBhvr>
                                      <p:to>
                                        <p:strVal val="visible"/>
                                      </p:to>
                                    </p:set>
                                    <p:animEffect transition="in" filter="fade">
                                      <p:cBhvr>
                                        <p:cTn id="231" dur="400"/>
                                        <p:tgtEl>
                                          <p:spTgt spid="86"/>
                                        </p:tgtEl>
                                      </p:cBhvr>
                                    </p:animEffect>
                                  </p:childTnLst>
                                </p:cTn>
                              </p:par>
                              <p:par>
                                <p:cTn id="232" presetID="10" presetClass="entr" presetSubtype="0" fill="hold" grpId="0" nodeType="clickEffect">
                                  <p:stCondLst>
                                    <p:cond delay="0"/>
                                  </p:stCondLst>
                                  <p:childTnLst>
                                    <p:set>
                                      <p:cBhvr>
                                        <p:cTn id="233" dur="1" fill="hold">
                                          <p:stCondLst>
                                            <p:cond delay="0"/>
                                          </p:stCondLst>
                                        </p:cTn>
                                        <p:tgtEl>
                                          <p:spTgt spid="87"/>
                                        </p:tgtEl>
                                        <p:attrNameLst>
                                          <p:attrName>style.visibility</p:attrName>
                                        </p:attrNameLst>
                                      </p:cBhvr>
                                      <p:to>
                                        <p:strVal val="visible"/>
                                      </p:to>
                                    </p:set>
                                    <p:animEffect transition="in" filter="fade">
                                      <p:cBhvr>
                                        <p:cTn id="234" dur="400"/>
                                        <p:tgtEl>
                                          <p:spTgt spid="87"/>
                                        </p:tgtEl>
                                      </p:cBhvr>
                                    </p:animEffect>
                                  </p:childTnLst>
                                </p:cTn>
                              </p:par>
                              <p:par>
                                <p:cTn id="235" presetID="10" presetClass="entr" presetSubtype="0" fill="hold" grpId="0" nodeType="clickEffect">
                                  <p:stCondLst>
                                    <p:cond delay="0"/>
                                  </p:stCondLst>
                                  <p:childTnLst>
                                    <p:set>
                                      <p:cBhvr>
                                        <p:cTn id="236" dur="1" fill="hold">
                                          <p:stCondLst>
                                            <p:cond delay="0"/>
                                          </p:stCondLst>
                                        </p:cTn>
                                        <p:tgtEl>
                                          <p:spTgt spid="88"/>
                                        </p:tgtEl>
                                        <p:attrNameLst>
                                          <p:attrName>style.visibility</p:attrName>
                                        </p:attrNameLst>
                                      </p:cBhvr>
                                      <p:to>
                                        <p:strVal val="visible"/>
                                      </p:to>
                                    </p:set>
                                    <p:animEffect transition="in" filter="fade">
                                      <p:cBhvr>
                                        <p:cTn id="237" dur="400"/>
                                        <p:tgtEl>
                                          <p:spTgt spid="88"/>
                                        </p:tgtEl>
                                      </p:cBhvr>
                                    </p:animEffect>
                                  </p:childTnLst>
                                </p:cTn>
                              </p:par>
                              <p:par>
                                <p:cTn id="238" presetID="10" presetClass="entr" presetSubtype="0" fill="hold" grpId="0" nodeType="clickEffect">
                                  <p:stCondLst>
                                    <p:cond delay="0"/>
                                  </p:stCondLst>
                                  <p:childTnLst>
                                    <p:set>
                                      <p:cBhvr>
                                        <p:cTn id="239" dur="1" fill="hold">
                                          <p:stCondLst>
                                            <p:cond delay="0"/>
                                          </p:stCondLst>
                                        </p:cTn>
                                        <p:tgtEl>
                                          <p:spTgt spid="89"/>
                                        </p:tgtEl>
                                        <p:attrNameLst>
                                          <p:attrName>style.visibility</p:attrName>
                                        </p:attrNameLst>
                                      </p:cBhvr>
                                      <p:to>
                                        <p:strVal val="visible"/>
                                      </p:to>
                                    </p:set>
                                    <p:animEffect transition="in" filter="fade">
                                      <p:cBhvr>
                                        <p:cTn id="240" dur="400"/>
                                        <p:tgtEl>
                                          <p:spTgt spid="89"/>
                                        </p:tgtEl>
                                      </p:cBhvr>
                                    </p:animEffect>
                                  </p:childTnLst>
                                </p:cTn>
                              </p:par>
                              <p:par>
                                <p:cTn id="241" presetID="10" presetClass="entr" presetSubtype="0" fill="hold" grpId="0" nodeType="clickEffect">
                                  <p:stCondLst>
                                    <p:cond delay="0"/>
                                  </p:stCondLst>
                                  <p:childTnLst>
                                    <p:set>
                                      <p:cBhvr>
                                        <p:cTn id="242" dur="1" fill="hold">
                                          <p:stCondLst>
                                            <p:cond delay="0"/>
                                          </p:stCondLst>
                                        </p:cTn>
                                        <p:tgtEl>
                                          <p:spTgt spid="90"/>
                                        </p:tgtEl>
                                        <p:attrNameLst>
                                          <p:attrName>style.visibility</p:attrName>
                                        </p:attrNameLst>
                                      </p:cBhvr>
                                      <p:to>
                                        <p:strVal val="visible"/>
                                      </p:to>
                                    </p:set>
                                    <p:animEffect transition="in" filter="fade">
                                      <p:cBhvr>
                                        <p:cTn id="243" dur="400"/>
                                        <p:tgtEl>
                                          <p:spTgt spid="90"/>
                                        </p:tgtEl>
                                      </p:cBhvr>
                                    </p:animEffect>
                                  </p:childTnLst>
                                </p:cTn>
                              </p:par>
                              <p:par>
                                <p:cTn id="244" presetID="10" presetClass="entr" presetSubtype="0" fill="hold" grpId="0" nodeType="clickEffect">
                                  <p:stCondLst>
                                    <p:cond delay="0"/>
                                  </p:stCondLst>
                                  <p:childTnLst>
                                    <p:set>
                                      <p:cBhvr>
                                        <p:cTn id="245" dur="1" fill="hold">
                                          <p:stCondLst>
                                            <p:cond delay="0"/>
                                          </p:stCondLst>
                                        </p:cTn>
                                        <p:tgtEl>
                                          <p:spTgt spid="91"/>
                                        </p:tgtEl>
                                        <p:attrNameLst>
                                          <p:attrName>style.visibility</p:attrName>
                                        </p:attrNameLst>
                                      </p:cBhvr>
                                      <p:to>
                                        <p:strVal val="visible"/>
                                      </p:to>
                                    </p:set>
                                    <p:animEffect transition="in" filter="fade">
                                      <p:cBhvr>
                                        <p:cTn id="246" dur="400"/>
                                        <p:tgtEl>
                                          <p:spTgt spid="91"/>
                                        </p:tgtEl>
                                      </p:cBhvr>
                                    </p:animEffect>
                                  </p:childTnLst>
                                </p:cTn>
                              </p:par>
                              <p:par>
                                <p:cTn id="247" presetID="10" presetClass="entr" presetSubtype="0" fill="hold" grpId="0" nodeType="clickEffect">
                                  <p:stCondLst>
                                    <p:cond delay="0"/>
                                  </p:stCondLst>
                                  <p:childTnLst>
                                    <p:set>
                                      <p:cBhvr>
                                        <p:cTn id="248" dur="1" fill="hold">
                                          <p:stCondLst>
                                            <p:cond delay="0"/>
                                          </p:stCondLst>
                                        </p:cTn>
                                        <p:tgtEl>
                                          <p:spTgt spid="92"/>
                                        </p:tgtEl>
                                        <p:attrNameLst>
                                          <p:attrName>style.visibility</p:attrName>
                                        </p:attrNameLst>
                                      </p:cBhvr>
                                      <p:to>
                                        <p:strVal val="visible"/>
                                      </p:to>
                                    </p:set>
                                    <p:animEffect transition="in" filter="fade">
                                      <p:cBhvr>
                                        <p:cTn id="249" dur="400"/>
                                        <p:tgtEl>
                                          <p:spTgt spid="92"/>
                                        </p:tgtEl>
                                      </p:cBhvr>
                                    </p:animEffect>
                                  </p:childTnLst>
                                </p:cTn>
                              </p:par>
                              <p:par>
                                <p:cTn id="250" presetID="10" presetClass="entr" presetSubtype="0" fill="hold" grpId="0" nodeType="clickEffect">
                                  <p:stCondLst>
                                    <p:cond delay="0"/>
                                  </p:stCondLst>
                                  <p:childTnLst>
                                    <p:set>
                                      <p:cBhvr>
                                        <p:cTn id="251" dur="1" fill="hold">
                                          <p:stCondLst>
                                            <p:cond delay="0"/>
                                          </p:stCondLst>
                                        </p:cTn>
                                        <p:tgtEl>
                                          <p:spTgt spid="93"/>
                                        </p:tgtEl>
                                        <p:attrNameLst>
                                          <p:attrName>style.visibility</p:attrName>
                                        </p:attrNameLst>
                                      </p:cBhvr>
                                      <p:to>
                                        <p:strVal val="visible"/>
                                      </p:to>
                                    </p:set>
                                    <p:animEffect transition="in" filter="fade">
                                      <p:cBhvr>
                                        <p:cTn id="252" dur="400"/>
                                        <p:tgtEl>
                                          <p:spTgt spid="93"/>
                                        </p:tgtEl>
                                      </p:cBhvr>
                                    </p:animEffect>
                                  </p:childTnLst>
                                </p:cTn>
                              </p:par>
                              <p:par>
                                <p:cTn id="253" presetID="10" presetClass="entr" presetSubtype="0" fill="hold" grpId="0" nodeType="clickEffect">
                                  <p:stCondLst>
                                    <p:cond delay="0"/>
                                  </p:stCondLst>
                                  <p:childTnLst>
                                    <p:set>
                                      <p:cBhvr>
                                        <p:cTn id="254" dur="1" fill="hold">
                                          <p:stCondLst>
                                            <p:cond delay="0"/>
                                          </p:stCondLst>
                                        </p:cTn>
                                        <p:tgtEl>
                                          <p:spTgt spid="94"/>
                                        </p:tgtEl>
                                        <p:attrNameLst>
                                          <p:attrName>style.visibility</p:attrName>
                                        </p:attrNameLst>
                                      </p:cBhvr>
                                      <p:to>
                                        <p:strVal val="visible"/>
                                      </p:to>
                                    </p:set>
                                    <p:animEffect transition="in" filter="fade">
                                      <p:cBhvr>
                                        <p:cTn id="255" dur="400"/>
                                        <p:tgtEl>
                                          <p:spTgt spid="94"/>
                                        </p:tgtEl>
                                      </p:cBhvr>
                                    </p:animEffect>
                                  </p:childTnLst>
                                </p:cTn>
                              </p:par>
                              <p:par>
                                <p:cTn id="256" presetID="10" presetClass="entr" presetSubtype="0" fill="hold" grpId="0" nodeType="clickEffect">
                                  <p:stCondLst>
                                    <p:cond delay="0"/>
                                  </p:stCondLst>
                                  <p:childTnLst>
                                    <p:set>
                                      <p:cBhvr>
                                        <p:cTn id="257" dur="1" fill="hold">
                                          <p:stCondLst>
                                            <p:cond delay="0"/>
                                          </p:stCondLst>
                                        </p:cTn>
                                        <p:tgtEl>
                                          <p:spTgt spid="95"/>
                                        </p:tgtEl>
                                        <p:attrNameLst>
                                          <p:attrName>style.visibility</p:attrName>
                                        </p:attrNameLst>
                                      </p:cBhvr>
                                      <p:to>
                                        <p:strVal val="visible"/>
                                      </p:to>
                                    </p:set>
                                    <p:animEffect transition="in" filter="fade">
                                      <p:cBhvr>
                                        <p:cTn id="258" dur="400"/>
                                        <p:tgtEl>
                                          <p:spTgt spid="95"/>
                                        </p:tgtEl>
                                      </p:cBhvr>
                                    </p:animEffect>
                                  </p:childTnLst>
                                </p:cTn>
                              </p:par>
                              <p:par>
                                <p:cTn id="259" presetID="10" presetClass="entr" presetSubtype="0" fill="hold" grpId="0" nodeType="clickEffect">
                                  <p:stCondLst>
                                    <p:cond delay="0"/>
                                  </p:stCondLst>
                                  <p:childTnLst>
                                    <p:set>
                                      <p:cBhvr>
                                        <p:cTn id="260" dur="1" fill="hold">
                                          <p:stCondLst>
                                            <p:cond delay="0"/>
                                          </p:stCondLst>
                                        </p:cTn>
                                        <p:tgtEl>
                                          <p:spTgt spid="96"/>
                                        </p:tgtEl>
                                        <p:attrNameLst>
                                          <p:attrName>style.visibility</p:attrName>
                                        </p:attrNameLst>
                                      </p:cBhvr>
                                      <p:to>
                                        <p:strVal val="visible"/>
                                      </p:to>
                                    </p:set>
                                    <p:animEffect transition="in" filter="fade">
                                      <p:cBhvr>
                                        <p:cTn id="261" dur="400"/>
                                        <p:tgtEl>
                                          <p:spTgt spid="96"/>
                                        </p:tgtEl>
                                      </p:cBhvr>
                                    </p:animEffect>
                                  </p:childTnLst>
                                </p:cTn>
                              </p:par>
                              <p:par>
                                <p:cTn id="262" presetID="10" presetClass="entr" presetSubtype="0" fill="hold" grpId="0" nodeType="clickEffect">
                                  <p:stCondLst>
                                    <p:cond delay="0"/>
                                  </p:stCondLst>
                                  <p:childTnLst>
                                    <p:set>
                                      <p:cBhvr>
                                        <p:cTn id="263" dur="1" fill="hold">
                                          <p:stCondLst>
                                            <p:cond delay="0"/>
                                          </p:stCondLst>
                                        </p:cTn>
                                        <p:tgtEl>
                                          <p:spTgt spid="97"/>
                                        </p:tgtEl>
                                        <p:attrNameLst>
                                          <p:attrName>style.visibility</p:attrName>
                                        </p:attrNameLst>
                                      </p:cBhvr>
                                      <p:to>
                                        <p:strVal val="visible"/>
                                      </p:to>
                                    </p:set>
                                    <p:animEffect transition="in" filter="fade">
                                      <p:cBhvr>
                                        <p:cTn id="264" dur="400"/>
                                        <p:tgtEl>
                                          <p:spTgt spid="97"/>
                                        </p:tgtEl>
                                      </p:cBhvr>
                                    </p:animEffect>
                                  </p:childTnLst>
                                </p:cTn>
                              </p:par>
                              <p:par>
                                <p:cTn id="265" presetID="10" presetClass="entr" presetSubtype="0" fill="hold" grpId="0" nodeType="clickEffect">
                                  <p:stCondLst>
                                    <p:cond delay="0"/>
                                  </p:stCondLst>
                                  <p:childTnLst>
                                    <p:set>
                                      <p:cBhvr>
                                        <p:cTn id="266" dur="1" fill="hold">
                                          <p:stCondLst>
                                            <p:cond delay="0"/>
                                          </p:stCondLst>
                                        </p:cTn>
                                        <p:tgtEl>
                                          <p:spTgt spid="98"/>
                                        </p:tgtEl>
                                        <p:attrNameLst>
                                          <p:attrName>style.visibility</p:attrName>
                                        </p:attrNameLst>
                                      </p:cBhvr>
                                      <p:to>
                                        <p:strVal val="visible"/>
                                      </p:to>
                                    </p:set>
                                    <p:animEffect transition="in" filter="fade">
                                      <p:cBhvr>
                                        <p:cTn id="267" dur="400"/>
                                        <p:tgtEl>
                                          <p:spTgt spid="98"/>
                                        </p:tgtEl>
                                      </p:cBhvr>
                                    </p:animEffect>
                                  </p:childTnLst>
                                </p:cTn>
                              </p:par>
                              <p:par>
                                <p:cTn id="268" presetID="10" presetClass="entr" presetSubtype="0" fill="hold" grpId="0" nodeType="clickEffect">
                                  <p:stCondLst>
                                    <p:cond delay="0"/>
                                  </p:stCondLst>
                                  <p:childTnLst>
                                    <p:set>
                                      <p:cBhvr>
                                        <p:cTn id="269" dur="1" fill="hold">
                                          <p:stCondLst>
                                            <p:cond delay="0"/>
                                          </p:stCondLst>
                                        </p:cTn>
                                        <p:tgtEl>
                                          <p:spTgt spid="99"/>
                                        </p:tgtEl>
                                        <p:attrNameLst>
                                          <p:attrName>style.visibility</p:attrName>
                                        </p:attrNameLst>
                                      </p:cBhvr>
                                      <p:to>
                                        <p:strVal val="visible"/>
                                      </p:to>
                                    </p:set>
                                    <p:animEffect transition="in" filter="fade">
                                      <p:cBhvr>
                                        <p:cTn id="270" dur="400"/>
                                        <p:tgtEl>
                                          <p:spTgt spid="99"/>
                                        </p:tgtEl>
                                      </p:cBhvr>
                                    </p:animEffect>
                                  </p:childTnLst>
                                </p:cTn>
                              </p:par>
                              <p:par>
                                <p:cTn id="271" presetID="10" presetClass="entr" presetSubtype="0" fill="hold" grpId="0" nodeType="clickEffect">
                                  <p:stCondLst>
                                    <p:cond delay="0"/>
                                  </p:stCondLst>
                                  <p:childTnLst>
                                    <p:set>
                                      <p:cBhvr>
                                        <p:cTn id="272" dur="1" fill="hold">
                                          <p:stCondLst>
                                            <p:cond delay="0"/>
                                          </p:stCondLst>
                                        </p:cTn>
                                        <p:tgtEl>
                                          <p:spTgt spid="100"/>
                                        </p:tgtEl>
                                        <p:attrNameLst>
                                          <p:attrName>style.visibility</p:attrName>
                                        </p:attrNameLst>
                                      </p:cBhvr>
                                      <p:to>
                                        <p:strVal val="visible"/>
                                      </p:to>
                                    </p:set>
                                    <p:animEffect transition="in" filter="fade">
                                      <p:cBhvr>
                                        <p:cTn id="273" dur="400"/>
                                        <p:tgtEl>
                                          <p:spTgt spid="100"/>
                                        </p:tgtEl>
                                      </p:cBhvr>
                                    </p:animEffect>
                                  </p:childTnLst>
                                </p:cTn>
                              </p:par>
                              <p:par>
                                <p:cTn id="274" presetID="10" presetClass="entr" presetSubtype="0" fill="hold" grpId="0" nodeType="clickEffect">
                                  <p:stCondLst>
                                    <p:cond delay="0"/>
                                  </p:stCondLst>
                                  <p:childTnLst>
                                    <p:set>
                                      <p:cBhvr>
                                        <p:cTn id="275" dur="1" fill="hold">
                                          <p:stCondLst>
                                            <p:cond delay="0"/>
                                          </p:stCondLst>
                                        </p:cTn>
                                        <p:tgtEl>
                                          <p:spTgt spid="101"/>
                                        </p:tgtEl>
                                        <p:attrNameLst>
                                          <p:attrName>style.visibility</p:attrName>
                                        </p:attrNameLst>
                                      </p:cBhvr>
                                      <p:to>
                                        <p:strVal val="visible"/>
                                      </p:to>
                                    </p:set>
                                    <p:animEffect transition="in" filter="fade">
                                      <p:cBhvr>
                                        <p:cTn id="276" dur="400"/>
                                        <p:tgtEl>
                                          <p:spTgt spid="101"/>
                                        </p:tgtEl>
                                      </p:cBhvr>
                                    </p:animEffect>
                                  </p:childTnLst>
                                </p:cTn>
                              </p:par>
                              <p:par>
                                <p:cTn id="277" presetID="10" presetClass="entr" presetSubtype="0" fill="hold" grpId="0" nodeType="clickEffect">
                                  <p:stCondLst>
                                    <p:cond delay="0"/>
                                  </p:stCondLst>
                                  <p:childTnLst>
                                    <p:set>
                                      <p:cBhvr>
                                        <p:cTn id="278" dur="1" fill="hold">
                                          <p:stCondLst>
                                            <p:cond delay="0"/>
                                          </p:stCondLst>
                                        </p:cTn>
                                        <p:tgtEl>
                                          <p:spTgt spid="102"/>
                                        </p:tgtEl>
                                        <p:attrNameLst>
                                          <p:attrName>style.visibility</p:attrName>
                                        </p:attrNameLst>
                                      </p:cBhvr>
                                      <p:to>
                                        <p:strVal val="visible"/>
                                      </p:to>
                                    </p:set>
                                    <p:animEffect transition="in" filter="fade">
                                      <p:cBhvr>
                                        <p:cTn id="279" dur="400"/>
                                        <p:tgtEl>
                                          <p:spTgt spid="102"/>
                                        </p:tgtEl>
                                      </p:cBhvr>
                                    </p:animEffect>
                                  </p:childTnLst>
                                </p:cTn>
                              </p:par>
                              <p:par>
                                <p:cTn id="280" presetID="10" presetClass="entr" presetSubtype="0" fill="hold" grpId="0" nodeType="clickEffect">
                                  <p:stCondLst>
                                    <p:cond delay="0"/>
                                  </p:stCondLst>
                                  <p:childTnLst>
                                    <p:set>
                                      <p:cBhvr>
                                        <p:cTn id="281" dur="1" fill="hold">
                                          <p:stCondLst>
                                            <p:cond delay="0"/>
                                          </p:stCondLst>
                                        </p:cTn>
                                        <p:tgtEl>
                                          <p:spTgt spid="103"/>
                                        </p:tgtEl>
                                        <p:attrNameLst>
                                          <p:attrName>style.visibility</p:attrName>
                                        </p:attrNameLst>
                                      </p:cBhvr>
                                      <p:to>
                                        <p:strVal val="visible"/>
                                      </p:to>
                                    </p:set>
                                    <p:animEffect transition="in" filter="fade">
                                      <p:cBhvr>
                                        <p:cTn id="282" dur="400"/>
                                        <p:tgtEl>
                                          <p:spTgt spid="103"/>
                                        </p:tgtEl>
                                      </p:cBhvr>
                                    </p:animEffect>
                                  </p:childTnLst>
                                </p:cTn>
                              </p:par>
                              <p:par>
                                <p:cTn id="283" presetID="10" presetClass="entr" presetSubtype="0" fill="hold" grpId="0" nodeType="clickEffect">
                                  <p:stCondLst>
                                    <p:cond delay="0"/>
                                  </p:stCondLst>
                                  <p:childTnLst>
                                    <p:set>
                                      <p:cBhvr>
                                        <p:cTn id="284" dur="1" fill="hold">
                                          <p:stCondLst>
                                            <p:cond delay="0"/>
                                          </p:stCondLst>
                                        </p:cTn>
                                        <p:tgtEl>
                                          <p:spTgt spid="104"/>
                                        </p:tgtEl>
                                        <p:attrNameLst>
                                          <p:attrName>style.visibility</p:attrName>
                                        </p:attrNameLst>
                                      </p:cBhvr>
                                      <p:to>
                                        <p:strVal val="visible"/>
                                      </p:to>
                                    </p:set>
                                    <p:animEffect transition="in" filter="fade">
                                      <p:cBhvr>
                                        <p:cTn id="285" dur="400"/>
                                        <p:tgtEl>
                                          <p:spTgt spid="104"/>
                                        </p:tgtEl>
                                      </p:cBhvr>
                                    </p:animEffect>
                                  </p:childTnLst>
                                </p:cTn>
                              </p:par>
                              <p:par>
                                <p:cTn id="286" presetID="10" presetClass="entr" presetSubtype="0" fill="hold" grpId="0" nodeType="clickEffect">
                                  <p:stCondLst>
                                    <p:cond delay="0"/>
                                  </p:stCondLst>
                                  <p:childTnLst>
                                    <p:set>
                                      <p:cBhvr>
                                        <p:cTn id="287" dur="1" fill="hold">
                                          <p:stCondLst>
                                            <p:cond delay="0"/>
                                          </p:stCondLst>
                                        </p:cTn>
                                        <p:tgtEl>
                                          <p:spTgt spid="105"/>
                                        </p:tgtEl>
                                        <p:attrNameLst>
                                          <p:attrName>style.visibility</p:attrName>
                                        </p:attrNameLst>
                                      </p:cBhvr>
                                      <p:to>
                                        <p:strVal val="visible"/>
                                      </p:to>
                                    </p:set>
                                    <p:animEffect transition="in" filter="fade">
                                      <p:cBhvr>
                                        <p:cTn id="288" dur="400"/>
                                        <p:tgtEl>
                                          <p:spTgt spid="105"/>
                                        </p:tgtEl>
                                      </p:cBhvr>
                                    </p:animEffect>
                                  </p:childTnLst>
                                </p:cTn>
                              </p:par>
                              <p:par>
                                <p:cTn id="289" presetID="10" presetClass="entr" presetSubtype="0" fill="hold" grpId="0" nodeType="clickEffect">
                                  <p:stCondLst>
                                    <p:cond delay="0"/>
                                  </p:stCondLst>
                                  <p:childTnLst>
                                    <p:set>
                                      <p:cBhvr>
                                        <p:cTn id="290" dur="1" fill="hold">
                                          <p:stCondLst>
                                            <p:cond delay="0"/>
                                          </p:stCondLst>
                                        </p:cTn>
                                        <p:tgtEl>
                                          <p:spTgt spid="106"/>
                                        </p:tgtEl>
                                        <p:attrNameLst>
                                          <p:attrName>style.visibility</p:attrName>
                                        </p:attrNameLst>
                                      </p:cBhvr>
                                      <p:to>
                                        <p:strVal val="visible"/>
                                      </p:to>
                                    </p:set>
                                    <p:animEffect transition="in" filter="fade">
                                      <p:cBhvr>
                                        <p:cTn id="291" dur="400"/>
                                        <p:tgtEl>
                                          <p:spTgt spid="106"/>
                                        </p:tgtEl>
                                      </p:cBhvr>
                                    </p:animEffect>
                                  </p:childTnLst>
                                </p:cTn>
                              </p:par>
                              <p:par>
                                <p:cTn id="292" presetID="10" presetClass="entr" presetSubtype="0" fill="hold" grpId="0" nodeType="clickEffect">
                                  <p:stCondLst>
                                    <p:cond delay="0"/>
                                  </p:stCondLst>
                                  <p:childTnLst>
                                    <p:set>
                                      <p:cBhvr>
                                        <p:cTn id="293" dur="1" fill="hold">
                                          <p:stCondLst>
                                            <p:cond delay="0"/>
                                          </p:stCondLst>
                                        </p:cTn>
                                        <p:tgtEl>
                                          <p:spTgt spid="107"/>
                                        </p:tgtEl>
                                        <p:attrNameLst>
                                          <p:attrName>style.visibility</p:attrName>
                                        </p:attrNameLst>
                                      </p:cBhvr>
                                      <p:to>
                                        <p:strVal val="visible"/>
                                      </p:to>
                                    </p:set>
                                    <p:animEffect transition="in" filter="fade">
                                      <p:cBhvr>
                                        <p:cTn id="294" dur="400"/>
                                        <p:tgtEl>
                                          <p:spTgt spid="107"/>
                                        </p:tgtEl>
                                      </p:cBhvr>
                                    </p:animEffect>
                                  </p:childTnLst>
                                </p:cTn>
                              </p:par>
                            </p:childTnLst>
                          </p:cTn>
                        </p:par>
                      </p:childTnLst>
                    </p:cTn>
                  </p:par>
                  <p:par>
                    <p:cTn id="295" fill="hold">
                      <p:stCondLst>
                        <p:cond delay="indefinite"/>
                      </p:stCondLst>
                      <p:childTnLst>
                        <p:par>
                          <p:cTn id="296" fill="hold">
                            <p:stCondLst>
                              <p:cond delay="0"/>
                            </p:stCondLst>
                            <p:childTnLst>
                              <p:par>
                                <p:cTn id="297" presetID="10" presetClass="entr" presetSubtype="0" fill="hold" grpId="0" nodeType="clickEffect">
                                  <p:stCondLst>
                                    <p:cond delay="0"/>
                                  </p:stCondLst>
                                  <p:childTnLst>
                                    <p:set>
                                      <p:cBhvr>
                                        <p:cTn id="298" dur="1" fill="hold">
                                          <p:stCondLst>
                                            <p:cond delay="0"/>
                                          </p:stCondLst>
                                        </p:cTn>
                                        <p:tgtEl>
                                          <p:spTgt spid="108"/>
                                        </p:tgtEl>
                                        <p:attrNameLst>
                                          <p:attrName>style.visibility</p:attrName>
                                        </p:attrNameLst>
                                      </p:cBhvr>
                                      <p:to>
                                        <p:strVal val="visible"/>
                                      </p:to>
                                    </p:set>
                                    <p:animEffect transition="in" filter="fade">
                                      <p:cBhvr>
                                        <p:cTn id="299" dur="400"/>
                                        <p:tgtEl>
                                          <p:spTgt spid="108"/>
                                        </p:tgtEl>
                                      </p:cBhvr>
                                    </p:animEffect>
                                  </p:childTnLst>
                                </p:cTn>
                              </p:par>
                              <p:par>
                                <p:cTn id="300" presetID="10" presetClass="entr" presetSubtype="0" fill="hold" grpId="0" nodeType="clickEffect">
                                  <p:stCondLst>
                                    <p:cond delay="0"/>
                                  </p:stCondLst>
                                  <p:childTnLst>
                                    <p:set>
                                      <p:cBhvr>
                                        <p:cTn id="301" dur="1" fill="hold">
                                          <p:stCondLst>
                                            <p:cond delay="0"/>
                                          </p:stCondLst>
                                        </p:cTn>
                                        <p:tgtEl>
                                          <p:spTgt spid="109"/>
                                        </p:tgtEl>
                                        <p:attrNameLst>
                                          <p:attrName>style.visibility</p:attrName>
                                        </p:attrNameLst>
                                      </p:cBhvr>
                                      <p:to>
                                        <p:strVal val="visible"/>
                                      </p:to>
                                    </p:set>
                                    <p:animEffect transition="in" filter="fade">
                                      <p:cBhvr>
                                        <p:cTn id="302" dur="400"/>
                                        <p:tgtEl>
                                          <p:spTgt spid="109"/>
                                        </p:tgtEl>
                                      </p:cBhvr>
                                    </p:animEffect>
                                  </p:childTnLst>
                                </p:cTn>
                              </p:par>
                              <p:par>
                                <p:cTn id="303" presetID="10" presetClass="entr" presetSubtype="0" fill="hold" grpId="0" nodeType="clickEffect">
                                  <p:stCondLst>
                                    <p:cond delay="0"/>
                                  </p:stCondLst>
                                  <p:childTnLst>
                                    <p:set>
                                      <p:cBhvr>
                                        <p:cTn id="304" dur="1" fill="hold">
                                          <p:stCondLst>
                                            <p:cond delay="0"/>
                                          </p:stCondLst>
                                        </p:cTn>
                                        <p:tgtEl>
                                          <p:spTgt spid="110"/>
                                        </p:tgtEl>
                                        <p:attrNameLst>
                                          <p:attrName>style.visibility</p:attrName>
                                        </p:attrNameLst>
                                      </p:cBhvr>
                                      <p:to>
                                        <p:strVal val="visible"/>
                                      </p:to>
                                    </p:set>
                                    <p:animEffect transition="in" filter="fade">
                                      <p:cBhvr>
                                        <p:cTn id="305" dur="400"/>
                                        <p:tgtEl>
                                          <p:spTgt spid="110"/>
                                        </p:tgtEl>
                                      </p:cBhvr>
                                    </p:animEffect>
                                  </p:childTnLst>
                                </p:cTn>
                              </p:par>
                              <p:par>
                                <p:cTn id="306" presetID="10" presetClass="entr" presetSubtype="0" fill="hold" grpId="0" nodeType="clickEffect">
                                  <p:stCondLst>
                                    <p:cond delay="0"/>
                                  </p:stCondLst>
                                  <p:childTnLst>
                                    <p:set>
                                      <p:cBhvr>
                                        <p:cTn id="307" dur="1" fill="hold">
                                          <p:stCondLst>
                                            <p:cond delay="0"/>
                                          </p:stCondLst>
                                        </p:cTn>
                                        <p:tgtEl>
                                          <p:spTgt spid="111"/>
                                        </p:tgtEl>
                                        <p:attrNameLst>
                                          <p:attrName>style.visibility</p:attrName>
                                        </p:attrNameLst>
                                      </p:cBhvr>
                                      <p:to>
                                        <p:strVal val="visible"/>
                                      </p:to>
                                    </p:set>
                                    <p:animEffect transition="in" filter="fade">
                                      <p:cBhvr>
                                        <p:cTn id="308" dur="400"/>
                                        <p:tgtEl>
                                          <p:spTgt spid="111"/>
                                        </p:tgtEl>
                                      </p:cBhvr>
                                    </p:animEffect>
                                  </p:childTnLst>
                                </p:cTn>
                              </p:par>
                              <p:par>
                                <p:cTn id="309" presetID="10" presetClass="entr" presetSubtype="0" fill="hold" grpId="0" nodeType="clickEffect">
                                  <p:stCondLst>
                                    <p:cond delay="0"/>
                                  </p:stCondLst>
                                  <p:childTnLst>
                                    <p:set>
                                      <p:cBhvr>
                                        <p:cTn id="310" dur="1" fill="hold">
                                          <p:stCondLst>
                                            <p:cond delay="0"/>
                                          </p:stCondLst>
                                        </p:cTn>
                                        <p:tgtEl>
                                          <p:spTgt spid="112"/>
                                        </p:tgtEl>
                                        <p:attrNameLst>
                                          <p:attrName>style.visibility</p:attrName>
                                        </p:attrNameLst>
                                      </p:cBhvr>
                                      <p:to>
                                        <p:strVal val="visible"/>
                                      </p:to>
                                    </p:set>
                                    <p:animEffect transition="in" filter="fade">
                                      <p:cBhvr>
                                        <p:cTn id="311" dur="400"/>
                                        <p:tgtEl>
                                          <p:spTgt spid="112"/>
                                        </p:tgtEl>
                                      </p:cBhvr>
                                    </p:animEffect>
                                  </p:childTnLst>
                                </p:cTn>
                              </p:par>
                              <p:par>
                                <p:cTn id="312" presetID="10" presetClass="entr" presetSubtype="0" fill="hold" grpId="0" nodeType="clickEffect">
                                  <p:stCondLst>
                                    <p:cond delay="0"/>
                                  </p:stCondLst>
                                  <p:childTnLst>
                                    <p:set>
                                      <p:cBhvr>
                                        <p:cTn id="313" dur="1" fill="hold">
                                          <p:stCondLst>
                                            <p:cond delay="0"/>
                                          </p:stCondLst>
                                        </p:cTn>
                                        <p:tgtEl>
                                          <p:spTgt spid="113"/>
                                        </p:tgtEl>
                                        <p:attrNameLst>
                                          <p:attrName>style.visibility</p:attrName>
                                        </p:attrNameLst>
                                      </p:cBhvr>
                                      <p:to>
                                        <p:strVal val="visible"/>
                                      </p:to>
                                    </p:set>
                                    <p:animEffect transition="in" filter="fade">
                                      <p:cBhvr>
                                        <p:cTn id="314" dur="400"/>
                                        <p:tgtEl>
                                          <p:spTgt spid="113"/>
                                        </p:tgtEl>
                                      </p:cBhvr>
                                    </p:animEffect>
                                  </p:childTnLst>
                                </p:cTn>
                              </p:par>
                              <p:par>
                                <p:cTn id="315" presetID="10" presetClass="entr" presetSubtype="0" fill="hold" grpId="0" nodeType="clickEffect">
                                  <p:stCondLst>
                                    <p:cond delay="0"/>
                                  </p:stCondLst>
                                  <p:childTnLst>
                                    <p:set>
                                      <p:cBhvr>
                                        <p:cTn id="316" dur="1" fill="hold">
                                          <p:stCondLst>
                                            <p:cond delay="0"/>
                                          </p:stCondLst>
                                        </p:cTn>
                                        <p:tgtEl>
                                          <p:spTgt spid="114"/>
                                        </p:tgtEl>
                                        <p:attrNameLst>
                                          <p:attrName>style.visibility</p:attrName>
                                        </p:attrNameLst>
                                      </p:cBhvr>
                                      <p:to>
                                        <p:strVal val="visible"/>
                                      </p:to>
                                    </p:set>
                                    <p:animEffect transition="in" filter="fade">
                                      <p:cBhvr>
                                        <p:cTn id="317" dur="400"/>
                                        <p:tgtEl>
                                          <p:spTgt spid="114"/>
                                        </p:tgtEl>
                                      </p:cBhvr>
                                    </p:animEffect>
                                  </p:childTnLst>
                                </p:cTn>
                              </p:par>
                              <p:par>
                                <p:cTn id="318" presetID="10" presetClass="entr" presetSubtype="0" fill="hold" grpId="0" nodeType="clickEffect">
                                  <p:stCondLst>
                                    <p:cond delay="0"/>
                                  </p:stCondLst>
                                  <p:childTnLst>
                                    <p:set>
                                      <p:cBhvr>
                                        <p:cTn id="319" dur="1" fill="hold">
                                          <p:stCondLst>
                                            <p:cond delay="0"/>
                                          </p:stCondLst>
                                        </p:cTn>
                                        <p:tgtEl>
                                          <p:spTgt spid="115"/>
                                        </p:tgtEl>
                                        <p:attrNameLst>
                                          <p:attrName>style.visibility</p:attrName>
                                        </p:attrNameLst>
                                      </p:cBhvr>
                                      <p:to>
                                        <p:strVal val="visible"/>
                                      </p:to>
                                    </p:set>
                                    <p:animEffect transition="in" filter="fade">
                                      <p:cBhvr>
                                        <p:cTn id="320" dur="400"/>
                                        <p:tgtEl>
                                          <p:spTgt spid="115"/>
                                        </p:tgtEl>
                                      </p:cBhvr>
                                    </p:animEffect>
                                  </p:childTnLst>
                                </p:cTn>
                              </p:par>
                              <p:par>
                                <p:cTn id="321" presetID="10" presetClass="entr" presetSubtype="0" fill="hold" grpId="0" nodeType="clickEffect">
                                  <p:stCondLst>
                                    <p:cond delay="0"/>
                                  </p:stCondLst>
                                  <p:childTnLst>
                                    <p:set>
                                      <p:cBhvr>
                                        <p:cTn id="322" dur="1" fill="hold">
                                          <p:stCondLst>
                                            <p:cond delay="0"/>
                                          </p:stCondLst>
                                        </p:cTn>
                                        <p:tgtEl>
                                          <p:spTgt spid="116"/>
                                        </p:tgtEl>
                                        <p:attrNameLst>
                                          <p:attrName>style.visibility</p:attrName>
                                        </p:attrNameLst>
                                      </p:cBhvr>
                                      <p:to>
                                        <p:strVal val="visible"/>
                                      </p:to>
                                    </p:set>
                                    <p:animEffect transition="in" filter="fade">
                                      <p:cBhvr>
                                        <p:cTn id="323" dur="400"/>
                                        <p:tgtEl>
                                          <p:spTgt spid="116"/>
                                        </p:tgtEl>
                                      </p:cBhvr>
                                    </p:animEffect>
                                  </p:childTnLst>
                                </p:cTn>
                              </p:par>
                              <p:par>
                                <p:cTn id="324" presetID="10" presetClass="entr" presetSubtype="0" fill="hold" grpId="0" nodeType="clickEffect">
                                  <p:stCondLst>
                                    <p:cond delay="0"/>
                                  </p:stCondLst>
                                  <p:childTnLst>
                                    <p:set>
                                      <p:cBhvr>
                                        <p:cTn id="325" dur="1" fill="hold">
                                          <p:stCondLst>
                                            <p:cond delay="0"/>
                                          </p:stCondLst>
                                        </p:cTn>
                                        <p:tgtEl>
                                          <p:spTgt spid="117"/>
                                        </p:tgtEl>
                                        <p:attrNameLst>
                                          <p:attrName>style.visibility</p:attrName>
                                        </p:attrNameLst>
                                      </p:cBhvr>
                                      <p:to>
                                        <p:strVal val="visible"/>
                                      </p:to>
                                    </p:set>
                                    <p:animEffect transition="in" filter="fade">
                                      <p:cBhvr>
                                        <p:cTn id="326" dur="400"/>
                                        <p:tgtEl>
                                          <p:spTgt spid="117"/>
                                        </p:tgtEl>
                                      </p:cBhvr>
                                    </p:animEffect>
                                  </p:childTnLst>
                                </p:cTn>
                              </p:par>
                              <p:par>
                                <p:cTn id="327" presetID="10" presetClass="entr" presetSubtype="0" fill="hold" grpId="0" nodeType="clickEffect">
                                  <p:stCondLst>
                                    <p:cond delay="0"/>
                                  </p:stCondLst>
                                  <p:childTnLst>
                                    <p:set>
                                      <p:cBhvr>
                                        <p:cTn id="328" dur="1" fill="hold">
                                          <p:stCondLst>
                                            <p:cond delay="0"/>
                                          </p:stCondLst>
                                        </p:cTn>
                                        <p:tgtEl>
                                          <p:spTgt spid="118"/>
                                        </p:tgtEl>
                                        <p:attrNameLst>
                                          <p:attrName>style.visibility</p:attrName>
                                        </p:attrNameLst>
                                      </p:cBhvr>
                                      <p:to>
                                        <p:strVal val="visible"/>
                                      </p:to>
                                    </p:set>
                                    <p:animEffect transition="in" filter="fade">
                                      <p:cBhvr>
                                        <p:cTn id="329" dur="400"/>
                                        <p:tgtEl>
                                          <p:spTgt spid="118"/>
                                        </p:tgtEl>
                                      </p:cBhvr>
                                    </p:animEffect>
                                  </p:childTnLst>
                                </p:cTn>
                              </p:par>
                              <p:par>
                                <p:cTn id="330" presetID="10" presetClass="entr" presetSubtype="0" fill="hold" grpId="0" nodeType="clickEffect">
                                  <p:stCondLst>
                                    <p:cond delay="0"/>
                                  </p:stCondLst>
                                  <p:childTnLst>
                                    <p:set>
                                      <p:cBhvr>
                                        <p:cTn id="331" dur="1" fill="hold">
                                          <p:stCondLst>
                                            <p:cond delay="0"/>
                                          </p:stCondLst>
                                        </p:cTn>
                                        <p:tgtEl>
                                          <p:spTgt spid="119"/>
                                        </p:tgtEl>
                                        <p:attrNameLst>
                                          <p:attrName>style.visibility</p:attrName>
                                        </p:attrNameLst>
                                      </p:cBhvr>
                                      <p:to>
                                        <p:strVal val="visible"/>
                                      </p:to>
                                    </p:set>
                                    <p:animEffect transition="in" filter="fade">
                                      <p:cBhvr>
                                        <p:cTn id="332" dur="400"/>
                                        <p:tgtEl>
                                          <p:spTgt spid="119"/>
                                        </p:tgtEl>
                                      </p:cBhvr>
                                    </p:animEffect>
                                  </p:childTnLst>
                                </p:cTn>
                              </p:par>
                              <p:par>
                                <p:cTn id="333" presetID="10" presetClass="entr" presetSubtype="0" fill="hold" grpId="0" nodeType="clickEffect">
                                  <p:stCondLst>
                                    <p:cond delay="0"/>
                                  </p:stCondLst>
                                  <p:childTnLst>
                                    <p:set>
                                      <p:cBhvr>
                                        <p:cTn id="334" dur="1" fill="hold">
                                          <p:stCondLst>
                                            <p:cond delay="0"/>
                                          </p:stCondLst>
                                        </p:cTn>
                                        <p:tgtEl>
                                          <p:spTgt spid="120"/>
                                        </p:tgtEl>
                                        <p:attrNameLst>
                                          <p:attrName>style.visibility</p:attrName>
                                        </p:attrNameLst>
                                      </p:cBhvr>
                                      <p:to>
                                        <p:strVal val="visible"/>
                                      </p:to>
                                    </p:set>
                                    <p:animEffect transition="in" filter="fade">
                                      <p:cBhvr>
                                        <p:cTn id="335" dur="400"/>
                                        <p:tgtEl>
                                          <p:spTgt spid="120"/>
                                        </p:tgtEl>
                                      </p:cBhvr>
                                    </p:animEffect>
                                  </p:childTnLst>
                                </p:cTn>
                              </p:par>
                              <p:par>
                                <p:cTn id="336" presetID="10" presetClass="entr" presetSubtype="0" fill="hold" grpId="0" nodeType="clickEffect">
                                  <p:stCondLst>
                                    <p:cond delay="0"/>
                                  </p:stCondLst>
                                  <p:childTnLst>
                                    <p:set>
                                      <p:cBhvr>
                                        <p:cTn id="337" dur="1" fill="hold">
                                          <p:stCondLst>
                                            <p:cond delay="0"/>
                                          </p:stCondLst>
                                        </p:cTn>
                                        <p:tgtEl>
                                          <p:spTgt spid="121"/>
                                        </p:tgtEl>
                                        <p:attrNameLst>
                                          <p:attrName>style.visibility</p:attrName>
                                        </p:attrNameLst>
                                      </p:cBhvr>
                                      <p:to>
                                        <p:strVal val="visible"/>
                                      </p:to>
                                    </p:set>
                                    <p:animEffect transition="in" filter="fade">
                                      <p:cBhvr>
                                        <p:cTn id="338" dur="400"/>
                                        <p:tgtEl>
                                          <p:spTgt spid="121"/>
                                        </p:tgtEl>
                                      </p:cBhvr>
                                    </p:animEffect>
                                  </p:childTnLst>
                                </p:cTn>
                              </p:par>
                              <p:par>
                                <p:cTn id="339" presetID="10" presetClass="entr" presetSubtype="0" fill="hold" grpId="0" nodeType="clickEffect">
                                  <p:stCondLst>
                                    <p:cond delay="0"/>
                                  </p:stCondLst>
                                  <p:childTnLst>
                                    <p:set>
                                      <p:cBhvr>
                                        <p:cTn id="340" dur="1" fill="hold">
                                          <p:stCondLst>
                                            <p:cond delay="0"/>
                                          </p:stCondLst>
                                        </p:cTn>
                                        <p:tgtEl>
                                          <p:spTgt spid="122"/>
                                        </p:tgtEl>
                                        <p:attrNameLst>
                                          <p:attrName>style.visibility</p:attrName>
                                        </p:attrNameLst>
                                      </p:cBhvr>
                                      <p:to>
                                        <p:strVal val="visible"/>
                                      </p:to>
                                    </p:set>
                                    <p:animEffect transition="in" filter="fade">
                                      <p:cBhvr>
                                        <p:cTn id="341" dur="400"/>
                                        <p:tgtEl>
                                          <p:spTgt spid="122"/>
                                        </p:tgtEl>
                                      </p:cBhvr>
                                    </p:animEffect>
                                  </p:childTnLst>
                                </p:cTn>
                              </p:par>
                              <p:par>
                                <p:cTn id="342" presetID="10" presetClass="entr" presetSubtype="0" fill="hold" grpId="0" nodeType="clickEffect">
                                  <p:stCondLst>
                                    <p:cond delay="0"/>
                                  </p:stCondLst>
                                  <p:childTnLst>
                                    <p:set>
                                      <p:cBhvr>
                                        <p:cTn id="343" dur="1" fill="hold">
                                          <p:stCondLst>
                                            <p:cond delay="0"/>
                                          </p:stCondLst>
                                        </p:cTn>
                                        <p:tgtEl>
                                          <p:spTgt spid="123"/>
                                        </p:tgtEl>
                                        <p:attrNameLst>
                                          <p:attrName>style.visibility</p:attrName>
                                        </p:attrNameLst>
                                      </p:cBhvr>
                                      <p:to>
                                        <p:strVal val="visible"/>
                                      </p:to>
                                    </p:set>
                                    <p:animEffect transition="in" filter="fade">
                                      <p:cBhvr>
                                        <p:cTn id="344" dur="400"/>
                                        <p:tgtEl>
                                          <p:spTgt spid="123"/>
                                        </p:tgtEl>
                                      </p:cBhvr>
                                    </p:animEffect>
                                  </p:childTnLst>
                                </p:cTn>
                              </p:par>
                              <p:par>
                                <p:cTn id="345" presetID="10" presetClass="entr" presetSubtype="0" fill="hold" grpId="0" nodeType="clickEffect">
                                  <p:stCondLst>
                                    <p:cond delay="0"/>
                                  </p:stCondLst>
                                  <p:childTnLst>
                                    <p:set>
                                      <p:cBhvr>
                                        <p:cTn id="346" dur="1" fill="hold">
                                          <p:stCondLst>
                                            <p:cond delay="0"/>
                                          </p:stCondLst>
                                        </p:cTn>
                                        <p:tgtEl>
                                          <p:spTgt spid="124"/>
                                        </p:tgtEl>
                                        <p:attrNameLst>
                                          <p:attrName>style.visibility</p:attrName>
                                        </p:attrNameLst>
                                      </p:cBhvr>
                                      <p:to>
                                        <p:strVal val="visible"/>
                                      </p:to>
                                    </p:set>
                                    <p:animEffect transition="in" filter="fade">
                                      <p:cBhvr>
                                        <p:cTn id="347" dur="400"/>
                                        <p:tgtEl>
                                          <p:spTgt spid="124"/>
                                        </p:tgtEl>
                                      </p:cBhvr>
                                    </p:animEffect>
                                  </p:childTnLst>
                                </p:cTn>
                              </p:par>
                              <p:par>
                                <p:cTn id="348" presetID="10" presetClass="entr" presetSubtype="0" fill="hold" grpId="0" nodeType="clickEffect">
                                  <p:stCondLst>
                                    <p:cond delay="0"/>
                                  </p:stCondLst>
                                  <p:childTnLst>
                                    <p:set>
                                      <p:cBhvr>
                                        <p:cTn id="349" dur="1" fill="hold">
                                          <p:stCondLst>
                                            <p:cond delay="0"/>
                                          </p:stCondLst>
                                        </p:cTn>
                                        <p:tgtEl>
                                          <p:spTgt spid="125"/>
                                        </p:tgtEl>
                                        <p:attrNameLst>
                                          <p:attrName>style.visibility</p:attrName>
                                        </p:attrNameLst>
                                      </p:cBhvr>
                                      <p:to>
                                        <p:strVal val="visible"/>
                                      </p:to>
                                    </p:set>
                                    <p:animEffect transition="in" filter="fade">
                                      <p:cBhvr>
                                        <p:cTn id="350" dur="400"/>
                                        <p:tgtEl>
                                          <p:spTgt spid="125"/>
                                        </p:tgtEl>
                                      </p:cBhvr>
                                    </p:animEffect>
                                  </p:childTnLst>
                                </p:cTn>
                              </p:par>
                              <p:par>
                                <p:cTn id="351" presetID="10" presetClass="entr" presetSubtype="0" fill="hold" grpId="0" nodeType="clickEffect">
                                  <p:stCondLst>
                                    <p:cond delay="0"/>
                                  </p:stCondLst>
                                  <p:childTnLst>
                                    <p:set>
                                      <p:cBhvr>
                                        <p:cTn id="352" dur="1" fill="hold">
                                          <p:stCondLst>
                                            <p:cond delay="0"/>
                                          </p:stCondLst>
                                        </p:cTn>
                                        <p:tgtEl>
                                          <p:spTgt spid="126"/>
                                        </p:tgtEl>
                                        <p:attrNameLst>
                                          <p:attrName>style.visibility</p:attrName>
                                        </p:attrNameLst>
                                      </p:cBhvr>
                                      <p:to>
                                        <p:strVal val="visible"/>
                                      </p:to>
                                    </p:set>
                                    <p:animEffect transition="in" filter="fade">
                                      <p:cBhvr>
                                        <p:cTn id="353" dur="400"/>
                                        <p:tgtEl>
                                          <p:spTgt spid="126"/>
                                        </p:tgtEl>
                                      </p:cBhvr>
                                    </p:animEffect>
                                  </p:childTnLst>
                                </p:cTn>
                              </p:par>
                              <p:par>
                                <p:cTn id="354" presetID="10" presetClass="entr" presetSubtype="0" fill="hold" grpId="0" nodeType="clickEffect">
                                  <p:stCondLst>
                                    <p:cond delay="0"/>
                                  </p:stCondLst>
                                  <p:childTnLst>
                                    <p:set>
                                      <p:cBhvr>
                                        <p:cTn id="355" dur="1" fill="hold">
                                          <p:stCondLst>
                                            <p:cond delay="0"/>
                                          </p:stCondLst>
                                        </p:cTn>
                                        <p:tgtEl>
                                          <p:spTgt spid="127"/>
                                        </p:tgtEl>
                                        <p:attrNameLst>
                                          <p:attrName>style.visibility</p:attrName>
                                        </p:attrNameLst>
                                      </p:cBhvr>
                                      <p:to>
                                        <p:strVal val="visible"/>
                                      </p:to>
                                    </p:set>
                                    <p:animEffect transition="in" filter="fade">
                                      <p:cBhvr>
                                        <p:cTn id="356" dur="400"/>
                                        <p:tgtEl>
                                          <p:spTgt spid="127"/>
                                        </p:tgtEl>
                                      </p:cBhvr>
                                    </p:animEffect>
                                  </p:childTnLst>
                                </p:cTn>
                              </p:par>
                              <p:par>
                                <p:cTn id="357" presetID="10" presetClass="entr" presetSubtype="0" fill="hold" grpId="0" nodeType="clickEffect">
                                  <p:stCondLst>
                                    <p:cond delay="0"/>
                                  </p:stCondLst>
                                  <p:childTnLst>
                                    <p:set>
                                      <p:cBhvr>
                                        <p:cTn id="358" dur="1" fill="hold">
                                          <p:stCondLst>
                                            <p:cond delay="0"/>
                                          </p:stCondLst>
                                        </p:cTn>
                                        <p:tgtEl>
                                          <p:spTgt spid="128"/>
                                        </p:tgtEl>
                                        <p:attrNameLst>
                                          <p:attrName>style.visibility</p:attrName>
                                        </p:attrNameLst>
                                      </p:cBhvr>
                                      <p:to>
                                        <p:strVal val="visible"/>
                                      </p:to>
                                    </p:set>
                                    <p:animEffect transition="in" filter="fade">
                                      <p:cBhvr>
                                        <p:cTn id="359" dur="400"/>
                                        <p:tgtEl>
                                          <p:spTgt spid="128"/>
                                        </p:tgtEl>
                                      </p:cBhvr>
                                    </p:animEffect>
                                  </p:childTnLst>
                                </p:cTn>
                              </p:par>
                              <p:par>
                                <p:cTn id="360" presetID="10" presetClass="entr" presetSubtype="0" fill="hold" grpId="0" nodeType="clickEffect">
                                  <p:stCondLst>
                                    <p:cond delay="0"/>
                                  </p:stCondLst>
                                  <p:childTnLst>
                                    <p:set>
                                      <p:cBhvr>
                                        <p:cTn id="361" dur="1" fill="hold">
                                          <p:stCondLst>
                                            <p:cond delay="0"/>
                                          </p:stCondLst>
                                        </p:cTn>
                                        <p:tgtEl>
                                          <p:spTgt spid="129"/>
                                        </p:tgtEl>
                                        <p:attrNameLst>
                                          <p:attrName>style.visibility</p:attrName>
                                        </p:attrNameLst>
                                      </p:cBhvr>
                                      <p:to>
                                        <p:strVal val="visible"/>
                                      </p:to>
                                    </p:set>
                                    <p:animEffect transition="in" filter="fade">
                                      <p:cBhvr>
                                        <p:cTn id="362" dur="400"/>
                                        <p:tgtEl>
                                          <p:spTgt spid="129"/>
                                        </p:tgtEl>
                                      </p:cBhvr>
                                    </p:animEffect>
                                  </p:childTnLst>
                                </p:cTn>
                              </p:par>
                              <p:par>
                                <p:cTn id="363" presetID="10" presetClass="entr" presetSubtype="0" fill="hold" grpId="0" nodeType="clickEffect">
                                  <p:stCondLst>
                                    <p:cond delay="0"/>
                                  </p:stCondLst>
                                  <p:childTnLst>
                                    <p:set>
                                      <p:cBhvr>
                                        <p:cTn id="364" dur="1" fill="hold">
                                          <p:stCondLst>
                                            <p:cond delay="0"/>
                                          </p:stCondLst>
                                        </p:cTn>
                                        <p:tgtEl>
                                          <p:spTgt spid="130"/>
                                        </p:tgtEl>
                                        <p:attrNameLst>
                                          <p:attrName>style.visibility</p:attrName>
                                        </p:attrNameLst>
                                      </p:cBhvr>
                                      <p:to>
                                        <p:strVal val="visible"/>
                                      </p:to>
                                    </p:set>
                                    <p:animEffect transition="in" filter="fade">
                                      <p:cBhvr>
                                        <p:cTn id="365" dur="400"/>
                                        <p:tgtEl>
                                          <p:spTgt spid="130"/>
                                        </p:tgtEl>
                                      </p:cBhvr>
                                    </p:animEffect>
                                  </p:childTnLst>
                                </p:cTn>
                              </p:par>
                              <p:par>
                                <p:cTn id="366" presetID="10" presetClass="entr" presetSubtype="0" fill="hold" grpId="0" nodeType="clickEffect">
                                  <p:stCondLst>
                                    <p:cond delay="0"/>
                                  </p:stCondLst>
                                  <p:childTnLst>
                                    <p:set>
                                      <p:cBhvr>
                                        <p:cTn id="367" dur="1" fill="hold">
                                          <p:stCondLst>
                                            <p:cond delay="0"/>
                                          </p:stCondLst>
                                        </p:cTn>
                                        <p:tgtEl>
                                          <p:spTgt spid="131"/>
                                        </p:tgtEl>
                                        <p:attrNameLst>
                                          <p:attrName>style.visibility</p:attrName>
                                        </p:attrNameLst>
                                      </p:cBhvr>
                                      <p:to>
                                        <p:strVal val="visible"/>
                                      </p:to>
                                    </p:set>
                                    <p:animEffect transition="in" filter="fade">
                                      <p:cBhvr>
                                        <p:cTn id="368" dur="400"/>
                                        <p:tgtEl>
                                          <p:spTgt spid="131"/>
                                        </p:tgtEl>
                                      </p:cBhvr>
                                    </p:animEffect>
                                  </p:childTnLst>
                                </p:cTn>
                              </p:par>
                              <p:par>
                                <p:cTn id="369" presetID="10" presetClass="entr" presetSubtype="0" fill="hold" grpId="0" nodeType="clickEffect">
                                  <p:stCondLst>
                                    <p:cond delay="0"/>
                                  </p:stCondLst>
                                  <p:childTnLst>
                                    <p:set>
                                      <p:cBhvr>
                                        <p:cTn id="370" dur="1" fill="hold">
                                          <p:stCondLst>
                                            <p:cond delay="0"/>
                                          </p:stCondLst>
                                        </p:cTn>
                                        <p:tgtEl>
                                          <p:spTgt spid="132"/>
                                        </p:tgtEl>
                                        <p:attrNameLst>
                                          <p:attrName>style.visibility</p:attrName>
                                        </p:attrNameLst>
                                      </p:cBhvr>
                                      <p:to>
                                        <p:strVal val="visible"/>
                                      </p:to>
                                    </p:set>
                                    <p:animEffect transition="in" filter="fade">
                                      <p:cBhvr>
                                        <p:cTn id="371" dur="400"/>
                                        <p:tgtEl>
                                          <p:spTgt spid="132"/>
                                        </p:tgtEl>
                                      </p:cBhvr>
                                    </p:animEffect>
                                  </p:childTnLst>
                                </p:cTn>
                              </p:par>
                              <p:par>
                                <p:cTn id="372" presetID="10" presetClass="entr" presetSubtype="0" fill="hold" grpId="0" nodeType="clickEffect">
                                  <p:stCondLst>
                                    <p:cond delay="0"/>
                                  </p:stCondLst>
                                  <p:childTnLst>
                                    <p:set>
                                      <p:cBhvr>
                                        <p:cTn id="373" dur="1" fill="hold">
                                          <p:stCondLst>
                                            <p:cond delay="0"/>
                                          </p:stCondLst>
                                        </p:cTn>
                                        <p:tgtEl>
                                          <p:spTgt spid="133"/>
                                        </p:tgtEl>
                                        <p:attrNameLst>
                                          <p:attrName>style.visibility</p:attrName>
                                        </p:attrNameLst>
                                      </p:cBhvr>
                                      <p:to>
                                        <p:strVal val="visible"/>
                                      </p:to>
                                    </p:set>
                                    <p:animEffect transition="in" filter="fade">
                                      <p:cBhvr>
                                        <p:cTn id="374" dur="400"/>
                                        <p:tgtEl>
                                          <p:spTgt spid="133"/>
                                        </p:tgtEl>
                                      </p:cBhvr>
                                    </p:animEffect>
                                  </p:childTnLst>
                                </p:cTn>
                              </p:par>
                              <p:par>
                                <p:cTn id="375" presetID="10" presetClass="entr" presetSubtype="0" fill="hold" grpId="0" nodeType="clickEffect">
                                  <p:stCondLst>
                                    <p:cond delay="0"/>
                                  </p:stCondLst>
                                  <p:childTnLst>
                                    <p:set>
                                      <p:cBhvr>
                                        <p:cTn id="376" dur="1" fill="hold">
                                          <p:stCondLst>
                                            <p:cond delay="0"/>
                                          </p:stCondLst>
                                        </p:cTn>
                                        <p:tgtEl>
                                          <p:spTgt spid="134"/>
                                        </p:tgtEl>
                                        <p:attrNameLst>
                                          <p:attrName>style.visibility</p:attrName>
                                        </p:attrNameLst>
                                      </p:cBhvr>
                                      <p:to>
                                        <p:strVal val="visible"/>
                                      </p:to>
                                    </p:set>
                                    <p:animEffect transition="in" filter="fade">
                                      <p:cBhvr>
                                        <p:cTn id="377" dur="400"/>
                                        <p:tgtEl>
                                          <p:spTgt spid="134"/>
                                        </p:tgtEl>
                                      </p:cBhvr>
                                    </p:animEffect>
                                  </p:childTnLst>
                                </p:cTn>
                              </p:par>
                              <p:par>
                                <p:cTn id="378" presetID="10" presetClass="entr" presetSubtype="0" fill="hold" grpId="0" nodeType="clickEffect">
                                  <p:stCondLst>
                                    <p:cond delay="0"/>
                                  </p:stCondLst>
                                  <p:childTnLst>
                                    <p:set>
                                      <p:cBhvr>
                                        <p:cTn id="379" dur="1" fill="hold">
                                          <p:stCondLst>
                                            <p:cond delay="0"/>
                                          </p:stCondLst>
                                        </p:cTn>
                                        <p:tgtEl>
                                          <p:spTgt spid="135"/>
                                        </p:tgtEl>
                                        <p:attrNameLst>
                                          <p:attrName>style.visibility</p:attrName>
                                        </p:attrNameLst>
                                      </p:cBhvr>
                                      <p:to>
                                        <p:strVal val="visible"/>
                                      </p:to>
                                    </p:set>
                                    <p:animEffect transition="in" filter="fade">
                                      <p:cBhvr>
                                        <p:cTn id="380" dur="400"/>
                                        <p:tgtEl>
                                          <p:spTgt spid="135"/>
                                        </p:tgtEl>
                                      </p:cBhvr>
                                    </p:animEffect>
                                  </p:childTnLst>
                                </p:cTn>
                              </p:par>
                              <p:par>
                                <p:cTn id="381" presetID="10" presetClass="entr" presetSubtype="0" fill="hold" grpId="0" nodeType="clickEffect">
                                  <p:stCondLst>
                                    <p:cond delay="0"/>
                                  </p:stCondLst>
                                  <p:childTnLst>
                                    <p:set>
                                      <p:cBhvr>
                                        <p:cTn id="382" dur="1" fill="hold">
                                          <p:stCondLst>
                                            <p:cond delay="0"/>
                                          </p:stCondLst>
                                        </p:cTn>
                                        <p:tgtEl>
                                          <p:spTgt spid="136"/>
                                        </p:tgtEl>
                                        <p:attrNameLst>
                                          <p:attrName>style.visibility</p:attrName>
                                        </p:attrNameLst>
                                      </p:cBhvr>
                                      <p:to>
                                        <p:strVal val="visible"/>
                                      </p:to>
                                    </p:set>
                                    <p:animEffect transition="in" filter="fade">
                                      <p:cBhvr>
                                        <p:cTn id="383" dur="400"/>
                                        <p:tgtEl>
                                          <p:spTgt spid="136"/>
                                        </p:tgtEl>
                                      </p:cBhvr>
                                    </p:animEffect>
                                  </p:childTnLst>
                                </p:cTn>
                              </p:par>
                              <p:par>
                                <p:cTn id="384" presetID="10" presetClass="entr" presetSubtype="0" fill="hold" grpId="0" nodeType="clickEffect">
                                  <p:stCondLst>
                                    <p:cond delay="0"/>
                                  </p:stCondLst>
                                  <p:childTnLst>
                                    <p:set>
                                      <p:cBhvr>
                                        <p:cTn id="385" dur="1" fill="hold">
                                          <p:stCondLst>
                                            <p:cond delay="0"/>
                                          </p:stCondLst>
                                        </p:cTn>
                                        <p:tgtEl>
                                          <p:spTgt spid="137"/>
                                        </p:tgtEl>
                                        <p:attrNameLst>
                                          <p:attrName>style.visibility</p:attrName>
                                        </p:attrNameLst>
                                      </p:cBhvr>
                                      <p:to>
                                        <p:strVal val="visible"/>
                                      </p:to>
                                    </p:set>
                                    <p:animEffect transition="in" filter="fade">
                                      <p:cBhvr>
                                        <p:cTn id="386" dur="400"/>
                                        <p:tgtEl>
                                          <p:spTgt spid="137"/>
                                        </p:tgtEl>
                                      </p:cBhvr>
                                    </p:animEffect>
                                  </p:childTnLst>
                                </p:cTn>
                              </p:par>
                              <p:par>
                                <p:cTn id="387" presetID="10" presetClass="entr" presetSubtype="0" fill="hold" grpId="0" nodeType="clickEffect">
                                  <p:stCondLst>
                                    <p:cond delay="0"/>
                                  </p:stCondLst>
                                  <p:childTnLst>
                                    <p:set>
                                      <p:cBhvr>
                                        <p:cTn id="388" dur="1" fill="hold">
                                          <p:stCondLst>
                                            <p:cond delay="0"/>
                                          </p:stCondLst>
                                        </p:cTn>
                                        <p:tgtEl>
                                          <p:spTgt spid="138"/>
                                        </p:tgtEl>
                                        <p:attrNameLst>
                                          <p:attrName>style.visibility</p:attrName>
                                        </p:attrNameLst>
                                      </p:cBhvr>
                                      <p:to>
                                        <p:strVal val="visible"/>
                                      </p:to>
                                    </p:set>
                                    <p:animEffect transition="in" filter="fade">
                                      <p:cBhvr>
                                        <p:cTn id="389" dur="400"/>
                                        <p:tgtEl>
                                          <p:spTgt spid="138"/>
                                        </p:tgtEl>
                                      </p:cBhvr>
                                    </p:animEffect>
                                  </p:childTnLst>
                                </p:cTn>
                              </p:par>
                              <p:par>
                                <p:cTn id="390" presetID="10" presetClass="entr" presetSubtype="0" fill="hold" grpId="0" nodeType="clickEffect">
                                  <p:stCondLst>
                                    <p:cond delay="0"/>
                                  </p:stCondLst>
                                  <p:childTnLst>
                                    <p:set>
                                      <p:cBhvr>
                                        <p:cTn id="391" dur="1" fill="hold">
                                          <p:stCondLst>
                                            <p:cond delay="0"/>
                                          </p:stCondLst>
                                        </p:cTn>
                                        <p:tgtEl>
                                          <p:spTgt spid="139"/>
                                        </p:tgtEl>
                                        <p:attrNameLst>
                                          <p:attrName>style.visibility</p:attrName>
                                        </p:attrNameLst>
                                      </p:cBhvr>
                                      <p:to>
                                        <p:strVal val="visible"/>
                                      </p:to>
                                    </p:set>
                                    <p:animEffect transition="in" filter="fade">
                                      <p:cBhvr>
                                        <p:cTn id="392" dur="400"/>
                                        <p:tgtEl>
                                          <p:spTgt spid="139"/>
                                        </p:tgtEl>
                                      </p:cBhvr>
                                    </p:animEffect>
                                  </p:childTnLst>
                                </p:cTn>
                              </p:par>
                              <p:par>
                                <p:cTn id="393" presetID="10" presetClass="entr" presetSubtype="0" fill="hold" grpId="0" nodeType="clickEffect">
                                  <p:stCondLst>
                                    <p:cond delay="0"/>
                                  </p:stCondLst>
                                  <p:childTnLst>
                                    <p:set>
                                      <p:cBhvr>
                                        <p:cTn id="394" dur="1" fill="hold">
                                          <p:stCondLst>
                                            <p:cond delay="0"/>
                                          </p:stCondLst>
                                        </p:cTn>
                                        <p:tgtEl>
                                          <p:spTgt spid="140"/>
                                        </p:tgtEl>
                                        <p:attrNameLst>
                                          <p:attrName>style.visibility</p:attrName>
                                        </p:attrNameLst>
                                      </p:cBhvr>
                                      <p:to>
                                        <p:strVal val="visible"/>
                                      </p:to>
                                    </p:set>
                                    <p:animEffect transition="in" filter="fade">
                                      <p:cBhvr>
                                        <p:cTn id="395" dur="400"/>
                                        <p:tgtEl>
                                          <p:spTgt spid="140"/>
                                        </p:tgtEl>
                                      </p:cBhvr>
                                    </p:animEffect>
                                  </p:childTnLst>
                                </p:cTn>
                              </p:par>
                              <p:par>
                                <p:cTn id="396" presetID="10" presetClass="entr" presetSubtype="0" fill="hold" grpId="0" nodeType="clickEffect">
                                  <p:stCondLst>
                                    <p:cond delay="0"/>
                                  </p:stCondLst>
                                  <p:childTnLst>
                                    <p:set>
                                      <p:cBhvr>
                                        <p:cTn id="397" dur="1" fill="hold">
                                          <p:stCondLst>
                                            <p:cond delay="0"/>
                                          </p:stCondLst>
                                        </p:cTn>
                                        <p:tgtEl>
                                          <p:spTgt spid="141"/>
                                        </p:tgtEl>
                                        <p:attrNameLst>
                                          <p:attrName>style.visibility</p:attrName>
                                        </p:attrNameLst>
                                      </p:cBhvr>
                                      <p:to>
                                        <p:strVal val="visible"/>
                                      </p:to>
                                    </p:set>
                                    <p:animEffect transition="in" filter="fade">
                                      <p:cBhvr>
                                        <p:cTn id="398" dur="400"/>
                                        <p:tgtEl>
                                          <p:spTgt spid="141"/>
                                        </p:tgtEl>
                                      </p:cBhvr>
                                    </p:animEffect>
                                  </p:childTnLst>
                                </p:cTn>
                              </p:par>
                              <p:par>
                                <p:cTn id="399" presetID="10" presetClass="entr" presetSubtype="0" fill="hold" grpId="0" nodeType="clickEffect">
                                  <p:stCondLst>
                                    <p:cond delay="0"/>
                                  </p:stCondLst>
                                  <p:childTnLst>
                                    <p:set>
                                      <p:cBhvr>
                                        <p:cTn id="400" dur="1" fill="hold">
                                          <p:stCondLst>
                                            <p:cond delay="0"/>
                                          </p:stCondLst>
                                        </p:cTn>
                                        <p:tgtEl>
                                          <p:spTgt spid="142"/>
                                        </p:tgtEl>
                                        <p:attrNameLst>
                                          <p:attrName>style.visibility</p:attrName>
                                        </p:attrNameLst>
                                      </p:cBhvr>
                                      <p:to>
                                        <p:strVal val="visible"/>
                                      </p:to>
                                    </p:set>
                                    <p:animEffect transition="in" filter="fade">
                                      <p:cBhvr>
                                        <p:cTn id="401" dur="400"/>
                                        <p:tgtEl>
                                          <p:spTgt spid="142"/>
                                        </p:tgtEl>
                                      </p:cBhvr>
                                    </p:animEffect>
                                  </p:childTnLst>
                                </p:cTn>
                              </p:par>
                              <p:par>
                                <p:cTn id="402" presetID="10" presetClass="entr" presetSubtype="0" fill="hold" grpId="0" nodeType="clickEffect">
                                  <p:stCondLst>
                                    <p:cond delay="0"/>
                                  </p:stCondLst>
                                  <p:childTnLst>
                                    <p:set>
                                      <p:cBhvr>
                                        <p:cTn id="403" dur="1" fill="hold">
                                          <p:stCondLst>
                                            <p:cond delay="0"/>
                                          </p:stCondLst>
                                        </p:cTn>
                                        <p:tgtEl>
                                          <p:spTgt spid="143"/>
                                        </p:tgtEl>
                                        <p:attrNameLst>
                                          <p:attrName>style.visibility</p:attrName>
                                        </p:attrNameLst>
                                      </p:cBhvr>
                                      <p:to>
                                        <p:strVal val="visible"/>
                                      </p:to>
                                    </p:set>
                                    <p:animEffect transition="in" filter="fade">
                                      <p:cBhvr>
                                        <p:cTn id="404" dur="400"/>
                                        <p:tgtEl>
                                          <p:spTgt spid="143"/>
                                        </p:tgtEl>
                                      </p:cBhvr>
                                    </p:animEffect>
                                  </p:childTnLst>
                                </p:cTn>
                              </p:par>
                              <p:par>
                                <p:cTn id="405" presetID="10" presetClass="entr" presetSubtype="0" fill="hold" grpId="0" nodeType="clickEffect">
                                  <p:stCondLst>
                                    <p:cond delay="0"/>
                                  </p:stCondLst>
                                  <p:childTnLst>
                                    <p:set>
                                      <p:cBhvr>
                                        <p:cTn id="406" dur="1" fill="hold">
                                          <p:stCondLst>
                                            <p:cond delay="0"/>
                                          </p:stCondLst>
                                        </p:cTn>
                                        <p:tgtEl>
                                          <p:spTgt spid="144"/>
                                        </p:tgtEl>
                                        <p:attrNameLst>
                                          <p:attrName>style.visibility</p:attrName>
                                        </p:attrNameLst>
                                      </p:cBhvr>
                                      <p:to>
                                        <p:strVal val="visible"/>
                                      </p:to>
                                    </p:set>
                                    <p:animEffect transition="in" filter="fade">
                                      <p:cBhvr>
                                        <p:cTn id="407" dur="400"/>
                                        <p:tgtEl>
                                          <p:spTgt spid="144"/>
                                        </p:tgtEl>
                                      </p:cBhvr>
                                    </p:animEffect>
                                  </p:childTnLst>
                                </p:cTn>
                              </p:par>
                              <p:par>
                                <p:cTn id="408" presetID="10" presetClass="entr" presetSubtype="0" fill="hold" grpId="0" nodeType="clickEffect">
                                  <p:stCondLst>
                                    <p:cond delay="0"/>
                                  </p:stCondLst>
                                  <p:childTnLst>
                                    <p:set>
                                      <p:cBhvr>
                                        <p:cTn id="409" dur="1" fill="hold">
                                          <p:stCondLst>
                                            <p:cond delay="0"/>
                                          </p:stCondLst>
                                        </p:cTn>
                                        <p:tgtEl>
                                          <p:spTgt spid="145"/>
                                        </p:tgtEl>
                                        <p:attrNameLst>
                                          <p:attrName>style.visibility</p:attrName>
                                        </p:attrNameLst>
                                      </p:cBhvr>
                                      <p:to>
                                        <p:strVal val="visible"/>
                                      </p:to>
                                    </p:set>
                                    <p:animEffect transition="in" filter="fade">
                                      <p:cBhvr>
                                        <p:cTn id="410" dur="400"/>
                                        <p:tgtEl>
                                          <p:spTgt spid="145"/>
                                        </p:tgtEl>
                                      </p:cBhvr>
                                    </p:animEffect>
                                  </p:childTnLst>
                                </p:cTn>
                              </p:par>
                              <p:par>
                                <p:cTn id="411" presetID="10" presetClass="entr" presetSubtype="0" fill="hold" grpId="0" nodeType="clickEffect">
                                  <p:stCondLst>
                                    <p:cond delay="0"/>
                                  </p:stCondLst>
                                  <p:childTnLst>
                                    <p:set>
                                      <p:cBhvr>
                                        <p:cTn id="412" dur="1" fill="hold">
                                          <p:stCondLst>
                                            <p:cond delay="0"/>
                                          </p:stCondLst>
                                        </p:cTn>
                                        <p:tgtEl>
                                          <p:spTgt spid="146"/>
                                        </p:tgtEl>
                                        <p:attrNameLst>
                                          <p:attrName>style.visibility</p:attrName>
                                        </p:attrNameLst>
                                      </p:cBhvr>
                                      <p:to>
                                        <p:strVal val="visible"/>
                                      </p:to>
                                    </p:set>
                                    <p:animEffect transition="in" filter="fade">
                                      <p:cBhvr>
                                        <p:cTn id="413" dur="400"/>
                                        <p:tgtEl>
                                          <p:spTgt spid="146"/>
                                        </p:tgtEl>
                                      </p:cBhvr>
                                    </p:animEffect>
                                  </p:childTnLst>
                                </p:cTn>
                              </p:par>
                              <p:par>
                                <p:cTn id="414" presetID="10" presetClass="entr" presetSubtype="0" fill="hold" grpId="0" nodeType="clickEffect">
                                  <p:stCondLst>
                                    <p:cond delay="0"/>
                                  </p:stCondLst>
                                  <p:childTnLst>
                                    <p:set>
                                      <p:cBhvr>
                                        <p:cTn id="415" dur="1" fill="hold">
                                          <p:stCondLst>
                                            <p:cond delay="0"/>
                                          </p:stCondLst>
                                        </p:cTn>
                                        <p:tgtEl>
                                          <p:spTgt spid="147"/>
                                        </p:tgtEl>
                                        <p:attrNameLst>
                                          <p:attrName>style.visibility</p:attrName>
                                        </p:attrNameLst>
                                      </p:cBhvr>
                                      <p:to>
                                        <p:strVal val="visible"/>
                                      </p:to>
                                    </p:set>
                                    <p:animEffect transition="in" filter="fade">
                                      <p:cBhvr>
                                        <p:cTn id="416" dur="400"/>
                                        <p:tgtEl>
                                          <p:spTgt spid="147"/>
                                        </p:tgtEl>
                                      </p:cBhvr>
                                    </p:animEffect>
                                  </p:childTnLst>
                                </p:cTn>
                              </p:par>
                              <p:par>
                                <p:cTn id="417" presetID="10" presetClass="entr" presetSubtype="0" fill="hold" grpId="0" nodeType="clickEffect">
                                  <p:stCondLst>
                                    <p:cond delay="0"/>
                                  </p:stCondLst>
                                  <p:childTnLst>
                                    <p:set>
                                      <p:cBhvr>
                                        <p:cTn id="418" dur="1" fill="hold">
                                          <p:stCondLst>
                                            <p:cond delay="0"/>
                                          </p:stCondLst>
                                        </p:cTn>
                                        <p:tgtEl>
                                          <p:spTgt spid="148"/>
                                        </p:tgtEl>
                                        <p:attrNameLst>
                                          <p:attrName>style.visibility</p:attrName>
                                        </p:attrNameLst>
                                      </p:cBhvr>
                                      <p:to>
                                        <p:strVal val="visible"/>
                                      </p:to>
                                    </p:set>
                                    <p:animEffect transition="in" filter="fade">
                                      <p:cBhvr>
                                        <p:cTn id="419" dur="400"/>
                                        <p:tgtEl>
                                          <p:spTgt spid="148"/>
                                        </p:tgtEl>
                                      </p:cBhvr>
                                    </p:animEffect>
                                  </p:childTnLst>
                                </p:cTn>
                              </p:par>
                              <p:par>
                                <p:cTn id="420" presetID="10" presetClass="entr" presetSubtype="0" fill="hold" grpId="0" nodeType="clickEffect">
                                  <p:stCondLst>
                                    <p:cond delay="0"/>
                                  </p:stCondLst>
                                  <p:childTnLst>
                                    <p:set>
                                      <p:cBhvr>
                                        <p:cTn id="421" dur="1" fill="hold">
                                          <p:stCondLst>
                                            <p:cond delay="0"/>
                                          </p:stCondLst>
                                        </p:cTn>
                                        <p:tgtEl>
                                          <p:spTgt spid="149"/>
                                        </p:tgtEl>
                                        <p:attrNameLst>
                                          <p:attrName>style.visibility</p:attrName>
                                        </p:attrNameLst>
                                      </p:cBhvr>
                                      <p:to>
                                        <p:strVal val="visible"/>
                                      </p:to>
                                    </p:set>
                                    <p:animEffect transition="in" filter="fade">
                                      <p:cBhvr>
                                        <p:cTn id="422" dur="400"/>
                                        <p:tgtEl>
                                          <p:spTgt spid="149"/>
                                        </p:tgtEl>
                                      </p:cBhvr>
                                    </p:animEffect>
                                  </p:childTnLst>
                                </p:cTn>
                              </p:par>
                              <p:par>
                                <p:cTn id="423" presetID="10" presetClass="entr" presetSubtype="0" fill="hold" grpId="0" nodeType="clickEffect">
                                  <p:stCondLst>
                                    <p:cond delay="0"/>
                                  </p:stCondLst>
                                  <p:childTnLst>
                                    <p:set>
                                      <p:cBhvr>
                                        <p:cTn id="424" dur="1" fill="hold">
                                          <p:stCondLst>
                                            <p:cond delay="0"/>
                                          </p:stCondLst>
                                        </p:cTn>
                                        <p:tgtEl>
                                          <p:spTgt spid="150"/>
                                        </p:tgtEl>
                                        <p:attrNameLst>
                                          <p:attrName>style.visibility</p:attrName>
                                        </p:attrNameLst>
                                      </p:cBhvr>
                                      <p:to>
                                        <p:strVal val="visible"/>
                                      </p:to>
                                    </p:set>
                                    <p:animEffect transition="in" filter="fade">
                                      <p:cBhvr>
                                        <p:cTn id="425" dur="400"/>
                                        <p:tgtEl>
                                          <p:spTgt spid="150"/>
                                        </p:tgtEl>
                                      </p:cBhvr>
                                    </p:animEffect>
                                  </p:childTnLst>
                                </p:cTn>
                              </p:par>
                              <p:par>
                                <p:cTn id="426" presetID="10" presetClass="entr" presetSubtype="0" fill="hold" grpId="0" nodeType="clickEffect">
                                  <p:stCondLst>
                                    <p:cond delay="0"/>
                                  </p:stCondLst>
                                  <p:childTnLst>
                                    <p:set>
                                      <p:cBhvr>
                                        <p:cTn id="427" dur="1" fill="hold">
                                          <p:stCondLst>
                                            <p:cond delay="0"/>
                                          </p:stCondLst>
                                        </p:cTn>
                                        <p:tgtEl>
                                          <p:spTgt spid="151"/>
                                        </p:tgtEl>
                                        <p:attrNameLst>
                                          <p:attrName>style.visibility</p:attrName>
                                        </p:attrNameLst>
                                      </p:cBhvr>
                                      <p:to>
                                        <p:strVal val="visible"/>
                                      </p:to>
                                    </p:set>
                                    <p:animEffect transition="in" filter="fade">
                                      <p:cBhvr>
                                        <p:cTn id="428" dur="400"/>
                                        <p:tgtEl>
                                          <p:spTgt spid="151"/>
                                        </p:tgtEl>
                                      </p:cBhvr>
                                    </p:animEffect>
                                  </p:childTnLst>
                                </p:cTn>
                              </p:par>
                              <p:par>
                                <p:cTn id="429" presetID="10" presetClass="entr" presetSubtype="0" fill="hold" grpId="0" nodeType="clickEffect">
                                  <p:stCondLst>
                                    <p:cond delay="0"/>
                                  </p:stCondLst>
                                  <p:childTnLst>
                                    <p:set>
                                      <p:cBhvr>
                                        <p:cTn id="430" dur="1" fill="hold">
                                          <p:stCondLst>
                                            <p:cond delay="0"/>
                                          </p:stCondLst>
                                        </p:cTn>
                                        <p:tgtEl>
                                          <p:spTgt spid="152"/>
                                        </p:tgtEl>
                                        <p:attrNameLst>
                                          <p:attrName>style.visibility</p:attrName>
                                        </p:attrNameLst>
                                      </p:cBhvr>
                                      <p:to>
                                        <p:strVal val="visible"/>
                                      </p:to>
                                    </p:set>
                                    <p:animEffect transition="in" filter="fade">
                                      <p:cBhvr>
                                        <p:cTn id="431" dur="400"/>
                                        <p:tgtEl>
                                          <p:spTgt spid="152"/>
                                        </p:tgtEl>
                                      </p:cBhvr>
                                    </p:animEffect>
                                  </p:childTnLst>
                                </p:cTn>
                              </p:par>
                              <p:par>
                                <p:cTn id="432" presetID="10" presetClass="entr" presetSubtype="0" fill="hold" grpId="0" nodeType="clickEffect">
                                  <p:stCondLst>
                                    <p:cond delay="0"/>
                                  </p:stCondLst>
                                  <p:childTnLst>
                                    <p:set>
                                      <p:cBhvr>
                                        <p:cTn id="433" dur="1" fill="hold">
                                          <p:stCondLst>
                                            <p:cond delay="0"/>
                                          </p:stCondLst>
                                        </p:cTn>
                                        <p:tgtEl>
                                          <p:spTgt spid="153"/>
                                        </p:tgtEl>
                                        <p:attrNameLst>
                                          <p:attrName>style.visibility</p:attrName>
                                        </p:attrNameLst>
                                      </p:cBhvr>
                                      <p:to>
                                        <p:strVal val="visible"/>
                                      </p:to>
                                    </p:set>
                                    <p:animEffect transition="in" filter="fade">
                                      <p:cBhvr>
                                        <p:cTn id="434" dur="400"/>
                                        <p:tgtEl>
                                          <p:spTgt spid="153"/>
                                        </p:tgtEl>
                                      </p:cBhvr>
                                    </p:animEffect>
                                  </p:childTnLst>
                                </p:cTn>
                              </p:par>
                              <p:par>
                                <p:cTn id="435" presetID="10" presetClass="entr" presetSubtype="0" fill="hold" grpId="0" nodeType="clickEffect">
                                  <p:stCondLst>
                                    <p:cond delay="0"/>
                                  </p:stCondLst>
                                  <p:childTnLst>
                                    <p:set>
                                      <p:cBhvr>
                                        <p:cTn id="436" dur="1" fill="hold">
                                          <p:stCondLst>
                                            <p:cond delay="0"/>
                                          </p:stCondLst>
                                        </p:cTn>
                                        <p:tgtEl>
                                          <p:spTgt spid="154"/>
                                        </p:tgtEl>
                                        <p:attrNameLst>
                                          <p:attrName>style.visibility</p:attrName>
                                        </p:attrNameLst>
                                      </p:cBhvr>
                                      <p:to>
                                        <p:strVal val="visible"/>
                                      </p:to>
                                    </p:set>
                                    <p:animEffect transition="in" filter="fade">
                                      <p:cBhvr>
                                        <p:cTn id="437" dur="400"/>
                                        <p:tgtEl>
                                          <p:spTgt spid="154"/>
                                        </p:tgtEl>
                                      </p:cBhvr>
                                    </p:animEffect>
                                  </p:childTnLst>
                                </p:cTn>
                              </p:par>
                              <p:par>
                                <p:cTn id="438" presetID="10" presetClass="entr" presetSubtype="0" fill="hold" grpId="0" nodeType="clickEffect">
                                  <p:stCondLst>
                                    <p:cond delay="0"/>
                                  </p:stCondLst>
                                  <p:childTnLst>
                                    <p:set>
                                      <p:cBhvr>
                                        <p:cTn id="439" dur="1" fill="hold">
                                          <p:stCondLst>
                                            <p:cond delay="0"/>
                                          </p:stCondLst>
                                        </p:cTn>
                                        <p:tgtEl>
                                          <p:spTgt spid="155"/>
                                        </p:tgtEl>
                                        <p:attrNameLst>
                                          <p:attrName>style.visibility</p:attrName>
                                        </p:attrNameLst>
                                      </p:cBhvr>
                                      <p:to>
                                        <p:strVal val="visible"/>
                                      </p:to>
                                    </p:set>
                                    <p:animEffect transition="in" filter="fade">
                                      <p:cBhvr>
                                        <p:cTn id="440" dur="400"/>
                                        <p:tgtEl>
                                          <p:spTgt spid="155"/>
                                        </p:tgtEl>
                                      </p:cBhvr>
                                    </p:animEffect>
                                  </p:childTnLst>
                                </p:cTn>
                              </p:par>
                            </p:childTnLst>
                          </p:cTn>
                        </p:par>
                      </p:childTnLst>
                    </p:cTn>
                  </p:par>
                  <p:par>
                    <p:cTn id="441" fill="hold">
                      <p:stCondLst>
                        <p:cond delay="indefinite"/>
                      </p:stCondLst>
                      <p:childTnLst>
                        <p:par>
                          <p:cTn id="442" fill="hold">
                            <p:stCondLst>
                              <p:cond delay="0"/>
                            </p:stCondLst>
                            <p:childTnLst>
                              <p:par>
                                <p:cTn id="443" presetID="10" presetClass="entr" presetSubtype="0" fill="hold" grpId="0" nodeType="clickEffect">
                                  <p:stCondLst>
                                    <p:cond delay="0"/>
                                  </p:stCondLst>
                                  <p:childTnLst>
                                    <p:set>
                                      <p:cBhvr>
                                        <p:cTn id="444" dur="1" fill="hold">
                                          <p:stCondLst>
                                            <p:cond delay="0"/>
                                          </p:stCondLst>
                                        </p:cTn>
                                        <p:tgtEl>
                                          <p:spTgt spid="156"/>
                                        </p:tgtEl>
                                        <p:attrNameLst>
                                          <p:attrName>style.visibility</p:attrName>
                                        </p:attrNameLst>
                                      </p:cBhvr>
                                      <p:to>
                                        <p:strVal val="visible"/>
                                      </p:to>
                                    </p:set>
                                    <p:animEffect transition="in" filter="fade">
                                      <p:cBhvr>
                                        <p:cTn id="445" dur="400"/>
                                        <p:tgtEl>
                                          <p:spTgt spid="156"/>
                                        </p:tgtEl>
                                      </p:cBhvr>
                                    </p:animEffect>
                                  </p:childTnLst>
                                </p:cTn>
                              </p:par>
                              <p:par>
                                <p:cTn id="446" presetID="10" presetClass="entr" presetSubtype="0" fill="hold" grpId="0" nodeType="clickEffect">
                                  <p:stCondLst>
                                    <p:cond delay="0"/>
                                  </p:stCondLst>
                                  <p:childTnLst>
                                    <p:set>
                                      <p:cBhvr>
                                        <p:cTn id="447" dur="1" fill="hold">
                                          <p:stCondLst>
                                            <p:cond delay="0"/>
                                          </p:stCondLst>
                                        </p:cTn>
                                        <p:tgtEl>
                                          <p:spTgt spid="157"/>
                                        </p:tgtEl>
                                        <p:attrNameLst>
                                          <p:attrName>style.visibility</p:attrName>
                                        </p:attrNameLst>
                                      </p:cBhvr>
                                      <p:to>
                                        <p:strVal val="visible"/>
                                      </p:to>
                                    </p:set>
                                    <p:animEffect transition="in" filter="fade">
                                      <p:cBhvr>
                                        <p:cTn id="448" dur="400"/>
                                        <p:tgtEl>
                                          <p:spTgt spid="157"/>
                                        </p:tgtEl>
                                      </p:cBhvr>
                                    </p:animEffect>
                                  </p:childTnLst>
                                </p:cTn>
                              </p:par>
                              <p:par>
                                <p:cTn id="449" presetID="10" presetClass="entr" presetSubtype="0" fill="hold" grpId="0" nodeType="clickEffect">
                                  <p:stCondLst>
                                    <p:cond delay="0"/>
                                  </p:stCondLst>
                                  <p:childTnLst>
                                    <p:set>
                                      <p:cBhvr>
                                        <p:cTn id="450" dur="1" fill="hold">
                                          <p:stCondLst>
                                            <p:cond delay="0"/>
                                          </p:stCondLst>
                                        </p:cTn>
                                        <p:tgtEl>
                                          <p:spTgt spid="158"/>
                                        </p:tgtEl>
                                        <p:attrNameLst>
                                          <p:attrName>style.visibility</p:attrName>
                                        </p:attrNameLst>
                                      </p:cBhvr>
                                      <p:to>
                                        <p:strVal val="visible"/>
                                      </p:to>
                                    </p:set>
                                    <p:animEffect transition="in" filter="fade">
                                      <p:cBhvr>
                                        <p:cTn id="451" dur="400"/>
                                        <p:tgtEl>
                                          <p:spTgt spid="158"/>
                                        </p:tgtEl>
                                      </p:cBhvr>
                                    </p:animEffect>
                                  </p:childTnLst>
                                </p:cTn>
                              </p:par>
                              <p:par>
                                <p:cTn id="452" presetID="10" presetClass="entr" presetSubtype="0" fill="hold" grpId="0" nodeType="clickEffect">
                                  <p:stCondLst>
                                    <p:cond delay="0"/>
                                  </p:stCondLst>
                                  <p:childTnLst>
                                    <p:set>
                                      <p:cBhvr>
                                        <p:cTn id="453" dur="1" fill="hold">
                                          <p:stCondLst>
                                            <p:cond delay="0"/>
                                          </p:stCondLst>
                                        </p:cTn>
                                        <p:tgtEl>
                                          <p:spTgt spid="159"/>
                                        </p:tgtEl>
                                        <p:attrNameLst>
                                          <p:attrName>style.visibility</p:attrName>
                                        </p:attrNameLst>
                                      </p:cBhvr>
                                      <p:to>
                                        <p:strVal val="visible"/>
                                      </p:to>
                                    </p:set>
                                    <p:animEffect transition="in" filter="fade">
                                      <p:cBhvr>
                                        <p:cTn id="454" dur="400"/>
                                        <p:tgtEl>
                                          <p:spTgt spid="159"/>
                                        </p:tgtEl>
                                      </p:cBhvr>
                                    </p:animEffect>
                                  </p:childTnLst>
                                </p:cTn>
                              </p:par>
                              <p:par>
                                <p:cTn id="455" presetID="10" presetClass="entr" presetSubtype="0" fill="hold" grpId="0" nodeType="clickEffect">
                                  <p:stCondLst>
                                    <p:cond delay="0"/>
                                  </p:stCondLst>
                                  <p:childTnLst>
                                    <p:set>
                                      <p:cBhvr>
                                        <p:cTn id="456" dur="1" fill="hold">
                                          <p:stCondLst>
                                            <p:cond delay="0"/>
                                          </p:stCondLst>
                                        </p:cTn>
                                        <p:tgtEl>
                                          <p:spTgt spid="160"/>
                                        </p:tgtEl>
                                        <p:attrNameLst>
                                          <p:attrName>style.visibility</p:attrName>
                                        </p:attrNameLst>
                                      </p:cBhvr>
                                      <p:to>
                                        <p:strVal val="visible"/>
                                      </p:to>
                                    </p:set>
                                    <p:animEffect transition="in" filter="fade">
                                      <p:cBhvr>
                                        <p:cTn id="457" dur="400"/>
                                        <p:tgtEl>
                                          <p:spTgt spid="160"/>
                                        </p:tgtEl>
                                      </p:cBhvr>
                                    </p:animEffect>
                                  </p:childTnLst>
                                </p:cTn>
                              </p:par>
                              <p:par>
                                <p:cTn id="458" presetID="10" presetClass="entr" presetSubtype="0" fill="hold" grpId="0" nodeType="clickEffect">
                                  <p:stCondLst>
                                    <p:cond delay="0"/>
                                  </p:stCondLst>
                                  <p:childTnLst>
                                    <p:set>
                                      <p:cBhvr>
                                        <p:cTn id="459" dur="1" fill="hold">
                                          <p:stCondLst>
                                            <p:cond delay="0"/>
                                          </p:stCondLst>
                                        </p:cTn>
                                        <p:tgtEl>
                                          <p:spTgt spid="161"/>
                                        </p:tgtEl>
                                        <p:attrNameLst>
                                          <p:attrName>style.visibility</p:attrName>
                                        </p:attrNameLst>
                                      </p:cBhvr>
                                      <p:to>
                                        <p:strVal val="visible"/>
                                      </p:to>
                                    </p:set>
                                    <p:animEffect transition="in" filter="fade">
                                      <p:cBhvr>
                                        <p:cTn id="460" dur="400"/>
                                        <p:tgtEl>
                                          <p:spTgt spid="161"/>
                                        </p:tgtEl>
                                      </p:cBhvr>
                                    </p:animEffect>
                                  </p:childTnLst>
                                </p:cTn>
                              </p:par>
                              <p:par>
                                <p:cTn id="461" presetID="10" presetClass="entr" presetSubtype="0" fill="hold" grpId="0" nodeType="clickEffect">
                                  <p:stCondLst>
                                    <p:cond delay="0"/>
                                  </p:stCondLst>
                                  <p:childTnLst>
                                    <p:set>
                                      <p:cBhvr>
                                        <p:cTn id="462" dur="1" fill="hold">
                                          <p:stCondLst>
                                            <p:cond delay="0"/>
                                          </p:stCondLst>
                                        </p:cTn>
                                        <p:tgtEl>
                                          <p:spTgt spid="162"/>
                                        </p:tgtEl>
                                        <p:attrNameLst>
                                          <p:attrName>style.visibility</p:attrName>
                                        </p:attrNameLst>
                                      </p:cBhvr>
                                      <p:to>
                                        <p:strVal val="visible"/>
                                      </p:to>
                                    </p:set>
                                    <p:animEffect transition="in" filter="fade">
                                      <p:cBhvr>
                                        <p:cTn id="463" dur="400"/>
                                        <p:tgtEl>
                                          <p:spTgt spid="162"/>
                                        </p:tgtEl>
                                      </p:cBhvr>
                                    </p:animEffect>
                                  </p:childTnLst>
                                </p:cTn>
                              </p:par>
                              <p:par>
                                <p:cTn id="464" presetID="10" presetClass="entr" presetSubtype="0" fill="hold" grpId="0" nodeType="clickEffect">
                                  <p:stCondLst>
                                    <p:cond delay="0"/>
                                  </p:stCondLst>
                                  <p:childTnLst>
                                    <p:set>
                                      <p:cBhvr>
                                        <p:cTn id="465" dur="1" fill="hold">
                                          <p:stCondLst>
                                            <p:cond delay="0"/>
                                          </p:stCondLst>
                                        </p:cTn>
                                        <p:tgtEl>
                                          <p:spTgt spid="163"/>
                                        </p:tgtEl>
                                        <p:attrNameLst>
                                          <p:attrName>style.visibility</p:attrName>
                                        </p:attrNameLst>
                                      </p:cBhvr>
                                      <p:to>
                                        <p:strVal val="visible"/>
                                      </p:to>
                                    </p:set>
                                    <p:animEffect transition="in" filter="fade">
                                      <p:cBhvr>
                                        <p:cTn id="466" dur="400"/>
                                        <p:tgtEl>
                                          <p:spTgt spid="163"/>
                                        </p:tgtEl>
                                      </p:cBhvr>
                                    </p:animEffect>
                                  </p:childTnLst>
                                </p:cTn>
                              </p:par>
                              <p:par>
                                <p:cTn id="467" presetID="10" presetClass="entr" presetSubtype="0" fill="hold" grpId="0" nodeType="clickEffect">
                                  <p:stCondLst>
                                    <p:cond delay="0"/>
                                  </p:stCondLst>
                                  <p:childTnLst>
                                    <p:set>
                                      <p:cBhvr>
                                        <p:cTn id="468" dur="1" fill="hold">
                                          <p:stCondLst>
                                            <p:cond delay="0"/>
                                          </p:stCondLst>
                                        </p:cTn>
                                        <p:tgtEl>
                                          <p:spTgt spid="164"/>
                                        </p:tgtEl>
                                        <p:attrNameLst>
                                          <p:attrName>style.visibility</p:attrName>
                                        </p:attrNameLst>
                                      </p:cBhvr>
                                      <p:to>
                                        <p:strVal val="visible"/>
                                      </p:to>
                                    </p:set>
                                    <p:animEffect transition="in" filter="fade">
                                      <p:cBhvr>
                                        <p:cTn id="469" dur="400"/>
                                        <p:tgtEl>
                                          <p:spTgt spid="164"/>
                                        </p:tgtEl>
                                      </p:cBhvr>
                                    </p:animEffect>
                                  </p:childTnLst>
                                </p:cTn>
                              </p:par>
                              <p:par>
                                <p:cTn id="470" presetID="10" presetClass="entr" presetSubtype="0" fill="hold" grpId="0" nodeType="clickEffect">
                                  <p:stCondLst>
                                    <p:cond delay="0"/>
                                  </p:stCondLst>
                                  <p:childTnLst>
                                    <p:set>
                                      <p:cBhvr>
                                        <p:cTn id="471" dur="1" fill="hold">
                                          <p:stCondLst>
                                            <p:cond delay="0"/>
                                          </p:stCondLst>
                                        </p:cTn>
                                        <p:tgtEl>
                                          <p:spTgt spid="165"/>
                                        </p:tgtEl>
                                        <p:attrNameLst>
                                          <p:attrName>style.visibility</p:attrName>
                                        </p:attrNameLst>
                                      </p:cBhvr>
                                      <p:to>
                                        <p:strVal val="visible"/>
                                      </p:to>
                                    </p:set>
                                    <p:animEffect transition="in" filter="fade">
                                      <p:cBhvr>
                                        <p:cTn id="472" dur="400"/>
                                        <p:tgtEl>
                                          <p:spTgt spid="165"/>
                                        </p:tgtEl>
                                      </p:cBhvr>
                                    </p:animEffect>
                                  </p:childTnLst>
                                </p:cTn>
                              </p:par>
                              <p:par>
                                <p:cTn id="473" presetID="10" presetClass="entr" presetSubtype="0" fill="hold" grpId="0" nodeType="clickEffect">
                                  <p:stCondLst>
                                    <p:cond delay="0"/>
                                  </p:stCondLst>
                                  <p:childTnLst>
                                    <p:set>
                                      <p:cBhvr>
                                        <p:cTn id="474" dur="1" fill="hold">
                                          <p:stCondLst>
                                            <p:cond delay="0"/>
                                          </p:stCondLst>
                                        </p:cTn>
                                        <p:tgtEl>
                                          <p:spTgt spid="166"/>
                                        </p:tgtEl>
                                        <p:attrNameLst>
                                          <p:attrName>style.visibility</p:attrName>
                                        </p:attrNameLst>
                                      </p:cBhvr>
                                      <p:to>
                                        <p:strVal val="visible"/>
                                      </p:to>
                                    </p:set>
                                    <p:animEffect transition="in" filter="fade">
                                      <p:cBhvr>
                                        <p:cTn id="475" dur="400"/>
                                        <p:tgtEl>
                                          <p:spTgt spid="166"/>
                                        </p:tgtEl>
                                      </p:cBhvr>
                                    </p:animEffect>
                                  </p:childTnLst>
                                </p:cTn>
                              </p:par>
                              <p:par>
                                <p:cTn id="476" presetID="10" presetClass="entr" presetSubtype="0" fill="hold" grpId="0" nodeType="clickEffect">
                                  <p:stCondLst>
                                    <p:cond delay="0"/>
                                  </p:stCondLst>
                                  <p:childTnLst>
                                    <p:set>
                                      <p:cBhvr>
                                        <p:cTn id="477" dur="1" fill="hold">
                                          <p:stCondLst>
                                            <p:cond delay="0"/>
                                          </p:stCondLst>
                                        </p:cTn>
                                        <p:tgtEl>
                                          <p:spTgt spid="167"/>
                                        </p:tgtEl>
                                        <p:attrNameLst>
                                          <p:attrName>style.visibility</p:attrName>
                                        </p:attrNameLst>
                                      </p:cBhvr>
                                      <p:to>
                                        <p:strVal val="visible"/>
                                      </p:to>
                                    </p:set>
                                    <p:animEffect transition="in" filter="fade">
                                      <p:cBhvr>
                                        <p:cTn id="478" dur="400"/>
                                        <p:tgtEl>
                                          <p:spTgt spid="167"/>
                                        </p:tgtEl>
                                      </p:cBhvr>
                                    </p:animEffect>
                                  </p:childTnLst>
                                </p:cTn>
                              </p:par>
                              <p:par>
                                <p:cTn id="479" presetID="10" presetClass="entr" presetSubtype="0" fill="hold" grpId="0" nodeType="clickEffect">
                                  <p:stCondLst>
                                    <p:cond delay="0"/>
                                  </p:stCondLst>
                                  <p:childTnLst>
                                    <p:set>
                                      <p:cBhvr>
                                        <p:cTn id="480" dur="1" fill="hold">
                                          <p:stCondLst>
                                            <p:cond delay="0"/>
                                          </p:stCondLst>
                                        </p:cTn>
                                        <p:tgtEl>
                                          <p:spTgt spid="168"/>
                                        </p:tgtEl>
                                        <p:attrNameLst>
                                          <p:attrName>style.visibility</p:attrName>
                                        </p:attrNameLst>
                                      </p:cBhvr>
                                      <p:to>
                                        <p:strVal val="visible"/>
                                      </p:to>
                                    </p:set>
                                    <p:animEffect transition="in" filter="fade">
                                      <p:cBhvr>
                                        <p:cTn id="481" dur="400"/>
                                        <p:tgtEl>
                                          <p:spTgt spid="168"/>
                                        </p:tgtEl>
                                      </p:cBhvr>
                                    </p:animEffect>
                                  </p:childTnLst>
                                </p:cTn>
                              </p:par>
                              <p:par>
                                <p:cTn id="482" presetID="10" presetClass="entr" presetSubtype="0" fill="hold" grpId="0" nodeType="clickEffect">
                                  <p:stCondLst>
                                    <p:cond delay="0"/>
                                  </p:stCondLst>
                                  <p:childTnLst>
                                    <p:set>
                                      <p:cBhvr>
                                        <p:cTn id="483" dur="1" fill="hold">
                                          <p:stCondLst>
                                            <p:cond delay="0"/>
                                          </p:stCondLst>
                                        </p:cTn>
                                        <p:tgtEl>
                                          <p:spTgt spid="169"/>
                                        </p:tgtEl>
                                        <p:attrNameLst>
                                          <p:attrName>style.visibility</p:attrName>
                                        </p:attrNameLst>
                                      </p:cBhvr>
                                      <p:to>
                                        <p:strVal val="visible"/>
                                      </p:to>
                                    </p:set>
                                    <p:animEffect transition="in" filter="fade">
                                      <p:cBhvr>
                                        <p:cTn id="484" dur="400"/>
                                        <p:tgtEl>
                                          <p:spTgt spid="169"/>
                                        </p:tgtEl>
                                      </p:cBhvr>
                                    </p:animEffect>
                                  </p:childTnLst>
                                </p:cTn>
                              </p:par>
                              <p:par>
                                <p:cTn id="485" presetID="10" presetClass="entr" presetSubtype="0" fill="hold" grpId="0" nodeType="clickEffect">
                                  <p:stCondLst>
                                    <p:cond delay="0"/>
                                  </p:stCondLst>
                                  <p:childTnLst>
                                    <p:set>
                                      <p:cBhvr>
                                        <p:cTn id="486" dur="1" fill="hold">
                                          <p:stCondLst>
                                            <p:cond delay="0"/>
                                          </p:stCondLst>
                                        </p:cTn>
                                        <p:tgtEl>
                                          <p:spTgt spid="170"/>
                                        </p:tgtEl>
                                        <p:attrNameLst>
                                          <p:attrName>style.visibility</p:attrName>
                                        </p:attrNameLst>
                                      </p:cBhvr>
                                      <p:to>
                                        <p:strVal val="visible"/>
                                      </p:to>
                                    </p:set>
                                    <p:animEffect transition="in" filter="fade">
                                      <p:cBhvr>
                                        <p:cTn id="487" dur="400"/>
                                        <p:tgtEl>
                                          <p:spTgt spid="170"/>
                                        </p:tgtEl>
                                      </p:cBhvr>
                                    </p:animEffect>
                                  </p:childTnLst>
                                </p:cTn>
                              </p:par>
                              <p:par>
                                <p:cTn id="488" presetID="10" presetClass="entr" presetSubtype="0" fill="hold" grpId="0" nodeType="clickEffect">
                                  <p:stCondLst>
                                    <p:cond delay="0"/>
                                  </p:stCondLst>
                                  <p:childTnLst>
                                    <p:set>
                                      <p:cBhvr>
                                        <p:cTn id="489" dur="1" fill="hold">
                                          <p:stCondLst>
                                            <p:cond delay="0"/>
                                          </p:stCondLst>
                                        </p:cTn>
                                        <p:tgtEl>
                                          <p:spTgt spid="171"/>
                                        </p:tgtEl>
                                        <p:attrNameLst>
                                          <p:attrName>style.visibility</p:attrName>
                                        </p:attrNameLst>
                                      </p:cBhvr>
                                      <p:to>
                                        <p:strVal val="visible"/>
                                      </p:to>
                                    </p:set>
                                    <p:animEffect transition="in" filter="fade">
                                      <p:cBhvr>
                                        <p:cTn id="490" dur="400"/>
                                        <p:tgtEl>
                                          <p:spTgt spid="171"/>
                                        </p:tgtEl>
                                      </p:cBhvr>
                                    </p:animEffect>
                                  </p:childTnLst>
                                </p:cTn>
                              </p:par>
                              <p:par>
                                <p:cTn id="491" presetID="10" presetClass="entr" presetSubtype="0" fill="hold" grpId="0" nodeType="clickEffect">
                                  <p:stCondLst>
                                    <p:cond delay="0"/>
                                  </p:stCondLst>
                                  <p:childTnLst>
                                    <p:set>
                                      <p:cBhvr>
                                        <p:cTn id="492" dur="1" fill="hold">
                                          <p:stCondLst>
                                            <p:cond delay="0"/>
                                          </p:stCondLst>
                                        </p:cTn>
                                        <p:tgtEl>
                                          <p:spTgt spid="172"/>
                                        </p:tgtEl>
                                        <p:attrNameLst>
                                          <p:attrName>style.visibility</p:attrName>
                                        </p:attrNameLst>
                                      </p:cBhvr>
                                      <p:to>
                                        <p:strVal val="visible"/>
                                      </p:to>
                                    </p:set>
                                    <p:animEffect transition="in" filter="fade">
                                      <p:cBhvr>
                                        <p:cTn id="493" dur="400"/>
                                        <p:tgtEl>
                                          <p:spTgt spid="172"/>
                                        </p:tgtEl>
                                      </p:cBhvr>
                                    </p:animEffect>
                                  </p:childTnLst>
                                </p:cTn>
                              </p:par>
                              <p:par>
                                <p:cTn id="494" presetID="10" presetClass="entr" presetSubtype="0" fill="hold" grpId="0" nodeType="clickEffect">
                                  <p:stCondLst>
                                    <p:cond delay="0"/>
                                  </p:stCondLst>
                                  <p:childTnLst>
                                    <p:set>
                                      <p:cBhvr>
                                        <p:cTn id="495" dur="1" fill="hold">
                                          <p:stCondLst>
                                            <p:cond delay="0"/>
                                          </p:stCondLst>
                                        </p:cTn>
                                        <p:tgtEl>
                                          <p:spTgt spid="173"/>
                                        </p:tgtEl>
                                        <p:attrNameLst>
                                          <p:attrName>style.visibility</p:attrName>
                                        </p:attrNameLst>
                                      </p:cBhvr>
                                      <p:to>
                                        <p:strVal val="visible"/>
                                      </p:to>
                                    </p:set>
                                    <p:animEffect transition="in" filter="fade">
                                      <p:cBhvr>
                                        <p:cTn id="496" dur="400"/>
                                        <p:tgtEl>
                                          <p:spTgt spid="173"/>
                                        </p:tgtEl>
                                      </p:cBhvr>
                                    </p:animEffect>
                                  </p:childTnLst>
                                </p:cTn>
                              </p:par>
                              <p:par>
                                <p:cTn id="497" presetID="10" presetClass="entr" presetSubtype="0" fill="hold" grpId="0" nodeType="clickEffect">
                                  <p:stCondLst>
                                    <p:cond delay="0"/>
                                  </p:stCondLst>
                                  <p:childTnLst>
                                    <p:set>
                                      <p:cBhvr>
                                        <p:cTn id="498" dur="1" fill="hold">
                                          <p:stCondLst>
                                            <p:cond delay="0"/>
                                          </p:stCondLst>
                                        </p:cTn>
                                        <p:tgtEl>
                                          <p:spTgt spid="174"/>
                                        </p:tgtEl>
                                        <p:attrNameLst>
                                          <p:attrName>style.visibility</p:attrName>
                                        </p:attrNameLst>
                                      </p:cBhvr>
                                      <p:to>
                                        <p:strVal val="visible"/>
                                      </p:to>
                                    </p:set>
                                    <p:animEffect transition="in" filter="fade">
                                      <p:cBhvr>
                                        <p:cTn id="499" dur="400"/>
                                        <p:tgtEl>
                                          <p:spTgt spid="174"/>
                                        </p:tgtEl>
                                      </p:cBhvr>
                                    </p:animEffect>
                                  </p:childTnLst>
                                </p:cTn>
                              </p:par>
                              <p:par>
                                <p:cTn id="500" presetID="10" presetClass="entr" presetSubtype="0" fill="hold" grpId="0" nodeType="clickEffect">
                                  <p:stCondLst>
                                    <p:cond delay="0"/>
                                  </p:stCondLst>
                                  <p:childTnLst>
                                    <p:set>
                                      <p:cBhvr>
                                        <p:cTn id="501" dur="1" fill="hold">
                                          <p:stCondLst>
                                            <p:cond delay="0"/>
                                          </p:stCondLst>
                                        </p:cTn>
                                        <p:tgtEl>
                                          <p:spTgt spid="175"/>
                                        </p:tgtEl>
                                        <p:attrNameLst>
                                          <p:attrName>style.visibility</p:attrName>
                                        </p:attrNameLst>
                                      </p:cBhvr>
                                      <p:to>
                                        <p:strVal val="visible"/>
                                      </p:to>
                                    </p:set>
                                    <p:animEffect transition="in" filter="fade">
                                      <p:cBhvr>
                                        <p:cTn id="502" dur="400"/>
                                        <p:tgtEl>
                                          <p:spTgt spid="175"/>
                                        </p:tgtEl>
                                      </p:cBhvr>
                                    </p:animEffect>
                                  </p:childTnLst>
                                </p:cTn>
                              </p:par>
                              <p:par>
                                <p:cTn id="503" presetID="10" presetClass="entr" presetSubtype="0" fill="hold" grpId="0" nodeType="clickEffect">
                                  <p:stCondLst>
                                    <p:cond delay="0"/>
                                  </p:stCondLst>
                                  <p:childTnLst>
                                    <p:set>
                                      <p:cBhvr>
                                        <p:cTn id="504" dur="1" fill="hold">
                                          <p:stCondLst>
                                            <p:cond delay="0"/>
                                          </p:stCondLst>
                                        </p:cTn>
                                        <p:tgtEl>
                                          <p:spTgt spid="176"/>
                                        </p:tgtEl>
                                        <p:attrNameLst>
                                          <p:attrName>style.visibility</p:attrName>
                                        </p:attrNameLst>
                                      </p:cBhvr>
                                      <p:to>
                                        <p:strVal val="visible"/>
                                      </p:to>
                                    </p:set>
                                    <p:animEffect transition="in" filter="fade">
                                      <p:cBhvr>
                                        <p:cTn id="505" dur="400"/>
                                        <p:tgtEl>
                                          <p:spTgt spid="176"/>
                                        </p:tgtEl>
                                      </p:cBhvr>
                                    </p:animEffect>
                                  </p:childTnLst>
                                </p:cTn>
                              </p:par>
                              <p:par>
                                <p:cTn id="506" presetID="10" presetClass="entr" presetSubtype="0" fill="hold" grpId="0" nodeType="clickEffect">
                                  <p:stCondLst>
                                    <p:cond delay="0"/>
                                  </p:stCondLst>
                                  <p:childTnLst>
                                    <p:set>
                                      <p:cBhvr>
                                        <p:cTn id="507" dur="1" fill="hold">
                                          <p:stCondLst>
                                            <p:cond delay="0"/>
                                          </p:stCondLst>
                                        </p:cTn>
                                        <p:tgtEl>
                                          <p:spTgt spid="177"/>
                                        </p:tgtEl>
                                        <p:attrNameLst>
                                          <p:attrName>style.visibility</p:attrName>
                                        </p:attrNameLst>
                                      </p:cBhvr>
                                      <p:to>
                                        <p:strVal val="visible"/>
                                      </p:to>
                                    </p:set>
                                    <p:animEffect transition="in" filter="fade">
                                      <p:cBhvr>
                                        <p:cTn id="508" dur="400"/>
                                        <p:tgtEl>
                                          <p:spTgt spid="177"/>
                                        </p:tgtEl>
                                      </p:cBhvr>
                                    </p:animEffect>
                                  </p:childTnLst>
                                </p:cTn>
                              </p:par>
                              <p:par>
                                <p:cTn id="509" presetID="10" presetClass="entr" presetSubtype="0" fill="hold" grpId="0" nodeType="clickEffect">
                                  <p:stCondLst>
                                    <p:cond delay="0"/>
                                  </p:stCondLst>
                                  <p:childTnLst>
                                    <p:set>
                                      <p:cBhvr>
                                        <p:cTn id="510" dur="1" fill="hold">
                                          <p:stCondLst>
                                            <p:cond delay="0"/>
                                          </p:stCondLst>
                                        </p:cTn>
                                        <p:tgtEl>
                                          <p:spTgt spid="178"/>
                                        </p:tgtEl>
                                        <p:attrNameLst>
                                          <p:attrName>style.visibility</p:attrName>
                                        </p:attrNameLst>
                                      </p:cBhvr>
                                      <p:to>
                                        <p:strVal val="visible"/>
                                      </p:to>
                                    </p:set>
                                    <p:animEffect transition="in" filter="fade">
                                      <p:cBhvr>
                                        <p:cTn id="511" dur="400"/>
                                        <p:tgtEl>
                                          <p:spTgt spid="178"/>
                                        </p:tgtEl>
                                      </p:cBhvr>
                                    </p:animEffect>
                                  </p:childTnLst>
                                </p:cTn>
                              </p:par>
                              <p:par>
                                <p:cTn id="512" presetID="10" presetClass="entr" presetSubtype="0" fill="hold" grpId="0" nodeType="clickEffect">
                                  <p:stCondLst>
                                    <p:cond delay="0"/>
                                  </p:stCondLst>
                                  <p:childTnLst>
                                    <p:set>
                                      <p:cBhvr>
                                        <p:cTn id="513" dur="1" fill="hold">
                                          <p:stCondLst>
                                            <p:cond delay="0"/>
                                          </p:stCondLst>
                                        </p:cTn>
                                        <p:tgtEl>
                                          <p:spTgt spid="179"/>
                                        </p:tgtEl>
                                        <p:attrNameLst>
                                          <p:attrName>style.visibility</p:attrName>
                                        </p:attrNameLst>
                                      </p:cBhvr>
                                      <p:to>
                                        <p:strVal val="visible"/>
                                      </p:to>
                                    </p:set>
                                    <p:animEffect transition="in" filter="fade">
                                      <p:cBhvr>
                                        <p:cTn id="514" dur="400"/>
                                        <p:tgtEl>
                                          <p:spTgt spid="179"/>
                                        </p:tgtEl>
                                      </p:cBhvr>
                                    </p:animEffect>
                                  </p:childTnLst>
                                </p:cTn>
                              </p:par>
                              <p:par>
                                <p:cTn id="515" presetID="10" presetClass="entr" presetSubtype="0" fill="hold" grpId="0" nodeType="clickEffect">
                                  <p:stCondLst>
                                    <p:cond delay="0"/>
                                  </p:stCondLst>
                                  <p:childTnLst>
                                    <p:set>
                                      <p:cBhvr>
                                        <p:cTn id="516" dur="1" fill="hold">
                                          <p:stCondLst>
                                            <p:cond delay="0"/>
                                          </p:stCondLst>
                                        </p:cTn>
                                        <p:tgtEl>
                                          <p:spTgt spid="180"/>
                                        </p:tgtEl>
                                        <p:attrNameLst>
                                          <p:attrName>style.visibility</p:attrName>
                                        </p:attrNameLst>
                                      </p:cBhvr>
                                      <p:to>
                                        <p:strVal val="visible"/>
                                      </p:to>
                                    </p:set>
                                    <p:animEffect transition="in" filter="fade">
                                      <p:cBhvr>
                                        <p:cTn id="517" dur="400"/>
                                        <p:tgtEl>
                                          <p:spTgt spid="180"/>
                                        </p:tgtEl>
                                      </p:cBhvr>
                                    </p:animEffect>
                                  </p:childTnLst>
                                </p:cTn>
                              </p:par>
                              <p:par>
                                <p:cTn id="518" presetID="10" presetClass="entr" presetSubtype="0" fill="hold" grpId="0" nodeType="clickEffect">
                                  <p:stCondLst>
                                    <p:cond delay="0"/>
                                  </p:stCondLst>
                                  <p:childTnLst>
                                    <p:set>
                                      <p:cBhvr>
                                        <p:cTn id="519" dur="1" fill="hold">
                                          <p:stCondLst>
                                            <p:cond delay="0"/>
                                          </p:stCondLst>
                                        </p:cTn>
                                        <p:tgtEl>
                                          <p:spTgt spid="181"/>
                                        </p:tgtEl>
                                        <p:attrNameLst>
                                          <p:attrName>style.visibility</p:attrName>
                                        </p:attrNameLst>
                                      </p:cBhvr>
                                      <p:to>
                                        <p:strVal val="visible"/>
                                      </p:to>
                                    </p:set>
                                    <p:animEffect transition="in" filter="fade">
                                      <p:cBhvr>
                                        <p:cTn id="520" dur="400"/>
                                        <p:tgtEl>
                                          <p:spTgt spid="181"/>
                                        </p:tgtEl>
                                      </p:cBhvr>
                                    </p:animEffect>
                                  </p:childTnLst>
                                </p:cTn>
                              </p:par>
                              <p:par>
                                <p:cTn id="521" presetID="10" presetClass="entr" presetSubtype="0" fill="hold" grpId="0" nodeType="clickEffect">
                                  <p:stCondLst>
                                    <p:cond delay="0"/>
                                  </p:stCondLst>
                                  <p:childTnLst>
                                    <p:set>
                                      <p:cBhvr>
                                        <p:cTn id="522" dur="1" fill="hold">
                                          <p:stCondLst>
                                            <p:cond delay="0"/>
                                          </p:stCondLst>
                                        </p:cTn>
                                        <p:tgtEl>
                                          <p:spTgt spid="182"/>
                                        </p:tgtEl>
                                        <p:attrNameLst>
                                          <p:attrName>style.visibility</p:attrName>
                                        </p:attrNameLst>
                                      </p:cBhvr>
                                      <p:to>
                                        <p:strVal val="visible"/>
                                      </p:to>
                                    </p:set>
                                    <p:animEffect transition="in" filter="fade">
                                      <p:cBhvr>
                                        <p:cTn id="523" dur="400"/>
                                        <p:tgtEl>
                                          <p:spTgt spid="182"/>
                                        </p:tgtEl>
                                      </p:cBhvr>
                                    </p:animEffect>
                                  </p:childTnLst>
                                </p:cTn>
                              </p:par>
                              <p:par>
                                <p:cTn id="524" presetID="10" presetClass="entr" presetSubtype="0" fill="hold" grpId="0" nodeType="clickEffect">
                                  <p:stCondLst>
                                    <p:cond delay="0"/>
                                  </p:stCondLst>
                                  <p:childTnLst>
                                    <p:set>
                                      <p:cBhvr>
                                        <p:cTn id="525" dur="1" fill="hold">
                                          <p:stCondLst>
                                            <p:cond delay="0"/>
                                          </p:stCondLst>
                                        </p:cTn>
                                        <p:tgtEl>
                                          <p:spTgt spid="183"/>
                                        </p:tgtEl>
                                        <p:attrNameLst>
                                          <p:attrName>style.visibility</p:attrName>
                                        </p:attrNameLst>
                                      </p:cBhvr>
                                      <p:to>
                                        <p:strVal val="visible"/>
                                      </p:to>
                                    </p:set>
                                    <p:animEffect transition="in" filter="fade">
                                      <p:cBhvr>
                                        <p:cTn id="526" dur="400"/>
                                        <p:tgtEl>
                                          <p:spTgt spid="183"/>
                                        </p:tgtEl>
                                      </p:cBhvr>
                                    </p:animEffect>
                                  </p:childTnLst>
                                </p:cTn>
                              </p:par>
                              <p:par>
                                <p:cTn id="527" presetID="10" presetClass="entr" presetSubtype="0" fill="hold" grpId="0" nodeType="clickEffect">
                                  <p:stCondLst>
                                    <p:cond delay="0"/>
                                  </p:stCondLst>
                                  <p:childTnLst>
                                    <p:set>
                                      <p:cBhvr>
                                        <p:cTn id="528" dur="1" fill="hold">
                                          <p:stCondLst>
                                            <p:cond delay="0"/>
                                          </p:stCondLst>
                                        </p:cTn>
                                        <p:tgtEl>
                                          <p:spTgt spid="184"/>
                                        </p:tgtEl>
                                        <p:attrNameLst>
                                          <p:attrName>style.visibility</p:attrName>
                                        </p:attrNameLst>
                                      </p:cBhvr>
                                      <p:to>
                                        <p:strVal val="visible"/>
                                      </p:to>
                                    </p:set>
                                    <p:animEffect transition="in" filter="fade">
                                      <p:cBhvr>
                                        <p:cTn id="529" dur="400"/>
                                        <p:tgtEl>
                                          <p:spTgt spid="184"/>
                                        </p:tgtEl>
                                      </p:cBhvr>
                                    </p:animEffect>
                                  </p:childTnLst>
                                </p:cTn>
                              </p:par>
                              <p:par>
                                <p:cTn id="530" presetID="10" presetClass="entr" presetSubtype="0" fill="hold" grpId="0" nodeType="clickEffect">
                                  <p:stCondLst>
                                    <p:cond delay="0"/>
                                  </p:stCondLst>
                                  <p:childTnLst>
                                    <p:set>
                                      <p:cBhvr>
                                        <p:cTn id="531" dur="1" fill="hold">
                                          <p:stCondLst>
                                            <p:cond delay="0"/>
                                          </p:stCondLst>
                                        </p:cTn>
                                        <p:tgtEl>
                                          <p:spTgt spid="185"/>
                                        </p:tgtEl>
                                        <p:attrNameLst>
                                          <p:attrName>style.visibility</p:attrName>
                                        </p:attrNameLst>
                                      </p:cBhvr>
                                      <p:to>
                                        <p:strVal val="visible"/>
                                      </p:to>
                                    </p:set>
                                    <p:animEffect transition="in" filter="fade">
                                      <p:cBhvr>
                                        <p:cTn id="532" dur="400"/>
                                        <p:tgtEl>
                                          <p:spTgt spid="185"/>
                                        </p:tgtEl>
                                      </p:cBhvr>
                                    </p:animEffect>
                                  </p:childTnLst>
                                </p:cTn>
                              </p:par>
                              <p:par>
                                <p:cTn id="533" presetID="10" presetClass="entr" presetSubtype="0" fill="hold" grpId="0" nodeType="clickEffect">
                                  <p:stCondLst>
                                    <p:cond delay="0"/>
                                  </p:stCondLst>
                                  <p:childTnLst>
                                    <p:set>
                                      <p:cBhvr>
                                        <p:cTn id="534" dur="1" fill="hold">
                                          <p:stCondLst>
                                            <p:cond delay="0"/>
                                          </p:stCondLst>
                                        </p:cTn>
                                        <p:tgtEl>
                                          <p:spTgt spid="186"/>
                                        </p:tgtEl>
                                        <p:attrNameLst>
                                          <p:attrName>style.visibility</p:attrName>
                                        </p:attrNameLst>
                                      </p:cBhvr>
                                      <p:to>
                                        <p:strVal val="visible"/>
                                      </p:to>
                                    </p:set>
                                    <p:animEffect transition="in" filter="fade">
                                      <p:cBhvr>
                                        <p:cTn id="535" dur="400"/>
                                        <p:tgtEl>
                                          <p:spTgt spid="186"/>
                                        </p:tgtEl>
                                      </p:cBhvr>
                                    </p:animEffect>
                                  </p:childTnLst>
                                </p:cTn>
                              </p:par>
                              <p:par>
                                <p:cTn id="536" presetID="10" presetClass="entr" presetSubtype="0" fill="hold" grpId="0" nodeType="clickEffect">
                                  <p:stCondLst>
                                    <p:cond delay="0"/>
                                  </p:stCondLst>
                                  <p:childTnLst>
                                    <p:set>
                                      <p:cBhvr>
                                        <p:cTn id="537" dur="1" fill="hold">
                                          <p:stCondLst>
                                            <p:cond delay="0"/>
                                          </p:stCondLst>
                                        </p:cTn>
                                        <p:tgtEl>
                                          <p:spTgt spid="187"/>
                                        </p:tgtEl>
                                        <p:attrNameLst>
                                          <p:attrName>style.visibility</p:attrName>
                                        </p:attrNameLst>
                                      </p:cBhvr>
                                      <p:to>
                                        <p:strVal val="visible"/>
                                      </p:to>
                                    </p:set>
                                    <p:animEffect transition="in" filter="fade">
                                      <p:cBhvr>
                                        <p:cTn id="538" dur="400"/>
                                        <p:tgtEl>
                                          <p:spTgt spid="187"/>
                                        </p:tgtEl>
                                      </p:cBhvr>
                                    </p:animEffect>
                                  </p:childTnLst>
                                </p:cTn>
                              </p:par>
                              <p:par>
                                <p:cTn id="539" presetID="10" presetClass="entr" presetSubtype="0" fill="hold" grpId="0" nodeType="clickEffect">
                                  <p:stCondLst>
                                    <p:cond delay="0"/>
                                  </p:stCondLst>
                                  <p:childTnLst>
                                    <p:set>
                                      <p:cBhvr>
                                        <p:cTn id="540" dur="1" fill="hold">
                                          <p:stCondLst>
                                            <p:cond delay="0"/>
                                          </p:stCondLst>
                                        </p:cTn>
                                        <p:tgtEl>
                                          <p:spTgt spid="188"/>
                                        </p:tgtEl>
                                        <p:attrNameLst>
                                          <p:attrName>style.visibility</p:attrName>
                                        </p:attrNameLst>
                                      </p:cBhvr>
                                      <p:to>
                                        <p:strVal val="visible"/>
                                      </p:to>
                                    </p:set>
                                    <p:animEffect transition="in" filter="fade">
                                      <p:cBhvr>
                                        <p:cTn id="541" dur="400"/>
                                        <p:tgtEl>
                                          <p:spTgt spid="188"/>
                                        </p:tgtEl>
                                      </p:cBhvr>
                                    </p:animEffect>
                                  </p:childTnLst>
                                </p:cTn>
                              </p:par>
                              <p:par>
                                <p:cTn id="542" presetID="10" presetClass="entr" presetSubtype="0" fill="hold" grpId="0" nodeType="clickEffect">
                                  <p:stCondLst>
                                    <p:cond delay="0"/>
                                  </p:stCondLst>
                                  <p:childTnLst>
                                    <p:set>
                                      <p:cBhvr>
                                        <p:cTn id="543" dur="1" fill="hold">
                                          <p:stCondLst>
                                            <p:cond delay="0"/>
                                          </p:stCondLst>
                                        </p:cTn>
                                        <p:tgtEl>
                                          <p:spTgt spid="189"/>
                                        </p:tgtEl>
                                        <p:attrNameLst>
                                          <p:attrName>style.visibility</p:attrName>
                                        </p:attrNameLst>
                                      </p:cBhvr>
                                      <p:to>
                                        <p:strVal val="visible"/>
                                      </p:to>
                                    </p:set>
                                    <p:animEffect transition="in" filter="fade">
                                      <p:cBhvr>
                                        <p:cTn id="544" dur="400"/>
                                        <p:tgtEl>
                                          <p:spTgt spid="189"/>
                                        </p:tgtEl>
                                      </p:cBhvr>
                                    </p:animEffect>
                                  </p:childTnLst>
                                </p:cTn>
                              </p:par>
                              <p:par>
                                <p:cTn id="545" presetID="10" presetClass="entr" presetSubtype="0" fill="hold" grpId="0" nodeType="clickEffect">
                                  <p:stCondLst>
                                    <p:cond delay="0"/>
                                  </p:stCondLst>
                                  <p:childTnLst>
                                    <p:set>
                                      <p:cBhvr>
                                        <p:cTn id="546" dur="1" fill="hold">
                                          <p:stCondLst>
                                            <p:cond delay="0"/>
                                          </p:stCondLst>
                                        </p:cTn>
                                        <p:tgtEl>
                                          <p:spTgt spid="190"/>
                                        </p:tgtEl>
                                        <p:attrNameLst>
                                          <p:attrName>style.visibility</p:attrName>
                                        </p:attrNameLst>
                                      </p:cBhvr>
                                      <p:to>
                                        <p:strVal val="visible"/>
                                      </p:to>
                                    </p:set>
                                    <p:animEffect transition="in" filter="fade">
                                      <p:cBhvr>
                                        <p:cTn id="547" dur="400"/>
                                        <p:tgtEl>
                                          <p:spTgt spid="190"/>
                                        </p:tgtEl>
                                      </p:cBhvr>
                                    </p:animEffect>
                                  </p:childTnLst>
                                </p:cTn>
                              </p:par>
                              <p:par>
                                <p:cTn id="548" presetID="10" presetClass="entr" presetSubtype="0" fill="hold" grpId="0" nodeType="clickEffect">
                                  <p:stCondLst>
                                    <p:cond delay="0"/>
                                  </p:stCondLst>
                                  <p:childTnLst>
                                    <p:set>
                                      <p:cBhvr>
                                        <p:cTn id="549" dur="1" fill="hold">
                                          <p:stCondLst>
                                            <p:cond delay="0"/>
                                          </p:stCondLst>
                                        </p:cTn>
                                        <p:tgtEl>
                                          <p:spTgt spid="191"/>
                                        </p:tgtEl>
                                        <p:attrNameLst>
                                          <p:attrName>style.visibility</p:attrName>
                                        </p:attrNameLst>
                                      </p:cBhvr>
                                      <p:to>
                                        <p:strVal val="visible"/>
                                      </p:to>
                                    </p:set>
                                    <p:animEffect transition="in" filter="fade">
                                      <p:cBhvr>
                                        <p:cTn id="550" dur="400"/>
                                        <p:tgtEl>
                                          <p:spTgt spid="191"/>
                                        </p:tgtEl>
                                      </p:cBhvr>
                                    </p:animEffect>
                                  </p:childTnLst>
                                </p:cTn>
                              </p:par>
                              <p:par>
                                <p:cTn id="551" presetID="10" presetClass="entr" presetSubtype="0" fill="hold" grpId="0" nodeType="clickEffect">
                                  <p:stCondLst>
                                    <p:cond delay="0"/>
                                  </p:stCondLst>
                                  <p:childTnLst>
                                    <p:set>
                                      <p:cBhvr>
                                        <p:cTn id="552" dur="1" fill="hold">
                                          <p:stCondLst>
                                            <p:cond delay="0"/>
                                          </p:stCondLst>
                                        </p:cTn>
                                        <p:tgtEl>
                                          <p:spTgt spid="192"/>
                                        </p:tgtEl>
                                        <p:attrNameLst>
                                          <p:attrName>style.visibility</p:attrName>
                                        </p:attrNameLst>
                                      </p:cBhvr>
                                      <p:to>
                                        <p:strVal val="visible"/>
                                      </p:to>
                                    </p:set>
                                    <p:animEffect transition="in" filter="fade">
                                      <p:cBhvr>
                                        <p:cTn id="553" dur="400"/>
                                        <p:tgtEl>
                                          <p:spTgt spid="192"/>
                                        </p:tgtEl>
                                      </p:cBhvr>
                                    </p:animEffect>
                                  </p:childTnLst>
                                </p:cTn>
                              </p:par>
                              <p:par>
                                <p:cTn id="554" presetID="10" presetClass="entr" presetSubtype="0" fill="hold" grpId="0" nodeType="clickEffect">
                                  <p:stCondLst>
                                    <p:cond delay="0"/>
                                  </p:stCondLst>
                                  <p:childTnLst>
                                    <p:set>
                                      <p:cBhvr>
                                        <p:cTn id="555" dur="1" fill="hold">
                                          <p:stCondLst>
                                            <p:cond delay="0"/>
                                          </p:stCondLst>
                                        </p:cTn>
                                        <p:tgtEl>
                                          <p:spTgt spid="193"/>
                                        </p:tgtEl>
                                        <p:attrNameLst>
                                          <p:attrName>style.visibility</p:attrName>
                                        </p:attrNameLst>
                                      </p:cBhvr>
                                      <p:to>
                                        <p:strVal val="visible"/>
                                      </p:to>
                                    </p:set>
                                    <p:animEffect transition="in" filter="fade">
                                      <p:cBhvr>
                                        <p:cTn id="556" dur="400"/>
                                        <p:tgtEl>
                                          <p:spTgt spid="193"/>
                                        </p:tgtEl>
                                      </p:cBhvr>
                                    </p:animEffect>
                                  </p:childTnLst>
                                </p:cTn>
                              </p:par>
                              <p:par>
                                <p:cTn id="557" presetID="10" presetClass="entr" presetSubtype="0" fill="hold" grpId="0" nodeType="clickEffect">
                                  <p:stCondLst>
                                    <p:cond delay="0"/>
                                  </p:stCondLst>
                                  <p:childTnLst>
                                    <p:set>
                                      <p:cBhvr>
                                        <p:cTn id="558" dur="1" fill="hold">
                                          <p:stCondLst>
                                            <p:cond delay="0"/>
                                          </p:stCondLst>
                                        </p:cTn>
                                        <p:tgtEl>
                                          <p:spTgt spid="194"/>
                                        </p:tgtEl>
                                        <p:attrNameLst>
                                          <p:attrName>style.visibility</p:attrName>
                                        </p:attrNameLst>
                                      </p:cBhvr>
                                      <p:to>
                                        <p:strVal val="visible"/>
                                      </p:to>
                                    </p:set>
                                    <p:animEffect transition="in" filter="fade">
                                      <p:cBhvr>
                                        <p:cTn id="559" dur="400"/>
                                        <p:tgtEl>
                                          <p:spTgt spid="194"/>
                                        </p:tgtEl>
                                      </p:cBhvr>
                                    </p:animEffect>
                                  </p:childTnLst>
                                </p:cTn>
                              </p:par>
                              <p:par>
                                <p:cTn id="560" presetID="10" presetClass="entr" presetSubtype="0" fill="hold" grpId="0" nodeType="clickEffect">
                                  <p:stCondLst>
                                    <p:cond delay="0"/>
                                  </p:stCondLst>
                                  <p:childTnLst>
                                    <p:set>
                                      <p:cBhvr>
                                        <p:cTn id="561" dur="1" fill="hold">
                                          <p:stCondLst>
                                            <p:cond delay="0"/>
                                          </p:stCondLst>
                                        </p:cTn>
                                        <p:tgtEl>
                                          <p:spTgt spid="195"/>
                                        </p:tgtEl>
                                        <p:attrNameLst>
                                          <p:attrName>style.visibility</p:attrName>
                                        </p:attrNameLst>
                                      </p:cBhvr>
                                      <p:to>
                                        <p:strVal val="visible"/>
                                      </p:to>
                                    </p:set>
                                    <p:animEffect transition="in" filter="fade">
                                      <p:cBhvr>
                                        <p:cTn id="562" dur="400"/>
                                        <p:tgtEl>
                                          <p:spTgt spid="195"/>
                                        </p:tgtEl>
                                      </p:cBhvr>
                                    </p:animEffect>
                                  </p:childTnLst>
                                </p:cTn>
                              </p:par>
                              <p:par>
                                <p:cTn id="563" presetID="10" presetClass="entr" presetSubtype="0" fill="hold" grpId="0" nodeType="clickEffect">
                                  <p:stCondLst>
                                    <p:cond delay="0"/>
                                  </p:stCondLst>
                                  <p:childTnLst>
                                    <p:set>
                                      <p:cBhvr>
                                        <p:cTn id="564" dur="1" fill="hold">
                                          <p:stCondLst>
                                            <p:cond delay="0"/>
                                          </p:stCondLst>
                                        </p:cTn>
                                        <p:tgtEl>
                                          <p:spTgt spid="196"/>
                                        </p:tgtEl>
                                        <p:attrNameLst>
                                          <p:attrName>style.visibility</p:attrName>
                                        </p:attrNameLst>
                                      </p:cBhvr>
                                      <p:to>
                                        <p:strVal val="visible"/>
                                      </p:to>
                                    </p:set>
                                    <p:animEffect transition="in" filter="fade">
                                      <p:cBhvr>
                                        <p:cTn id="565" dur="400"/>
                                        <p:tgtEl>
                                          <p:spTgt spid="196"/>
                                        </p:tgtEl>
                                      </p:cBhvr>
                                    </p:animEffect>
                                  </p:childTnLst>
                                </p:cTn>
                              </p:par>
                              <p:par>
                                <p:cTn id="566" presetID="10" presetClass="entr" presetSubtype="0" fill="hold" grpId="0" nodeType="clickEffect">
                                  <p:stCondLst>
                                    <p:cond delay="0"/>
                                  </p:stCondLst>
                                  <p:childTnLst>
                                    <p:set>
                                      <p:cBhvr>
                                        <p:cTn id="567" dur="1" fill="hold">
                                          <p:stCondLst>
                                            <p:cond delay="0"/>
                                          </p:stCondLst>
                                        </p:cTn>
                                        <p:tgtEl>
                                          <p:spTgt spid="197"/>
                                        </p:tgtEl>
                                        <p:attrNameLst>
                                          <p:attrName>style.visibility</p:attrName>
                                        </p:attrNameLst>
                                      </p:cBhvr>
                                      <p:to>
                                        <p:strVal val="visible"/>
                                      </p:to>
                                    </p:set>
                                    <p:animEffect transition="in" filter="fade">
                                      <p:cBhvr>
                                        <p:cTn id="568" dur="4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Checkpoint dimensions worth remembering</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These numbers describe the referenced Kimi-K3 checkpoint.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3969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7,168</a:t>
            </a:r>
          </a:p>
        </p:txBody>
      </p:sp>
      <p:sp>
        <p:nvSpPr>
          <p:cNvPr id="13" name="TextBox 12"/>
          <p:cNvSpPr txBox="1"/>
          <p:nvPr/>
        </p:nvSpPr>
        <p:spPr>
          <a:xfrm>
            <a:off x="768096" y="289864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Hidden-state width</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2376" y="213969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69AEFF"/>
                </a:solidFill>
                <a:latin typeface="DejaVu Sans"/>
              </a:rPr>
              <a:t>96</a:t>
            </a:r>
          </a:p>
        </p:txBody>
      </p:sp>
      <p:sp>
        <p:nvSpPr>
          <p:cNvPr id="16" name="TextBox 15"/>
          <p:cNvSpPr txBox="1"/>
          <p:nvPr/>
        </p:nvSpPr>
        <p:spPr>
          <a:xfrm>
            <a:off x="4532376" y="289864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Attention heads</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213969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51D79B"/>
                </a:solidFill>
                <a:latin typeface="DejaVu Sans"/>
              </a:rPr>
              <a:t>512</a:t>
            </a:r>
          </a:p>
        </p:txBody>
      </p:sp>
      <p:sp>
        <p:nvSpPr>
          <p:cNvPr id="19" name="TextBox 18"/>
          <p:cNvSpPr txBox="1"/>
          <p:nvPr/>
        </p:nvSpPr>
        <p:spPr>
          <a:xfrm>
            <a:off x="8296656" y="289864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Compressed KV latent width</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05993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B799FF"/>
                </a:solidFill>
                <a:latin typeface="DejaVu Sans"/>
              </a:rPr>
              <a:t>1,536</a:t>
            </a:r>
          </a:p>
        </p:txBody>
      </p:sp>
      <p:sp>
        <p:nvSpPr>
          <p:cNvPr id="22" name="TextBox 21"/>
          <p:cNvSpPr txBox="1"/>
          <p:nvPr/>
        </p:nvSpPr>
        <p:spPr>
          <a:xfrm>
            <a:off x="768096" y="481888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Query latent width</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2376" y="405993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F4BF61"/>
                </a:solidFill>
                <a:latin typeface="DejaVu Sans"/>
              </a:rPr>
              <a:t>896 / 16</a:t>
            </a:r>
          </a:p>
        </p:txBody>
      </p:sp>
      <p:sp>
        <p:nvSpPr>
          <p:cNvPr id="25" name="TextBox 24"/>
          <p:cNvSpPr txBox="1"/>
          <p:nvPr/>
        </p:nvSpPr>
        <p:spPr>
          <a:xfrm>
            <a:off x="4532376" y="481888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Routed experts / selected per token</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6656" y="4059936"/>
            <a:ext cx="3133344" cy="566928"/>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1,048,576</a:t>
            </a:r>
          </a:p>
        </p:txBody>
      </p:sp>
      <p:sp>
        <p:nvSpPr>
          <p:cNvPr id="28" name="TextBox 27"/>
          <p:cNvSpPr txBox="1"/>
          <p:nvPr/>
        </p:nvSpPr>
        <p:spPr>
          <a:xfrm>
            <a:off x="8296656" y="4818888"/>
            <a:ext cx="3133344"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Configured maximum context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00"/>
                                        <p:tgtEl>
                                          <p:spTgt spid="23"/>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00"/>
                                        <p:tgtEl>
                                          <p:spTgt spid="24"/>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KDA keeps a learned summary of the past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Update a state matrix instead of storing a growing key/value list.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52CFD1"/>
                </a:solidFill>
                <a:latin typeface="DejaVu Sans"/>
              </a:rPr>
              <a:t>Previous state</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Associative memory from earlier tokens</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Current token</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Query, key, value and learned gates</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B799FF"/>
                </a:solidFill>
                <a:latin typeface="DejaVu Sans"/>
              </a:rPr>
              <a:t>Updated state</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Forget selectively; correct remembered content</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Output</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Read the updated state with the query</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91840" y="5093208"/>
            <a:ext cx="5943600" cy="329184"/>
          </a:xfrm>
          <a:prstGeom prst="rect">
            <a:avLst/>
          </a:prstGeom>
          <a:noFill/>
        </p:spPr>
        <p:txBody>
          <a:bodyPr wrap="square" lIns="13716" rIns="13716" tIns="0" bIns="0">
            <a:spAutoFit/>
          </a:bodyPr>
          <a:lstStyle/>
          <a:p>
            <a:pPr algn="l">
              <a:spcBef>
                <a:spcPts val="0"/>
              </a:spcBef>
              <a:spcAft>
                <a:spcPts val="0"/>
              </a:spcAft>
            </a:pPr>
            <a:r>
              <a:rPr sz="1600" b="1">
                <a:solidFill>
                  <a:srgbClr val="52CFD1"/>
                </a:solidFill>
                <a:latin typeface="DejaVu Sans"/>
              </a:rPr>
              <a:t>Persistent state passes to the next token →</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KDA's update, one step at a time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Decay → predict → correct → read.</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24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S ∈ R^(d_k × d_v);  α controls forgetting;  β controls update strength</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Decay</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S̄ = diag(α) S_previous</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Correct</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r = v − S̄ᵀk;   S = S̄ + βkrᵀ</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Read</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o = Sᵀq</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KDA prefill and decode use different algorithms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state is recurrent; processing a known chunk can still be parallelized.</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Prefill</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Chunked matrix operations process known token blocks.</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Decode</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Update a small persistent state for each arriving token.</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Speculative verification</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Preserve state checkpoints and commit only accepted progress.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MLA compresses the persistent token cache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Store a shared latent per token, then reconstruct what attention needs.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26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Hidden state</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7,168 features</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KV compression</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512 latent + 64 shared K features</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Persistent cache</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576 values per token / MLA layer</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1800" b="1">
                <a:solidFill>
                  <a:srgbClr val="69AEFF"/>
                </a:solidFill>
                <a:latin typeface="DejaVu Sans"/>
              </a:rPr>
              <a:t>Attention representation</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Per-head K and V when needed</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Query preparation also uses a latent projection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current token's query is expanded into per-head features.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Hidden X</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Width 7,168</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q_a + normalization</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Query latent width 1,536</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q_b projection</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96 × 192 query features</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TP8 local Q</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[Tq, 12, 192]</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kv_b_proj reconstructs per-head keys and values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weight matrix is neither the KV cache nor an FMHA input.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Z = C W_kvᵀ;  3,072 = 12 × (128 + 128)</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Compressed C</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[Tk, 512]</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Local W_kv</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[3,072, 512]</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Projected Z</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[Tk, 12, 256] → K_base + V</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Assembled tensors</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K [Tk,12,192]; V [Tk,12,128]</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MLA decode can avoid expanded K/V</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Associativity lets projections move across the attention calculation.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29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q(CW_Kᵀ)ᵀ = (qW_K)Cᵀ</a:t>
            </a:r>
          </a:p>
        </p:txBody>
      </p:sp>
      <p:sp>
        <p:nvSpPr>
          <p:cNvPr id="12" name="Rounded Rectangle 11"/>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52CFD1"/>
                </a:solidFill>
                <a:latin typeface="DejaVu Sans"/>
              </a:rPr>
              <a:t>Explicit prefill path</a:t>
            </a:r>
          </a:p>
        </p:txBody>
      </p:sp>
      <p:sp>
        <p:nvSpPr>
          <p:cNvPr id="15" name="TextBox 14"/>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Build K/V per head, then call FMHA.</a:t>
            </a:r>
          </a:p>
        </p:txBody>
      </p:sp>
      <p:sp>
        <p:nvSpPr>
          <p:cNvPr id="16" name="Rounded Rectangle 15"/>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Latent decode path</a:t>
            </a:r>
          </a:p>
        </p:txBody>
      </p:sp>
      <p:sp>
        <p:nvSpPr>
          <p:cNvPr id="19" name="TextBox 18"/>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Transform Q into latent space; attend to compressed cache.</a:t>
            </a:r>
          </a:p>
        </p:txBody>
      </p:sp>
      <p:sp>
        <p:nvSpPr>
          <p:cNvPr id="20" name="Rounded Rectangle 19"/>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After the latent read</a:t>
            </a:r>
          </a:p>
        </p:txBody>
      </p:sp>
      <p:sp>
        <p:nvSpPr>
          <p:cNvPr id="23" name="TextBox 22"/>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Apply the value projection to obtain each head's output.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Gated MLA controls the attention output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learned gate modulates retrieved features before the next projection.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FMHA output</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Weighted information from context</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Learned output gate</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Feature-wise modulation</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Output projection</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Return to hidden width</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Residual mixing</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Carry information into the next sublayer</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MoE selects a small subset of a large expert pool</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Each token activates 16 routed experts, plus the shared branch.</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667512" y="2377440"/>
            <a:ext cx="2286000" cy="2340864"/>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560320"/>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560320"/>
            <a:ext cx="182880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Router</a:t>
            </a:r>
          </a:p>
        </p:txBody>
      </p:sp>
      <p:sp>
        <p:nvSpPr>
          <p:cNvPr id="14" name="TextBox 13"/>
          <p:cNvSpPr txBox="1"/>
          <p:nvPr/>
        </p:nvSpPr>
        <p:spPr>
          <a:xfrm>
            <a:off x="886968" y="3291840"/>
            <a:ext cx="1865376" cy="1316736"/>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One token</a:t>
            </a:r>
          </a:p>
          <a:p>
            <a:pPr algn="l">
              <a:spcBef>
                <a:spcPts val="0"/>
              </a:spcBef>
              <a:spcAft>
                <a:spcPts val="0"/>
              </a:spcAft>
            </a:pPr>
            <a:r>
              <a:rPr sz="1600" b="0">
                <a:solidFill>
                  <a:srgbClr val="F2F6FC"/>
                </a:solidFill>
                <a:latin typeface="DejaVu Sans"/>
              </a:rPr>
              <a:t>896 scores</a:t>
            </a:r>
          </a:p>
        </p:txBody>
      </p:sp>
      <p:sp>
        <p:nvSpPr>
          <p:cNvPr id="15" name="Rectangle 14"/>
          <p:cNvSpPr/>
          <p:nvPr/>
        </p:nvSpPr>
        <p:spPr>
          <a:xfrm>
            <a:off x="3657600" y="2514600"/>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0" y="2514600"/>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0" y="2514600"/>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0" y="2999232"/>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436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2999232"/>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0" y="2999232"/>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0" y="3483864"/>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436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0" y="3483864"/>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114800" y="3968496"/>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9436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0" y="3968496"/>
            <a:ext cx="356616" cy="356616"/>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858000" y="3968496"/>
            <a:ext cx="356616" cy="356616"/>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11880" y="4791456"/>
            <a:ext cx="4389120" cy="475488"/>
          </a:xfrm>
          <a:prstGeom prst="rect">
            <a:avLst/>
          </a:prstGeom>
          <a:noFill/>
        </p:spPr>
        <p:txBody>
          <a:bodyPr wrap="square" lIns="13716" rIns="13716" tIns="0" bIns="0">
            <a:spAutoFit/>
          </a:bodyPr>
          <a:lstStyle/>
          <a:p>
            <a:pPr algn="l">
              <a:spcBef>
                <a:spcPts val="0"/>
              </a:spcBef>
              <a:spcAft>
                <a:spcPts val="0"/>
              </a:spcAft>
            </a:pPr>
            <a:r>
              <a:rPr sz="1200" b="0">
                <a:solidFill>
                  <a:srgbClr val="A7B8CD"/>
                </a:solidFill>
                <a:latin typeface="DejaVu Sans"/>
              </a:rPr>
              <a:t>Illustrated subset of the expert pool</a:t>
            </a:r>
          </a:p>
        </p:txBody>
      </p:sp>
      <p:sp>
        <p:nvSpPr>
          <p:cNvPr id="48" name="Rounded Rectangle 47"/>
          <p:cNvSpPr/>
          <p:nvPr/>
        </p:nvSpPr>
        <p:spPr>
          <a:xfrm>
            <a:off x="8229600" y="2377440"/>
            <a:ext cx="3017520" cy="2340864"/>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85048" y="2560320"/>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40496" y="2560320"/>
            <a:ext cx="2560320" cy="658368"/>
          </a:xfrm>
          <a:prstGeom prst="rect">
            <a:avLst/>
          </a:prstGeom>
          <a:noFill/>
        </p:spPr>
        <p:txBody>
          <a:bodyPr wrap="square" lIns="13716" rIns="13716" tIns="0" bIns="0">
            <a:spAutoFit/>
          </a:bodyPr>
          <a:lstStyle/>
          <a:p>
            <a:pPr algn="l">
              <a:spcBef>
                <a:spcPts val="0"/>
              </a:spcBef>
              <a:spcAft>
                <a:spcPts val="0"/>
              </a:spcAft>
            </a:pPr>
            <a:r>
              <a:rPr sz="2100" b="1">
                <a:solidFill>
                  <a:srgbClr val="51D79B"/>
                </a:solidFill>
                <a:latin typeface="DejaVu Sans"/>
              </a:rPr>
              <a:t>Combine</a:t>
            </a:r>
          </a:p>
        </p:txBody>
      </p:sp>
      <p:sp>
        <p:nvSpPr>
          <p:cNvPr id="51" name="TextBox 50"/>
          <p:cNvSpPr txBox="1"/>
          <p:nvPr/>
        </p:nvSpPr>
        <p:spPr>
          <a:xfrm>
            <a:off x="8449056" y="3291840"/>
            <a:ext cx="2596896" cy="1316736"/>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16 selected</a:t>
            </a:r>
          </a:p>
          <a:p>
            <a:pPr algn="l">
              <a:spcBef>
                <a:spcPts val="0"/>
              </a:spcBef>
              <a:spcAft>
                <a:spcPts val="0"/>
              </a:spcAft>
            </a:pPr>
            <a:r>
              <a:rPr sz="1600" b="0">
                <a:solidFill>
                  <a:srgbClr val="F2F6FC"/>
                </a:solidFill>
                <a:latin typeface="DejaVu Sans"/>
              </a:rPr>
              <a:t>+ shared branch</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par>
                                <p:cTn id="63" presetID="10" presetClass="entr" presetSubtype="0"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00"/>
                                        <p:tgtEl>
                                          <p:spTgt spid="29"/>
                                        </p:tgtEl>
                                      </p:cBhvr>
                                    </p:animEffect>
                                  </p:childTnLst>
                                </p:cTn>
                              </p:par>
                              <p:par>
                                <p:cTn id="66" presetID="10" presetClass="entr" presetSubtype="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click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click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click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par>
                                <p:cTn id="83" presetID="10" presetClass="entr" presetSubtype="0" fill="hold" grpId="0" nodeType="click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400"/>
                                        <p:tgtEl>
                                          <p:spTgt spid="35"/>
                                        </p:tgtEl>
                                      </p:cBhvr>
                                    </p:animEffect>
                                  </p:childTnLst>
                                </p:cTn>
                              </p:par>
                              <p:par>
                                <p:cTn id="86" presetID="10" presetClass="entr" presetSubtype="0" fill="hold" grpId="0" nodeType="click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400"/>
                                        <p:tgtEl>
                                          <p:spTgt spid="36"/>
                                        </p:tgtEl>
                                      </p:cBhvr>
                                    </p:animEffect>
                                  </p:childTnLst>
                                </p:cTn>
                              </p:par>
                              <p:par>
                                <p:cTn id="89" presetID="10" presetClass="entr" presetSubtype="0" fill="hold" grpId="0" nodeType="click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400"/>
                                        <p:tgtEl>
                                          <p:spTgt spid="37"/>
                                        </p:tgtEl>
                                      </p:cBhvr>
                                    </p:animEffect>
                                  </p:childTnLst>
                                </p:cTn>
                              </p:par>
                              <p:par>
                                <p:cTn id="92" presetID="10" presetClass="entr" presetSubtype="0" fill="hold" grpId="0" nodeType="click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400"/>
                                        <p:tgtEl>
                                          <p:spTgt spid="38"/>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00"/>
                                        <p:tgtEl>
                                          <p:spTgt spid="39"/>
                                        </p:tgtEl>
                                      </p:cBhvr>
                                    </p:animEffect>
                                  </p:childTnLst>
                                </p:cTn>
                              </p:par>
                              <p:par>
                                <p:cTn id="100" presetID="10" presetClass="entr" presetSubtype="0" fill="hold" grpId="0" nodeType="click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00"/>
                                        <p:tgtEl>
                                          <p:spTgt spid="40"/>
                                        </p:tgtEl>
                                      </p:cBhvr>
                                    </p:animEffect>
                                  </p:childTnLst>
                                </p:cTn>
                              </p:par>
                              <p:par>
                                <p:cTn id="103" presetID="10" presetClass="entr" presetSubtype="0" fill="hold" grpId="0" nodeType="clickEffect">
                                  <p:stCondLst>
                                    <p:cond delay="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5" dur="400"/>
                                        <p:tgtEl>
                                          <p:spTgt spid="41"/>
                                        </p:tgtEl>
                                      </p:cBhvr>
                                    </p:animEffect>
                                  </p:childTnLst>
                                </p:cTn>
                              </p:par>
                              <p:par>
                                <p:cTn id="106" presetID="10" presetClass="entr" presetSubtype="0" fill="hold" grpId="0" nodeType="clickEffect">
                                  <p:stCondLst>
                                    <p:cond delay="0"/>
                                  </p:stCondLst>
                                  <p:childTnLst>
                                    <p:set>
                                      <p:cBhvr>
                                        <p:cTn id="107" dur="1" fill="hold">
                                          <p:stCondLst>
                                            <p:cond delay="0"/>
                                          </p:stCondLst>
                                        </p:cTn>
                                        <p:tgtEl>
                                          <p:spTgt spid="42"/>
                                        </p:tgtEl>
                                        <p:attrNameLst>
                                          <p:attrName>style.visibility</p:attrName>
                                        </p:attrNameLst>
                                      </p:cBhvr>
                                      <p:to>
                                        <p:strVal val="visible"/>
                                      </p:to>
                                    </p:set>
                                    <p:animEffect transition="in" filter="fade">
                                      <p:cBhvr>
                                        <p:cTn id="108" dur="400"/>
                                        <p:tgtEl>
                                          <p:spTgt spid="42"/>
                                        </p:tgtEl>
                                      </p:cBhvr>
                                    </p:animEffect>
                                  </p:childTnLst>
                                </p:cTn>
                              </p:par>
                              <p:par>
                                <p:cTn id="109" presetID="10" presetClass="entr" presetSubtype="0" fill="hold" grpId="0" nodeType="clickEffect">
                                  <p:stCondLst>
                                    <p:cond delay="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11" dur="400"/>
                                        <p:tgtEl>
                                          <p:spTgt spid="43"/>
                                        </p:tgtEl>
                                      </p:cBhvr>
                                    </p:animEffect>
                                  </p:childTnLst>
                                </p:cTn>
                              </p:par>
                              <p:par>
                                <p:cTn id="112" presetID="10" presetClass="entr" presetSubtype="0" fill="hold" grpId="0" nodeType="clickEffect">
                                  <p:stCondLst>
                                    <p:cond delay="0"/>
                                  </p:stCondLst>
                                  <p:childTnLst>
                                    <p:set>
                                      <p:cBhvr>
                                        <p:cTn id="113" dur="1" fill="hold">
                                          <p:stCondLst>
                                            <p:cond delay="0"/>
                                          </p:stCondLst>
                                        </p:cTn>
                                        <p:tgtEl>
                                          <p:spTgt spid="44"/>
                                        </p:tgtEl>
                                        <p:attrNameLst>
                                          <p:attrName>style.visibility</p:attrName>
                                        </p:attrNameLst>
                                      </p:cBhvr>
                                      <p:to>
                                        <p:strVal val="visible"/>
                                      </p:to>
                                    </p:set>
                                    <p:animEffect transition="in" filter="fade">
                                      <p:cBhvr>
                                        <p:cTn id="114" dur="400"/>
                                        <p:tgtEl>
                                          <p:spTgt spid="44"/>
                                        </p:tgtEl>
                                      </p:cBhvr>
                                    </p:animEffect>
                                  </p:childTnLst>
                                </p:cTn>
                              </p:par>
                              <p:par>
                                <p:cTn id="115" presetID="10" presetClass="entr" presetSubtype="0" fill="hold" grpId="0" nodeType="clickEffect">
                                  <p:stCondLst>
                                    <p:cond delay="0"/>
                                  </p:stCondLst>
                                  <p:childTnLst>
                                    <p:set>
                                      <p:cBhvr>
                                        <p:cTn id="116" dur="1" fill="hold">
                                          <p:stCondLst>
                                            <p:cond delay="0"/>
                                          </p:stCondLst>
                                        </p:cTn>
                                        <p:tgtEl>
                                          <p:spTgt spid="45"/>
                                        </p:tgtEl>
                                        <p:attrNameLst>
                                          <p:attrName>style.visibility</p:attrName>
                                        </p:attrNameLst>
                                      </p:cBhvr>
                                      <p:to>
                                        <p:strVal val="visible"/>
                                      </p:to>
                                    </p:set>
                                    <p:animEffect transition="in" filter="fade">
                                      <p:cBhvr>
                                        <p:cTn id="117" dur="400"/>
                                        <p:tgtEl>
                                          <p:spTgt spid="45"/>
                                        </p:tgtEl>
                                      </p:cBhvr>
                                    </p:animEffect>
                                  </p:childTnLst>
                                </p:cTn>
                              </p:par>
                              <p:par>
                                <p:cTn id="118" presetID="10" presetClass="entr" presetSubtype="0" fill="hold" grpId="0" nodeType="clickEffect">
                                  <p:stCondLst>
                                    <p:cond delay="0"/>
                                  </p:stCondLst>
                                  <p:childTnLst>
                                    <p:set>
                                      <p:cBhvr>
                                        <p:cTn id="119" dur="1" fill="hold">
                                          <p:stCondLst>
                                            <p:cond delay="0"/>
                                          </p:stCondLst>
                                        </p:cTn>
                                        <p:tgtEl>
                                          <p:spTgt spid="46"/>
                                        </p:tgtEl>
                                        <p:attrNameLst>
                                          <p:attrName>style.visibility</p:attrName>
                                        </p:attrNameLst>
                                      </p:cBhvr>
                                      <p:to>
                                        <p:strVal val="visible"/>
                                      </p:to>
                                    </p:set>
                                    <p:animEffect transition="in" filter="fade">
                                      <p:cBhvr>
                                        <p:cTn id="120" dur="400"/>
                                        <p:tgtEl>
                                          <p:spTgt spid="46"/>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8"/>
                                        </p:tgtEl>
                                        <p:attrNameLst>
                                          <p:attrName>style.visibility</p:attrName>
                                        </p:attrNameLst>
                                      </p:cBhvr>
                                      <p:to>
                                        <p:strVal val="visible"/>
                                      </p:to>
                                    </p:set>
                                    <p:animEffect transition="in" filter="fade">
                                      <p:cBhvr>
                                        <p:cTn id="125" dur="400"/>
                                        <p:tgtEl>
                                          <p:spTgt spid="48"/>
                                        </p:tgtEl>
                                      </p:cBhvr>
                                    </p:animEffect>
                                  </p:childTnLst>
                                </p:cTn>
                              </p:par>
                              <p:par>
                                <p:cTn id="126" presetID="10" presetClass="entr" presetSubtype="0" fill="hold" grpId="0" nodeType="click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fade">
                                      <p:cBhvr>
                                        <p:cTn id="128" dur="400"/>
                                        <p:tgtEl>
                                          <p:spTgt spid="49"/>
                                        </p:tgtEl>
                                      </p:cBhvr>
                                    </p:animEffect>
                                  </p:childTnLst>
                                </p:cTn>
                              </p:par>
                              <p:par>
                                <p:cTn id="129" presetID="10" presetClass="entr" presetSubtype="0" fill="hold" grpId="0" nodeType="click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400"/>
                                        <p:tgtEl>
                                          <p:spTgt spid="50"/>
                                        </p:tgtEl>
                                      </p:cBhvr>
                                    </p:animEffect>
                                  </p:childTnLst>
                                </p:cTn>
                              </p:par>
                              <p:par>
                                <p:cTn id="132" presetID="10" presetClass="entr" presetSubtype="0" fill="hold" grpId="0" nodeType="clickEffect">
                                  <p:stCondLst>
                                    <p:cond delay="0"/>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Latent MoE reduces the routed branch's width</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Experts operate in a smaller feature space, then return to model width.</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32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routed(x) = W_up · norm(Σ_e w_e · Expert_e(W_down x))</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Hidden state</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7,168</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Routed down-projection</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3,584 latent features</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Selected experts</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Intermediate width 3,072 each</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Normalize + up-project</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Back to 7,168</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SiTU-GLU is the expert's gated nonlinearity</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Two projection branches interact, with soft clipping to control range.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33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Expert(x) = W_down [SiTU(W_gate x) ⊙ softclip(W_up x)]</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Gate branch</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g = 4 tanh(a/4) · sigmoid(a)</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Value branch</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u = 25 tanh(b/25)</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Multiply + project</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z = g ⊙ u; then apply the down-projection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Attention Residuals attend across depth</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Learn which earlier layer-block representations should contribute.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777240" y="2377440"/>
            <a:ext cx="1664208" cy="164592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32688" y="256032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8136" y="2560320"/>
            <a:ext cx="120700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Block 1</a:t>
            </a:r>
          </a:p>
        </p:txBody>
      </p:sp>
      <p:sp>
        <p:nvSpPr>
          <p:cNvPr id="14" name="TextBox 13"/>
          <p:cNvSpPr txBox="1"/>
          <p:nvPr/>
        </p:nvSpPr>
        <p:spPr>
          <a:xfrm>
            <a:off x="996695" y="3291840"/>
            <a:ext cx="1243584" cy="62179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Depth state</a:t>
            </a:r>
          </a:p>
        </p:txBody>
      </p:sp>
      <p:cxnSp>
        <p:nvCxnSpPr>
          <p:cNvPr id="15" name="Connector 14"/>
          <p:cNvCxnSpPr/>
          <p:nvPr/>
        </p:nvCxnSpPr>
        <p:spPr>
          <a:xfrm>
            <a:off x="1609344" y="4133087"/>
            <a:ext cx="4544568" cy="850393"/>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651760" y="2377440"/>
            <a:ext cx="1664208" cy="164592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7208" y="256032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2656" y="2560320"/>
            <a:ext cx="120700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Block 2</a:t>
            </a:r>
          </a:p>
        </p:txBody>
      </p:sp>
      <p:sp>
        <p:nvSpPr>
          <p:cNvPr id="19" name="TextBox 18"/>
          <p:cNvSpPr txBox="1"/>
          <p:nvPr/>
        </p:nvSpPr>
        <p:spPr>
          <a:xfrm>
            <a:off x="2871215" y="3291840"/>
            <a:ext cx="1243584" cy="62179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Depth state</a:t>
            </a:r>
          </a:p>
        </p:txBody>
      </p:sp>
      <p:cxnSp>
        <p:nvCxnSpPr>
          <p:cNvPr id="20" name="Connector 19"/>
          <p:cNvCxnSpPr/>
          <p:nvPr/>
        </p:nvCxnSpPr>
        <p:spPr>
          <a:xfrm>
            <a:off x="3483864" y="4133087"/>
            <a:ext cx="2670048" cy="850393"/>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26279" y="2377440"/>
            <a:ext cx="1664208" cy="164592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81727" y="2560320"/>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37175" y="2560320"/>
            <a:ext cx="1207008"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Block 3</a:t>
            </a:r>
          </a:p>
        </p:txBody>
      </p:sp>
      <p:sp>
        <p:nvSpPr>
          <p:cNvPr id="24" name="TextBox 23"/>
          <p:cNvSpPr txBox="1"/>
          <p:nvPr/>
        </p:nvSpPr>
        <p:spPr>
          <a:xfrm>
            <a:off x="4745736" y="3291840"/>
            <a:ext cx="1243584" cy="62179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Depth state</a:t>
            </a:r>
          </a:p>
        </p:txBody>
      </p:sp>
      <p:cxnSp>
        <p:nvCxnSpPr>
          <p:cNvPr id="25" name="Connector 24"/>
          <p:cNvCxnSpPr/>
          <p:nvPr/>
        </p:nvCxnSpPr>
        <p:spPr>
          <a:xfrm>
            <a:off x="5358383" y="4133087"/>
            <a:ext cx="795529" cy="850393"/>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00799" y="2377440"/>
            <a:ext cx="1664208" cy="164592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6247" y="2560320"/>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11695" y="2560320"/>
            <a:ext cx="1207008"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Block 4</a:t>
            </a:r>
          </a:p>
        </p:txBody>
      </p:sp>
      <p:sp>
        <p:nvSpPr>
          <p:cNvPr id="29" name="TextBox 28"/>
          <p:cNvSpPr txBox="1"/>
          <p:nvPr/>
        </p:nvSpPr>
        <p:spPr>
          <a:xfrm>
            <a:off x="6620255" y="3291840"/>
            <a:ext cx="1243584" cy="62179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Depth state</a:t>
            </a:r>
          </a:p>
        </p:txBody>
      </p:sp>
      <p:cxnSp>
        <p:nvCxnSpPr>
          <p:cNvPr id="30" name="Connector 29"/>
          <p:cNvCxnSpPr/>
          <p:nvPr/>
        </p:nvCxnSpPr>
        <p:spPr>
          <a:xfrm flipH="1">
            <a:off x="6153912" y="4133087"/>
            <a:ext cx="1078991" cy="850393"/>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480560" y="5010912"/>
            <a:ext cx="4114800" cy="502920"/>
          </a:xfrm>
          <a:prstGeom prst="rect">
            <a:avLst/>
          </a:prstGeom>
          <a:solidFill>
            <a:srgbClr val="1C2B44"/>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40" y="5120640"/>
            <a:ext cx="3749039" cy="237744"/>
          </a:xfrm>
          <a:prstGeom prst="rect">
            <a:avLst/>
          </a:prstGeom>
          <a:noFill/>
        </p:spPr>
        <p:txBody>
          <a:bodyPr wrap="square" lIns="13716" rIns="13716" tIns="0" bIns="0">
            <a:spAutoFit/>
          </a:bodyPr>
          <a:lstStyle/>
          <a:p>
            <a:pPr algn="ctr">
              <a:spcBef>
                <a:spcPts val="0"/>
              </a:spcBef>
              <a:spcAft>
                <a:spcPts val="0"/>
              </a:spcAft>
            </a:pPr>
            <a:r>
              <a:rPr sz="1700" b="1">
                <a:solidFill>
                  <a:srgbClr val="51D79B"/>
                </a:solidFill>
                <a:latin typeface="DejaVu Sans"/>
              </a:rPr>
              <a:t>Learned weighted mixture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00"/>
                                        <p:tgtEl>
                                          <p:spTgt spid="23"/>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00"/>
                                        <p:tgtEl>
                                          <p:spTgt spid="26"/>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00"/>
                                        <p:tgtEl>
                                          <p:spTgt spid="27"/>
                                        </p:tgtEl>
                                      </p:cBhvr>
                                    </p:animEffect>
                                  </p:childTnLst>
                                </p:cTn>
                              </p:par>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00"/>
                                        <p:tgtEl>
                                          <p:spTgt spid="28"/>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400"/>
                                        <p:tgtEl>
                                          <p:spTgt spid="31"/>
                                        </p:tgtEl>
                                      </p:cBhvr>
                                    </p:animEffect>
                                  </p:childTnLst>
                                </p:cTn>
                              </p:par>
                              <p:par>
                                <p:cTn id="64" presetID="10" presetClass="entr" presetSubtype="0"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KIMI-K3 ARCHITECTURE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Vision joins the model through visual tokens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vision encoder and projector connect images/video to the text backbone.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CBD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CBD7E6"/>
                </a:solidFill>
                <a:latin typeface="DejaVu Sans"/>
              </a:rPr>
              <a:t>Image / video</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Patch and frame preparation</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MoonViT-V2</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27 layers; hidden width 1,024</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Patch merging + projector</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Map visual features to width 7,168</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Hybrid backbone</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Reason over visual and text representations</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MI355X supplies compute, capacity and bandwidth</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GPU must move tensors and execute them efficiently.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36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685800" y="2139696"/>
            <a:ext cx="6629400" cy="3328416"/>
          </a:xfrm>
          <a:prstGeom prst="roundRect">
            <a:avLst>
              <a:gd name="adj" fmla="val 9000"/>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41832" y="2459736"/>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615184"/>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0</a:t>
            </a:r>
          </a:p>
        </p:txBody>
      </p:sp>
      <p:sp>
        <p:nvSpPr>
          <p:cNvPr id="14" name="TextBox 13"/>
          <p:cNvSpPr txBox="1"/>
          <p:nvPr/>
        </p:nvSpPr>
        <p:spPr>
          <a:xfrm>
            <a:off x="1051560" y="3072384"/>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15" name="Rounded Rectangle 14"/>
          <p:cNvSpPr/>
          <p:nvPr/>
        </p:nvSpPr>
        <p:spPr>
          <a:xfrm>
            <a:off x="2505456" y="2459736"/>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15184" y="2615184"/>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1</a:t>
            </a:r>
          </a:p>
        </p:txBody>
      </p:sp>
      <p:sp>
        <p:nvSpPr>
          <p:cNvPr id="17" name="TextBox 16"/>
          <p:cNvSpPr txBox="1"/>
          <p:nvPr/>
        </p:nvSpPr>
        <p:spPr>
          <a:xfrm>
            <a:off x="2615184" y="3072384"/>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18" name="Rounded Rectangle 17"/>
          <p:cNvSpPr/>
          <p:nvPr/>
        </p:nvSpPr>
        <p:spPr>
          <a:xfrm>
            <a:off x="4069080" y="2459736"/>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78808" y="2615184"/>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2</a:t>
            </a:r>
          </a:p>
        </p:txBody>
      </p:sp>
      <p:sp>
        <p:nvSpPr>
          <p:cNvPr id="20" name="TextBox 19"/>
          <p:cNvSpPr txBox="1"/>
          <p:nvPr/>
        </p:nvSpPr>
        <p:spPr>
          <a:xfrm>
            <a:off x="4178808" y="3072384"/>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21" name="Rounded Rectangle 20"/>
          <p:cNvSpPr/>
          <p:nvPr/>
        </p:nvSpPr>
        <p:spPr>
          <a:xfrm>
            <a:off x="5632704" y="2459736"/>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42432" y="2615184"/>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3</a:t>
            </a:r>
          </a:p>
        </p:txBody>
      </p:sp>
      <p:sp>
        <p:nvSpPr>
          <p:cNvPr id="23" name="TextBox 22"/>
          <p:cNvSpPr txBox="1"/>
          <p:nvPr/>
        </p:nvSpPr>
        <p:spPr>
          <a:xfrm>
            <a:off x="5742432" y="3072384"/>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24" name="Rounded Rectangle 23"/>
          <p:cNvSpPr/>
          <p:nvPr/>
        </p:nvSpPr>
        <p:spPr>
          <a:xfrm>
            <a:off x="941832" y="3666744"/>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822191"/>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4</a:t>
            </a:r>
          </a:p>
        </p:txBody>
      </p:sp>
      <p:sp>
        <p:nvSpPr>
          <p:cNvPr id="26" name="TextBox 25"/>
          <p:cNvSpPr txBox="1"/>
          <p:nvPr/>
        </p:nvSpPr>
        <p:spPr>
          <a:xfrm>
            <a:off x="1051560" y="4279392"/>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27" name="Rounded Rectangle 26"/>
          <p:cNvSpPr/>
          <p:nvPr/>
        </p:nvSpPr>
        <p:spPr>
          <a:xfrm>
            <a:off x="2505456" y="3666744"/>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15184" y="3822191"/>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5</a:t>
            </a:r>
          </a:p>
        </p:txBody>
      </p:sp>
      <p:sp>
        <p:nvSpPr>
          <p:cNvPr id="29" name="TextBox 28"/>
          <p:cNvSpPr txBox="1"/>
          <p:nvPr/>
        </p:nvSpPr>
        <p:spPr>
          <a:xfrm>
            <a:off x="2615184" y="4279392"/>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30" name="Rounded Rectangle 29"/>
          <p:cNvSpPr/>
          <p:nvPr/>
        </p:nvSpPr>
        <p:spPr>
          <a:xfrm>
            <a:off x="4069080" y="3666744"/>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78808" y="3822191"/>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6</a:t>
            </a:r>
          </a:p>
        </p:txBody>
      </p:sp>
      <p:sp>
        <p:nvSpPr>
          <p:cNvPr id="32" name="TextBox 31"/>
          <p:cNvSpPr txBox="1"/>
          <p:nvPr/>
        </p:nvSpPr>
        <p:spPr>
          <a:xfrm>
            <a:off x="4178808" y="4279392"/>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33" name="Rounded Rectangle 32"/>
          <p:cNvSpPr/>
          <p:nvPr/>
        </p:nvSpPr>
        <p:spPr>
          <a:xfrm>
            <a:off x="5632704" y="3666744"/>
            <a:ext cx="1325880" cy="987552"/>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42432" y="3822191"/>
            <a:ext cx="1097280" cy="2286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XCD 7</a:t>
            </a:r>
          </a:p>
        </p:txBody>
      </p:sp>
      <p:sp>
        <p:nvSpPr>
          <p:cNvPr id="35" name="TextBox 34"/>
          <p:cNvSpPr txBox="1"/>
          <p:nvPr/>
        </p:nvSpPr>
        <p:spPr>
          <a:xfrm>
            <a:off x="5742432" y="4279392"/>
            <a:ext cx="1097280" cy="182880"/>
          </a:xfrm>
          <a:prstGeom prst="rect">
            <a:avLst/>
          </a:prstGeom>
          <a:noFill/>
        </p:spPr>
        <p:txBody>
          <a:bodyPr wrap="square" lIns="13716" rIns="13716" tIns="0" bIns="0">
            <a:spAutoFit/>
          </a:bodyPr>
          <a:lstStyle/>
          <a:p>
            <a:pPr algn="l">
              <a:spcBef>
                <a:spcPts val="0"/>
              </a:spcBef>
              <a:spcAft>
                <a:spcPts val="0"/>
              </a:spcAft>
            </a:pPr>
            <a:r>
              <a:rPr sz="1000" b="0">
                <a:solidFill>
                  <a:srgbClr val="F2F6FC"/>
                </a:solidFill>
                <a:latin typeface="DejaVu Sans"/>
              </a:rPr>
              <a:t>32 CUs</a:t>
            </a:r>
          </a:p>
        </p:txBody>
      </p:sp>
      <p:sp>
        <p:nvSpPr>
          <p:cNvPr id="36" name="Rounded Rectangle 35"/>
          <p:cNvSpPr/>
          <p:nvPr/>
        </p:nvSpPr>
        <p:spPr>
          <a:xfrm>
            <a:off x="7790688" y="2286000"/>
            <a:ext cx="3429000" cy="301752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46136" y="246888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01583" y="2468880"/>
            <a:ext cx="297180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HBM3E</a:t>
            </a:r>
          </a:p>
        </p:txBody>
      </p:sp>
      <p:sp>
        <p:nvSpPr>
          <p:cNvPr id="39" name="TextBox 38"/>
          <p:cNvSpPr txBox="1"/>
          <p:nvPr/>
        </p:nvSpPr>
        <p:spPr>
          <a:xfrm>
            <a:off x="8010144" y="3200400"/>
            <a:ext cx="3008376" cy="1993391"/>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288 GB</a:t>
            </a:r>
          </a:p>
          <a:p>
            <a:pPr algn="l">
              <a:spcBef>
                <a:spcPts val="0"/>
              </a:spcBef>
              <a:spcAft>
                <a:spcPts val="0"/>
              </a:spcAft>
            </a:pPr>
            <a:r>
              <a:rPr sz="1600" b="0">
                <a:solidFill>
                  <a:srgbClr val="F2F6FC"/>
                </a:solidFill>
                <a:latin typeface="DejaVu Sans"/>
              </a:rPr>
              <a:t>advertised capacity</a:t>
            </a:r>
          </a:p>
          <a:p>
            <a:pPr algn="l">
              <a:spcBef>
                <a:spcPts val="0"/>
              </a:spcBef>
              <a:spcAft>
                <a:spcPts val="0"/>
              </a:spcAft>
            </a:pPr>
            <a:r>
              <a:rPr sz="1600" b="0">
                <a:solidFill>
                  <a:srgbClr val="F2F6FC"/>
                </a:solidFill>
                <a:latin typeface="DejaVu Sans"/>
              </a:rPr>
              <a:t/>
            </a:r>
          </a:p>
          <a:p>
            <a:pPr algn="l">
              <a:spcBef>
                <a:spcPts val="0"/>
              </a:spcBef>
              <a:spcAft>
                <a:spcPts val="0"/>
              </a:spcAft>
            </a:pPr>
            <a:r>
              <a:rPr sz="1600" b="0">
                <a:solidFill>
                  <a:srgbClr val="F2F6FC"/>
                </a:solidFill>
                <a:latin typeface="DejaVu Sans"/>
              </a:rPr>
              <a:t>One GPU package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00"/>
                                        <p:tgtEl>
                                          <p:spTgt spid="24"/>
                                        </p:tgtEl>
                                      </p:cBhvr>
                                    </p:animEffect>
                                  </p:childTnLst>
                                </p:cTn>
                              </p:par>
                              <p:par>
                                <p:cTn id="46" presetID="10"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00"/>
                                        <p:tgtEl>
                                          <p:spTgt spid="25"/>
                                        </p:tgtEl>
                                      </p:cBhvr>
                                    </p:animEffect>
                                  </p:childTnLst>
                                </p:cTn>
                              </p:par>
                              <p:par>
                                <p:cTn id="49" presetID="10"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00"/>
                                        <p:tgtEl>
                                          <p:spTgt spid="26"/>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00"/>
                                        <p:tgtEl>
                                          <p:spTgt spid="28"/>
                                        </p:tgtEl>
                                      </p:cBhvr>
                                    </p:animEffect>
                                  </p:childTnLst>
                                </p:cTn>
                              </p:par>
                              <p:par>
                                <p:cTn id="58" presetID="10" presetClass="entr" presetSubtype="0" fill="hold" grpId="0"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par>
                                <p:cTn id="61" presetID="10" presetClass="entr" presetSubtype="0" fill="hold" grpId="0" nodeType="click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400"/>
                                        <p:tgtEl>
                                          <p:spTgt spid="30"/>
                                        </p:tgtEl>
                                      </p:cBhvr>
                                    </p:animEffect>
                                  </p:childTnLst>
                                </p:cTn>
                              </p:par>
                              <p:par>
                                <p:cTn id="64" presetID="10" presetClass="entr" presetSubtype="0" fill="hold" grpId="0"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400"/>
                                        <p:tgtEl>
                                          <p:spTgt spid="31"/>
                                        </p:tgtEl>
                                      </p:cBhvr>
                                    </p:animEffect>
                                  </p:childTnLst>
                                </p:cTn>
                              </p:par>
                              <p:par>
                                <p:cTn id="67" presetID="10"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400"/>
                                        <p:tgtEl>
                                          <p:spTgt spid="32"/>
                                        </p:tgtEl>
                                      </p:cBhvr>
                                    </p:animEffect>
                                  </p:childTnLst>
                                </p:cTn>
                              </p:par>
                              <p:par>
                                <p:cTn id="70" presetID="10" presetClass="entr" presetSubtype="0" fill="hold" grpId="0" nodeType="click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400"/>
                                        <p:tgtEl>
                                          <p:spTgt spid="33"/>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400"/>
                                        <p:tgtEl>
                                          <p:spTgt spid="34"/>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400"/>
                                        <p:tgtEl>
                                          <p:spTgt spid="35"/>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400"/>
                                        <p:tgtEl>
                                          <p:spTgt spid="36"/>
                                        </p:tgtEl>
                                      </p:cBhvr>
                                    </p:animEffect>
                                  </p:childTnLst>
                                </p:cTn>
                              </p:par>
                              <p:par>
                                <p:cTn id="84" presetID="10" presetClass="entr" presetSubtype="0" fill="hold" grpId="0" nodeType="click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400"/>
                                        <p:tgtEl>
                                          <p:spTgt spid="37"/>
                                        </p:tgtEl>
                                      </p:cBhvr>
                                    </p:animEffect>
                                  </p:childTnLst>
                                </p:cTn>
                              </p:par>
                              <p:par>
                                <p:cTn id="87" presetID="10" presetClass="entr" presetSubtype="0" fill="hold" grpId="0" nodeType="click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400"/>
                                        <p:tgtEl>
                                          <p:spTgt spid="38"/>
                                        </p:tgtEl>
                                      </p:cBhvr>
                                    </p:animEffect>
                                  </p:childTnLst>
                                </p:cTn>
                              </p:par>
                              <p:par>
                                <p:cTn id="90" presetID="10" presetClass="entr" presetSubtype="0" fill="hold" grpId="0" nodeType="click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memory hierarchy determines reuse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Registers and LDS are small and close; HBM is large and farther away.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3017520" y="2029968"/>
            <a:ext cx="2011680" cy="64008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2185416"/>
            <a:ext cx="1828800" cy="301752"/>
          </a:xfrm>
          <a:prstGeom prst="rect">
            <a:avLst/>
          </a:prstGeom>
          <a:noFill/>
        </p:spPr>
        <p:txBody>
          <a:bodyPr wrap="square" lIns="13716" rIns="13716" tIns="0" bIns="0">
            <a:spAutoFit/>
          </a:bodyPr>
          <a:lstStyle/>
          <a:p>
            <a:pPr algn="ctr">
              <a:spcBef>
                <a:spcPts val="0"/>
              </a:spcBef>
              <a:spcAft>
                <a:spcPts val="0"/>
              </a:spcAft>
            </a:pPr>
            <a:r>
              <a:rPr sz="1800" b="1">
                <a:solidFill>
                  <a:srgbClr val="B799FF"/>
                </a:solidFill>
                <a:latin typeface="DejaVu Sans"/>
              </a:rPr>
              <a:t>Registers</a:t>
            </a:r>
          </a:p>
        </p:txBody>
      </p:sp>
      <p:sp>
        <p:nvSpPr>
          <p:cNvPr id="13" name="TextBox 12"/>
          <p:cNvSpPr txBox="1"/>
          <p:nvPr/>
        </p:nvSpPr>
        <p:spPr>
          <a:xfrm>
            <a:off x="7863840" y="2157984"/>
            <a:ext cx="3611880" cy="43891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Per-thread / wave computation state</a:t>
            </a:r>
          </a:p>
        </p:txBody>
      </p:sp>
      <p:sp>
        <p:nvSpPr>
          <p:cNvPr id="14" name="Rounded Rectangle 13"/>
          <p:cNvSpPr/>
          <p:nvPr/>
        </p:nvSpPr>
        <p:spPr>
          <a:xfrm>
            <a:off x="2286000" y="2862072"/>
            <a:ext cx="3474720" cy="6400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3017520"/>
            <a:ext cx="3291840" cy="301752"/>
          </a:xfrm>
          <a:prstGeom prst="rect">
            <a:avLst/>
          </a:prstGeom>
          <a:noFill/>
        </p:spPr>
        <p:txBody>
          <a:bodyPr wrap="square" lIns="13716" rIns="13716" tIns="0" bIns="0">
            <a:spAutoFit/>
          </a:bodyPr>
          <a:lstStyle/>
          <a:p>
            <a:pPr algn="ctr">
              <a:spcBef>
                <a:spcPts val="0"/>
              </a:spcBef>
              <a:spcAft>
                <a:spcPts val="0"/>
              </a:spcAft>
            </a:pPr>
            <a:r>
              <a:rPr sz="1800" b="1">
                <a:solidFill>
                  <a:srgbClr val="52CFD1"/>
                </a:solidFill>
                <a:latin typeface="DejaVu Sans"/>
              </a:rPr>
              <a:t>LDS</a:t>
            </a:r>
          </a:p>
        </p:txBody>
      </p:sp>
      <p:sp>
        <p:nvSpPr>
          <p:cNvPr id="16" name="TextBox 15"/>
          <p:cNvSpPr txBox="1"/>
          <p:nvPr/>
        </p:nvSpPr>
        <p:spPr>
          <a:xfrm>
            <a:off x="7863840" y="2990088"/>
            <a:ext cx="3611880" cy="43891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On-chip workgroup-shared tiles</a:t>
            </a:r>
          </a:p>
        </p:txBody>
      </p:sp>
      <p:sp>
        <p:nvSpPr>
          <p:cNvPr id="17" name="Rounded Rectangle 16"/>
          <p:cNvSpPr/>
          <p:nvPr/>
        </p:nvSpPr>
        <p:spPr>
          <a:xfrm>
            <a:off x="1554480" y="3694176"/>
            <a:ext cx="4937760" cy="6400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3849624"/>
            <a:ext cx="4754880" cy="301752"/>
          </a:xfrm>
          <a:prstGeom prst="rect">
            <a:avLst/>
          </a:prstGeom>
          <a:noFill/>
        </p:spPr>
        <p:txBody>
          <a:bodyPr wrap="square" lIns="13716" rIns="13716" tIns="0" bIns="0">
            <a:spAutoFit/>
          </a:bodyPr>
          <a:lstStyle/>
          <a:p>
            <a:pPr algn="ctr">
              <a:spcBef>
                <a:spcPts val="0"/>
              </a:spcBef>
              <a:spcAft>
                <a:spcPts val="0"/>
              </a:spcAft>
            </a:pPr>
            <a:r>
              <a:rPr sz="1800" b="1">
                <a:solidFill>
                  <a:srgbClr val="69AEFF"/>
                </a:solidFill>
                <a:latin typeface="DejaVu Sans"/>
              </a:rPr>
              <a:t>Caches</a:t>
            </a:r>
          </a:p>
        </p:txBody>
      </p:sp>
      <p:sp>
        <p:nvSpPr>
          <p:cNvPr id="19" name="TextBox 18"/>
          <p:cNvSpPr txBox="1"/>
          <p:nvPr/>
        </p:nvSpPr>
        <p:spPr>
          <a:xfrm>
            <a:off x="7863840" y="3822191"/>
            <a:ext cx="3611880" cy="43891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Hardware-managed reuse</a:t>
            </a:r>
          </a:p>
        </p:txBody>
      </p:sp>
      <p:sp>
        <p:nvSpPr>
          <p:cNvPr id="20" name="Rounded Rectangle 19"/>
          <p:cNvSpPr/>
          <p:nvPr/>
        </p:nvSpPr>
        <p:spPr>
          <a:xfrm>
            <a:off x="822959" y="4526280"/>
            <a:ext cx="6400800" cy="6400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399" y="4681728"/>
            <a:ext cx="6217920" cy="301752"/>
          </a:xfrm>
          <a:prstGeom prst="rect">
            <a:avLst/>
          </a:prstGeom>
          <a:noFill/>
        </p:spPr>
        <p:txBody>
          <a:bodyPr wrap="square" lIns="13716" rIns="13716" tIns="0" bIns="0">
            <a:spAutoFit/>
          </a:bodyPr>
          <a:lstStyle/>
          <a:p>
            <a:pPr algn="ctr">
              <a:spcBef>
                <a:spcPts val="0"/>
              </a:spcBef>
              <a:spcAft>
                <a:spcPts val="0"/>
              </a:spcAft>
            </a:pPr>
            <a:r>
              <a:rPr sz="1800" b="1">
                <a:solidFill>
                  <a:srgbClr val="F4BF61"/>
                </a:solidFill>
                <a:latin typeface="DejaVu Sans"/>
              </a:rPr>
              <a:t>HBM</a:t>
            </a:r>
          </a:p>
        </p:txBody>
      </p:sp>
      <p:sp>
        <p:nvSpPr>
          <p:cNvPr id="22" name="TextBox 21"/>
          <p:cNvSpPr txBox="1"/>
          <p:nvPr/>
        </p:nvSpPr>
        <p:spPr>
          <a:xfrm>
            <a:off x="7863840" y="4654296"/>
            <a:ext cx="3611880" cy="43891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Weights, KV, activations and workspaces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A GEMM becomes tiles, waves and matrix instructions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Large matrix products reuse data across many multiply-accumulates.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C[M,N] = A[M,K] × B[K,N];  work ≈ 2MNK FLOPs</a:t>
            </a:r>
          </a:p>
        </p:txBody>
      </p:sp>
      <p:sp>
        <p:nvSpPr>
          <p:cNvPr id="12" name="Rectangle 11"/>
          <p:cNvSpPr/>
          <p:nvPr/>
        </p:nvSpPr>
        <p:spPr>
          <a:xfrm>
            <a:off x="914400" y="2450592"/>
            <a:ext cx="370332" cy="370332"/>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53312" y="2450592"/>
            <a:ext cx="370332" cy="370332"/>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792224"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31136"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2889504"/>
            <a:ext cx="370332" cy="370332"/>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53312" y="2889504"/>
            <a:ext cx="370332" cy="370332"/>
          </a:xfrm>
          <a:prstGeom prst="rect">
            <a:avLst/>
          </a:prstGeom>
          <a:solidFill>
            <a:srgbClr val="52CFD1"/>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92224"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31136"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53312"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792224"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231136"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0"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53312"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92224"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31136"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53312"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792224"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31136"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010912"/>
            <a:ext cx="3108960" cy="457200"/>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A: tokens × features</a:t>
            </a:r>
          </a:p>
        </p:txBody>
      </p:sp>
      <p:sp>
        <p:nvSpPr>
          <p:cNvPr id="33" name="Rectangle 32"/>
          <p:cNvSpPr/>
          <p:nvPr/>
        </p:nvSpPr>
        <p:spPr>
          <a:xfrm>
            <a:off x="4572000" y="2450592"/>
            <a:ext cx="370332" cy="370332"/>
          </a:xfrm>
          <a:prstGeom prst="rect">
            <a:avLst/>
          </a:prstGeom>
          <a:solidFill>
            <a:srgbClr val="69AE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10912" y="2450592"/>
            <a:ext cx="370332" cy="370332"/>
          </a:xfrm>
          <a:prstGeom prst="rect">
            <a:avLst/>
          </a:prstGeom>
          <a:solidFill>
            <a:srgbClr val="69AE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49824"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88736"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27648"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0" y="2889504"/>
            <a:ext cx="370332" cy="370332"/>
          </a:xfrm>
          <a:prstGeom prst="rect">
            <a:avLst/>
          </a:prstGeom>
          <a:solidFill>
            <a:srgbClr val="69AE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10912" y="2889504"/>
            <a:ext cx="370332" cy="370332"/>
          </a:xfrm>
          <a:prstGeom prst="rect">
            <a:avLst/>
          </a:prstGeom>
          <a:solidFill>
            <a:srgbClr val="69AE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49824"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88736"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27648"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0"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10912"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49824"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88736"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27648"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0"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10912"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49824"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88736"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327648"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34840" y="5010912"/>
            <a:ext cx="3108960" cy="457200"/>
          </a:xfrm>
          <a:prstGeom prst="rect">
            <a:avLst/>
          </a:prstGeom>
          <a:noFill/>
        </p:spPr>
        <p:txBody>
          <a:bodyPr wrap="square" lIns="13716" rIns="13716" tIns="0" bIns="0">
            <a:spAutoFit/>
          </a:bodyPr>
          <a:lstStyle/>
          <a:p>
            <a:pPr algn="l">
              <a:spcBef>
                <a:spcPts val="0"/>
              </a:spcBef>
              <a:spcAft>
                <a:spcPts val="0"/>
              </a:spcAft>
            </a:pPr>
            <a:r>
              <a:rPr sz="1400" b="1">
                <a:solidFill>
                  <a:srgbClr val="69AEFF"/>
                </a:solidFill>
                <a:latin typeface="DejaVu Sans"/>
              </a:rPr>
              <a:t>B: features × outputs</a:t>
            </a:r>
          </a:p>
        </p:txBody>
      </p:sp>
      <p:sp>
        <p:nvSpPr>
          <p:cNvPr id="54" name="Rectangle 53"/>
          <p:cNvSpPr/>
          <p:nvPr/>
        </p:nvSpPr>
        <p:spPr>
          <a:xfrm>
            <a:off x="8229600" y="2450592"/>
            <a:ext cx="370332" cy="370332"/>
          </a:xfrm>
          <a:prstGeom prst="rect">
            <a:avLst/>
          </a:prstGeom>
          <a:solidFill>
            <a:srgbClr val="B799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668512" y="2450592"/>
            <a:ext cx="370332" cy="370332"/>
          </a:xfrm>
          <a:prstGeom prst="rect">
            <a:avLst/>
          </a:prstGeom>
          <a:solidFill>
            <a:srgbClr val="B799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107424"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546336"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985248" y="2450592"/>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29600" y="2889504"/>
            <a:ext cx="370332" cy="370332"/>
          </a:xfrm>
          <a:prstGeom prst="rect">
            <a:avLst/>
          </a:prstGeom>
          <a:solidFill>
            <a:srgbClr val="B799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668512" y="2889504"/>
            <a:ext cx="370332" cy="370332"/>
          </a:xfrm>
          <a:prstGeom prst="rect">
            <a:avLst/>
          </a:prstGeom>
          <a:solidFill>
            <a:srgbClr val="B799FF"/>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107424"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46336"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985248" y="2889504"/>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229600"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668512"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107424"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546336"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985248" y="3328416"/>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229600"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668512"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107424"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46336"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985248" y="3767328"/>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229600"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668512"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107424"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46336"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985248" y="4206240"/>
            <a:ext cx="370332" cy="370332"/>
          </a:xfrm>
          <a:prstGeom prst="rect">
            <a:avLst/>
          </a:prstGeom>
          <a:solidFill>
            <a:srgbClr val="1C2B44"/>
          </a:solidFill>
          <a:ln w="14604">
            <a:solidFill>
              <a:srgbClr val="334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92440" y="5010912"/>
            <a:ext cx="3108960" cy="457200"/>
          </a:xfrm>
          <a:prstGeom prst="rect">
            <a:avLst/>
          </a:prstGeom>
          <a:noFill/>
        </p:spPr>
        <p:txBody>
          <a:bodyPr wrap="square" lIns="13716" rIns="13716" tIns="0" bIns="0">
            <a:spAutoFit/>
          </a:bodyPr>
          <a:lstStyle/>
          <a:p>
            <a:pPr algn="l">
              <a:spcBef>
                <a:spcPts val="0"/>
              </a:spcBef>
              <a:spcAft>
                <a:spcPts val="0"/>
              </a:spcAft>
            </a:pPr>
            <a:r>
              <a:rPr sz="1400" b="1">
                <a:solidFill>
                  <a:srgbClr val="B799FF"/>
                </a:solidFill>
                <a:latin typeface="DejaVu Sans"/>
              </a:rPr>
              <a:t>C: token outputs</a:t>
            </a:r>
          </a:p>
        </p:txBody>
      </p:sp>
      <p:sp>
        <p:nvSpPr>
          <p:cNvPr id="80" name="TextBox 79"/>
          <p:cNvSpPr txBox="1"/>
          <p:nvPr/>
        </p:nvSpPr>
        <p:spPr>
          <a:xfrm>
            <a:off x="3328416" y="3291840"/>
            <a:ext cx="548640" cy="548640"/>
          </a:xfrm>
          <a:prstGeom prst="rect">
            <a:avLst/>
          </a:prstGeom>
          <a:noFill/>
        </p:spPr>
        <p:txBody>
          <a:bodyPr wrap="square" lIns="13716" rIns="13716" tIns="0" bIns="0">
            <a:spAutoFit/>
          </a:bodyPr>
          <a:lstStyle/>
          <a:p>
            <a:pPr algn="l">
              <a:spcBef>
                <a:spcPts val="0"/>
              </a:spcBef>
              <a:spcAft>
                <a:spcPts val="0"/>
              </a:spcAft>
            </a:pPr>
            <a:r>
              <a:rPr sz="3200" b="0">
                <a:solidFill>
                  <a:srgbClr val="A7B8CD"/>
                </a:solidFill>
                <a:latin typeface="DejaVu Sans"/>
              </a:rPr>
              <a:t>×</a:t>
            </a:r>
          </a:p>
        </p:txBody>
      </p:sp>
      <p:sp>
        <p:nvSpPr>
          <p:cNvPr id="81" name="TextBox 80"/>
          <p:cNvSpPr txBox="1"/>
          <p:nvPr/>
        </p:nvSpPr>
        <p:spPr>
          <a:xfrm>
            <a:off x="7040880" y="3291840"/>
            <a:ext cx="548640" cy="548640"/>
          </a:xfrm>
          <a:prstGeom prst="rect">
            <a:avLst/>
          </a:prstGeom>
          <a:noFill/>
        </p:spPr>
        <p:txBody>
          <a:bodyPr wrap="square" lIns="13716" rIns="13716" tIns="0" bIns="0">
            <a:spAutoFit/>
          </a:bodyPr>
          <a:lstStyle/>
          <a:p>
            <a:pPr algn="l">
              <a:spcBef>
                <a:spcPts val="0"/>
              </a:spcBef>
              <a:spcAft>
                <a:spcPts val="0"/>
              </a:spcAft>
            </a:pPr>
            <a:r>
              <a:rPr sz="3000" b="0">
                <a:solidFill>
                  <a:srgbClr val="A7B8CD"/>
                </a:solidFill>
                <a:latin typeface="DejaVu Sans"/>
              </a:rPr>
              <a: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00"/>
                                        <p:tgtEl>
                                          <p:spTgt spid="26"/>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00"/>
                                        <p:tgtEl>
                                          <p:spTgt spid="27"/>
                                        </p:tgtEl>
                                      </p:cBhvr>
                                    </p:animEffect>
                                  </p:childTnLst>
                                </p:cTn>
                              </p:par>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00"/>
                                        <p:tgtEl>
                                          <p:spTgt spid="28"/>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00"/>
                                        <p:tgtEl>
                                          <p:spTgt spid="29"/>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00"/>
                                        <p:tgtEl>
                                          <p:spTgt spid="30"/>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00"/>
                                        <p:tgtEl>
                                          <p:spTgt spid="31"/>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400"/>
                                        <p:tgtEl>
                                          <p:spTgt spid="3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400"/>
                                        <p:tgtEl>
                                          <p:spTgt spid="33"/>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400"/>
                                        <p:tgtEl>
                                          <p:spTgt spid="34"/>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400"/>
                                        <p:tgtEl>
                                          <p:spTgt spid="35"/>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400"/>
                                        <p:tgtEl>
                                          <p:spTgt spid="36"/>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400"/>
                                        <p:tgtEl>
                                          <p:spTgt spid="37"/>
                                        </p:tgtEl>
                                      </p:cBhvr>
                                    </p:animEffect>
                                  </p:childTnLst>
                                </p:cTn>
                              </p:par>
                              <p:par>
                                <p:cTn id="85" presetID="10" presetClass="entr" presetSubtype="0"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400"/>
                                        <p:tgtEl>
                                          <p:spTgt spid="38"/>
                                        </p:tgtEl>
                                      </p:cBhvr>
                                    </p:animEffect>
                                  </p:childTnLst>
                                </p:cTn>
                              </p:par>
                              <p:par>
                                <p:cTn id="88" presetID="10" presetClass="entr" presetSubtype="0" fill="hold" grpId="0" nodeType="click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400"/>
                                        <p:tgtEl>
                                          <p:spTgt spid="39"/>
                                        </p:tgtEl>
                                      </p:cBhvr>
                                    </p:animEffect>
                                  </p:childTnLst>
                                </p:cTn>
                              </p:par>
                              <p:par>
                                <p:cTn id="91" presetID="10" presetClass="entr" presetSubtype="0" fill="hold" grpId="0" nodeType="click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400"/>
                                        <p:tgtEl>
                                          <p:spTgt spid="40"/>
                                        </p:tgtEl>
                                      </p:cBhvr>
                                    </p:animEffect>
                                  </p:childTnLst>
                                </p:cTn>
                              </p:par>
                              <p:par>
                                <p:cTn id="94" presetID="10" presetClass="entr" presetSubtype="0" fill="hold" grpId="0" nodeType="click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400"/>
                                        <p:tgtEl>
                                          <p:spTgt spid="41"/>
                                        </p:tgtEl>
                                      </p:cBhvr>
                                    </p:animEffect>
                                  </p:childTnLst>
                                </p:cTn>
                              </p:par>
                              <p:par>
                                <p:cTn id="97" presetID="10" presetClass="entr" presetSubtype="0" fill="hold" grpId="0" nodeType="click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400"/>
                                        <p:tgtEl>
                                          <p:spTgt spid="42"/>
                                        </p:tgtEl>
                                      </p:cBhvr>
                                    </p:animEffect>
                                  </p:childTnLst>
                                </p:cTn>
                              </p:par>
                              <p:par>
                                <p:cTn id="100" presetID="10" presetClass="entr" presetSubtype="0" fill="hold" grpId="0" nodeType="click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400"/>
                                        <p:tgtEl>
                                          <p:spTgt spid="43"/>
                                        </p:tgtEl>
                                      </p:cBhvr>
                                    </p:animEffect>
                                  </p:childTnLst>
                                </p:cTn>
                              </p:par>
                              <p:par>
                                <p:cTn id="103" presetID="10" presetClass="entr" presetSubtype="0" fill="hold" grpId="0" nodeType="clickEffect">
                                  <p:stCondLst>
                                    <p:cond delay="0"/>
                                  </p:stCondLst>
                                  <p:childTnLst>
                                    <p:set>
                                      <p:cBhvr>
                                        <p:cTn id="104" dur="1" fill="hold">
                                          <p:stCondLst>
                                            <p:cond delay="0"/>
                                          </p:stCondLst>
                                        </p:cTn>
                                        <p:tgtEl>
                                          <p:spTgt spid="44"/>
                                        </p:tgtEl>
                                        <p:attrNameLst>
                                          <p:attrName>style.visibility</p:attrName>
                                        </p:attrNameLst>
                                      </p:cBhvr>
                                      <p:to>
                                        <p:strVal val="visible"/>
                                      </p:to>
                                    </p:set>
                                    <p:animEffect transition="in" filter="fade">
                                      <p:cBhvr>
                                        <p:cTn id="105" dur="400"/>
                                        <p:tgtEl>
                                          <p:spTgt spid="44"/>
                                        </p:tgtEl>
                                      </p:cBhvr>
                                    </p:animEffect>
                                  </p:childTnLst>
                                </p:cTn>
                              </p:par>
                              <p:par>
                                <p:cTn id="106" presetID="10" presetClass="entr" presetSubtype="0" fill="hold" grpId="0" nodeType="clickEffect">
                                  <p:stCondLst>
                                    <p:cond delay="0"/>
                                  </p:stCondLst>
                                  <p:childTnLst>
                                    <p:set>
                                      <p:cBhvr>
                                        <p:cTn id="107" dur="1" fill="hold">
                                          <p:stCondLst>
                                            <p:cond delay="0"/>
                                          </p:stCondLst>
                                        </p:cTn>
                                        <p:tgtEl>
                                          <p:spTgt spid="45"/>
                                        </p:tgtEl>
                                        <p:attrNameLst>
                                          <p:attrName>style.visibility</p:attrName>
                                        </p:attrNameLst>
                                      </p:cBhvr>
                                      <p:to>
                                        <p:strVal val="visible"/>
                                      </p:to>
                                    </p:set>
                                    <p:animEffect transition="in" filter="fade">
                                      <p:cBhvr>
                                        <p:cTn id="108" dur="400"/>
                                        <p:tgtEl>
                                          <p:spTgt spid="45"/>
                                        </p:tgtEl>
                                      </p:cBhvr>
                                    </p:animEffect>
                                  </p:childTnLst>
                                </p:cTn>
                              </p:par>
                              <p:par>
                                <p:cTn id="109" presetID="10" presetClass="entr" presetSubtype="0" fill="hold" grpId="0" nodeType="clickEffect">
                                  <p:stCondLst>
                                    <p:cond delay="0"/>
                                  </p:stCondLst>
                                  <p:childTnLst>
                                    <p:set>
                                      <p:cBhvr>
                                        <p:cTn id="110" dur="1" fill="hold">
                                          <p:stCondLst>
                                            <p:cond delay="0"/>
                                          </p:stCondLst>
                                        </p:cTn>
                                        <p:tgtEl>
                                          <p:spTgt spid="46"/>
                                        </p:tgtEl>
                                        <p:attrNameLst>
                                          <p:attrName>style.visibility</p:attrName>
                                        </p:attrNameLst>
                                      </p:cBhvr>
                                      <p:to>
                                        <p:strVal val="visible"/>
                                      </p:to>
                                    </p:set>
                                    <p:animEffect transition="in" filter="fade">
                                      <p:cBhvr>
                                        <p:cTn id="111" dur="400"/>
                                        <p:tgtEl>
                                          <p:spTgt spid="46"/>
                                        </p:tgtEl>
                                      </p:cBhvr>
                                    </p:animEffect>
                                  </p:childTnLst>
                                </p:cTn>
                              </p:par>
                              <p:par>
                                <p:cTn id="112" presetID="10" presetClass="entr" presetSubtype="0" fill="hold" grpId="0" nodeType="clickEffect">
                                  <p:stCondLst>
                                    <p:cond delay="0"/>
                                  </p:stCondLst>
                                  <p:childTnLst>
                                    <p:set>
                                      <p:cBhvr>
                                        <p:cTn id="113" dur="1" fill="hold">
                                          <p:stCondLst>
                                            <p:cond delay="0"/>
                                          </p:stCondLst>
                                        </p:cTn>
                                        <p:tgtEl>
                                          <p:spTgt spid="47"/>
                                        </p:tgtEl>
                                        <p:attrNameLst>
                                          <p:attrName>style.visibility</p:attrName>
                                        </p:attrNameLst>
                                      </p:cBhvr>
                                      <p:to>
                                        <p:strVal val="visible"/>
                                      </p:to>
                                    </p:set>
                                    <p:animEffect transition="in" filter="fade">
                                      <p:cBhvr>
                                        <p:cTn id="114" dur="400"/>
                                        <p:tgtEl>
                                          <p:spTgt spid="47"/>
                                        </p:tgtEl>
                                      </p:cBhvr>
                                    </p:animEffect>
                                  </p:childTnLst>
                                </p:cTn>
                              </p:par>
                              <p:par>
                                <p:cTn id="115" presetID="10" presetClass="entr" presetSubtype="0" fill="hold" grpId="0" nodeType="click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7" dur="400"/>
                                        <p:tgtEl>
                                          <p:spTgt spid="48"/>
                                        </p:tgtEl>
                                      </p:cBhvr>
                                    </p:animEffect>
                                  </p:childTnLst>
                                </p:cTn>
                              </p:par>
                              <p:par>
                                <p:cTn id="118" presetID="10" presetClass="entr" presetSubtype="0" fill="hold" grpId="0" nodeType="clickEffect">
                                  <p:stCondLst>
                                    <p:cond delay="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20" dur="400"/>
                                        <p:tgtEl>
                                          <p:spTgt spid="49"/>
                                        </p:tgtEl>
                                      </p:cBhvr>
                                    </p:animEffect>
                                  </p:childTnLst>
                                </p:cTn>
                              </p:par>
                              <p:par>
                                <p:cTn id="121" presetID="10" presetClass="entr" presetSubtype="0" fill="hold" grpId="0" nodeType="clickEffect">
                                  <p:stCondLst>
                                    <p:cond delay="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3" dur="400"/>
                                        <p:tgtEl>
                                          <p:spTgt spid="50"/>
                                        </p:tgtEl>
                                      </p:cBhvr>
                                    </p:animEffect>
                                  </p:childTnLst>
                                </p:cTn>
                              </p:par>
                              <p:par>
                                <p:cTn id="124" presetID="10" presetClass="entr" presetSubtype="0" fill="hold" grpId="0" nodeType="clickEffect">
                                  <p:stCondLst>
                                    <p:cond delay="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6" dur="400"/>
                                        <p:tgtEl>
                                          <p:spTgt spid="51"/>
                                        </p:tgtEl>
                                      </p:cBhvr>
                                    </p:animEffect>
                                  </p:childTnLst>
                                </p:cTn>
                              </p:par>
                              <p:par>
                                <p:cTn id="127" presetID="10" presetClass="entr" presetSubtype="0" fill="hold" grpId="0" nodeType="clickEffect">
                                  <p:stCondLst>
                                    <p:cond delay="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9" dur="400"/>
                                        <p:tgtEl>
                                          <p:spTgt spid="52"/>
                                        </p:tgtEl>
                                      </p:cBhvr>
                                    </p:animEffect>
                                  </p:childTnLst>
                                </p:cTn>
                              </p:par>
                              <p:par>
                                <p:cTn id="130" presetID="10" presetClass="entr" presetSubtype="0" fill="hold" grpId="0" nodeType="clickEffect">
                                  <p:stCondLst>
                                    <p:cond delay="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2" dur="400"/>
                                        <p:tgtEl>
                                          <p:spTgt spid="53"/>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4"/>
                                        </p:tgtEl>
                                        <p:attrNameLst>
                                          <p:attrName>style.visibility</p:attrName>
                                        </p:attrNameLst>
                                      </p:cBhvr>
                                      <p:to>
                                        <p:strVal val="visible"/>
                                      </p:to>
                                    </p:set>
                                    <p:animEffect transition="in" filter="fade">
                                      <p:cBhvr>
                                        <p:cTn id="137" dur="400"/>
                                        <p:tgtEl>
                                          <p:spTgt spid="54"/>
                                        </p:tgtEl>
                                      </p:cBhvr>
                                    </p:animEffect>
                                  </p:childTnLst>
                                </p:cTn>
                              </p:par>
                              <p:par>
                                <p:cTn id="138" presetID="10" presetClass="entr" presetSubtype="0" fill="hold" grpId="0" nodeType="clickEffect">
                                  <p:stCondLst>
                                    <p:cond delay="0"/>
                                  </p:stCondLst>
                                  <p:childTnLst>
                                    <p:set>
                                      <p:cBhvr>
                                        <p:cTn id="139" dur="1" fill="hold">
                                          <p:stCondLst>
                                            <p:cond delay="0"/>
                                          </p:stCondLst>
                                        </p:cTn>
                                        <p:tgtEl>
                                          <p:spTgt spid="55"/>
                                        </p:tgtEl>
                                        <p:attrNameLst>
                                          <p:attrName>style.visibility</p:attrName>
                                        </p:attrNameLst>
                                      </p:cBhvr>
                                      <p:to>
                                        <p:strVal val="visible"/>
                                      </p:to>
                                    </p:set>
                                    <p:animEffect transition="in" filter="fade">
                                      <p:cBhvr>
                                        <p:cTn id="140" dur="400"/>
                                        <p:tgtEl>
                                          <p:spTgt spid="55"/>
                                        </p:tgtEl>
                                      </p:cBhvr>
                                    </p:animEffect>
                                  </p:childTnLst>
                                </p:cTn>
                              </p:par>
                              <p:par>
                                <p:cTn id="141" presetID="10" presetClass="entr" presetSubtype="0" fill="hold" grpId="0" nodeType="clickEffect">
                                  <p:stCondLst>
                                    <p:cond delay="0"/>
                                  </p:stCondLst>
                                  <p:childTnLst>
                                    <p:set>
                                      <p:cBhvr>
                                        <p:cTn id="142" dur="1" fill="hold">
                                          <p:stCondLst>
                                            <p:cond delay="0"/>
                                          </p:stCondLst>
                                        </p:cTn>
                                        <p:tgtEl>
                                          <p:spTgt spid="56"/>
                                        </p:tgtEl>
                                        <p:attrNameLst>
                                          <p:attrName>style.visibility</p:attrName>
                                        </p:attrNameLst>
                                      </p:cBhvr>
                                      <p:to>
                                        <p:strVal val="visible"/>
                                      </p:to>
                                    </p:set>
                                    <p:animEffect transition="in" filter="fade">
                                      <p:cBhvr>
                                        <p:cTn id="143" dur="400"/>
                                        <p:tgtEl>
                                          <p:spTgt spid="56"/>
                                        </p:tgtEl>
                                      </p:cBhvr>
                                    </p:animEffect>
                                  </p:childTnLst>
                                </p:cTn>
                              </p:par>
                              <p:par>
                                <p:cTn id="144" presetID="10" presetClass="entr" presetSubtype="0" fill="hold" grpId="0" nodeType="clickEffect">
                                  <p:stCondLst>
                                    <p:cond delay="0"/>
                                  </p:stCondLst>
                                  <p:childTnLst>
                                    <p:set>
                                      <p:cBhvr>
                                        <p:cTn id="145" dur="1" fill="hold">
                                          <p:stCondLst>
                                            <p:cond delay="0"/>
                                          </p:stCondLst>
                                        </p:cTn>
                                        <p:tgtEl>
                                          <p:spTgt spid="57"/>
                                        </p:tgtEl>
                                        <p:attrNameLst>
                                          <p:attrName>style.visibility</p:attrName>
                                        </p:attrNameLst>
                                      </p:cBhvr>
                                      <p:to>
                                        <p:strVal val="visible"/>
                                      </p:to>
                                    </p:set>
                                    <p:animEffect transition="in" filter="fade">
                                      <p:cBhvr>
                                        <p:cTn id="146" dur="400"/>
                                        <p:tgtEl>
                                          <p:spTgt spid="57"/>
                                        </p:tgtEl>
                                      </p:cBhvr>
                                    </p:animEffect>
                                  </p:childTnLst>
                                </p:cTn>
                              </p:par>
                              <p:par>
                                <p:cTn id="147" presetID="10" presetClass="entr" presetSubtype="0" fill="hold" grpId="0" nodeType="clickEffect">
                                  <p:stCondLst>
                                    <p:cond delay="0"/>
                                  </p:stCondLst>
                                  <p:childTnLst>
                                    <p:set>
                                      <p:cBhvr>
                                        <p:cTn id="148" dur="1" fill="hold">
                                          <p:stCondLst>
                                            <p:cond delay="0"/>
                                          </p:stCondLst>
                                        </p:cTn>
                                        <p:tgtEl>
                                          <p:spTgt spid="58"/>
                                        </p:tgtEl>
                                        <p:attrNameLst>
                                          <p:attrName>style.visibility</p:attrName>
                                        </p:attrNameLst>
                                      </p:cBhvr>
                                      <p:to>
                                        <p:strVal val="visible"/>
                                      </p:to>
                                    </p:set>
                                    <p:animEffect transition="in" filter="fade">
                                      <p:cBhvr>
                                        <p:cTn id="149" dur="400"/>
                                        <p:tgtEl>
                                          <p:spTgt spid="58"/>
                                        </p:tgtEl>
                                      </p:cBhvr>
                                    </p:animEffect>
                                  </p:childTnLst>
                                </p:cTn>
                              </p:par>
                              <p:par>
                                <p:cTn id="150" presetID="10" presetClass="entr" presetSubtype="0" fill="hold" grpId="0" nodeType="clickEffect">
                                  <p:stCondLst>
                                    <p:cond delay="0"/>
                                  </p:stCondLst>
                                  <p:childTnLst>
                                    <p:set>
                                      <p:cBhvr>
                                        <p:cTn id="151" dur="1" fill="hold">
                                          <p:stCondLst>
                                            <p:cond delay="0"/>
                                          </p:stCondLst>
                                        </p:cTn>
                                        <p:tgtEl>
                                          <p:spTgt spid="59"/>
                                        </p:tgtEl>
                                        <p:attrNameLst>
                                          <p:attrName>style.visibility</p:attrName>
                                        </p:attrNameLst>
                                      </p:cBhvr>
                                      <p:to>
                                        <p:strVal val="visible"/>
                                      </p:to>
                                    </p:set>
                                    <p:animEffect transition="in" filter="fade">
                                      <p:cBhvr>
                                        <p:cTn id="152" dur="400"/>
                                        <p:tgtEl>
                                          <p:spTgt spid="59"/>
                                        </p:tgtEl>
                                      </p:cBhvr>
                                    </p:animEffect>
                                  </p:childTnLst>
                                </p:cTn>
                              </p:par>
                              <p:par>
                                <p:cTn id="153" presetID="10" presetClass="entr" presetSubtype="0" fill="hold" grpId="0" nodeType="clickEffect">
                                  <p:stCondLst>
                                    <p:cond delay="0"/>
                                  </p:stCondLst>
                                  <p:childTnLst>
                                    <p:set>
                                      <p:cBhvr>
                                        <p:cTn id="154" dur="1" fill="hold">
                                          <p:stCondLst>
                                            <p:cond delay="0"/>
                                          </p:stCondLst>
                                        </p:cTn>
                                        <p:tgtEl>
                                          <p:spTgt spid="60"/>
                                        </p:tgtEl>
                                        <p:attrNameLst>
                                          <p:attrName>style.visibility</p:attrName>
                                        </p:attrNameLst>
                                      </p:cBhvr>
                                      <p:to>
                                        <p:strVal val="visible"/>
                                      </p:to>
                                    </p:set>
                                    <p:animEffect transition="in" filter="fade">
                                      <p:cBhvr>
                                        <p:cTn id="155" dur="400"/>
                                        <p:tgtEl>
                                          <p:spTgt spid="60"/>
                                        </p:tgtEl>
                                      </p:cBhvr>
                                    </p:animEffect>
                                  </p:childTnLst>
                                </p:cTn>
                              </p:par>
                              <p:par>
                                <p:cTn id="156" presetID="10" presetClass="entr" presetSubtype="0" fill="hold" grpId="0" nodeType="clickEffect">
                                  <p:stCondLst>
                                    <p:cond delay="0"/>
                                  </p:stCondLst>
                                  <p:childTnLst>
                                    <p:set>
                                      <p:cBhvr>
                                        <p:cTn id="157" dur="1" fill="hold">
                                          <p:stCondLst>
                                            <p:cond delay="0"/>
                                          </p:stCondLst>
                                        </p:cTn>
                                        <p:tgtEl>
                                          <p:spTgt spid="61"/>
                                        </p:tgtEl>
                                        <p:attrNameLst>
                                          <p:attrName>style.visibility</p:attrName>
                                        </p:attrNameLst>
                                      </p:cBhvr>
                                      <p:to>
                                        <p:strVal val="visible"/>
                                      </p:to>
                                    </p:set>
                                    <p:animEffect transition="in" filter="fade">
                                      <p:cBhvr>
                                        <p:cTn id="158" dur="400"/>
                                        <p:tgtEl>
                                          <p:spTgt spid="61"/>
                                        </p:tgtEl>
                                      </p:cBhvr>
                                    </p:animEffect>
                                  </p:childTnLst>
                                </p:cTn>
                              </p:par>
                              <p:par>
                                <p:cTn id="159" presetID="10" presetClass="entr" presetSubtype="0" fill="hold" grpId="0" nodeType="clickEffect">
                                  <p:stCondLst>
                                    <p:cond delay="0"/>
                                  </p:stCondLst>
                                  <p:childTnLst>
                                    <p:set>
                                      <p:cBhvr>
                                        <p:cTn id="160" dur="1" fill="hold">
                                          <p:stCondLst>
                                            <p:cond delay="0"/>
                                          </p:stCondLst>
                                        </p:cTn>
                                        <p:tgtEl>
                                          <p:spTgt spid="62"/>
                                        </p:tgtEl>
                                        <p:attrNameLst>
                                          <p:attrName>style.visibility</p:attrName>
                                        </p:attrNameLst>
                                      </p:cBhvr>
                                      <p:to>
                                        <p:strVal val="visible"/>
                                      </p:to>
                                    </p:set>
                                    <p:animEffect transition="in" filter="fade">
                                      <p:cBhvr>
                                        <p:cTn id="161" dur="400"/>
                                        <p:tgtEl>
                                          <p:spTgt spid="62"/>
                                        </p:tgtEl>
                                      </p:cBhvr>
                                    </p:animEffect>
                                  </p:childTnLst>
                                </p:cTn>
                              </p:par>
                              <p:par>
                                <p:cTn id="162" presetID="10" presetClass="entr" presetSubtype="0" fill="hold" grpId="0" nodeType="clickEffect">
                                  <p:stCondLst>
                                    <p:cond delay="0"/>
                                  </p:stCondLst>
                                  <p:childTnLst>
                                    <p:set>
                                      <p:cBhvr>
                                        <p:cTn id="163" dur="1" fill="hold">
                                          <p:stCondLst>
                                            <p:cond delay="0"/>
                                          </p:stCondLst>
                                        </p:cTn>
                                        <p:tgtEl>
                                          <p:spTgt spid="63"/>
                                        </p:tgtEl>
                                        <p:attrNameLst>
                                          <p:attrName>style.visibility</p:attrName>
                                        </p:attrNameLst>
                                      </p:cBhvr>
                                      <p:to>
                                        <p:strVal val="visible"/>
                                      </p:to>
                                    </p:set>
                                    <p:animEffect transition="in" filter="fade">
                                      <p:cBhvr>
                                        <p:cTn id="164" dur="400"/>
                                        <p:tgtEl>
                                          <p:spTgt spid="63"/>
                                        </p:tgtEl>
                                      </p:cBhvr>
                                    </p:animEffect>
                                  </p:childTnLst>
                                </p:cTn>
                              </p:par>
                              <p:par>
                                <p:cTn id="165" presetID="10" presetClass="entr" presetSubtype="0" fill="hold" grpId="0" nodeType="clickEffect">
                                  <p:stCondLst>
                                    <p:cond delay="0"/>
                                  </p:stCondLst>
                                  <p:childTnLst>
                                    <p:set>
                                      <p:cBhvr>
                                        <p:cTn id="166" dur="1" fill="hold">
                                          <p:stCondLst>
                                            <p:cond delay="0"/>
                                          </p:stCondLst>
                                        </p:cTn>
                                        <p:tgtEl>
                                          <p:spTgt spid="64"/>
                                        </p:tgtEl>
                                        <p:attrNameLst>
                                          <p:attrName>style.visibility</p:attrName>
                                        </p:attrNameLst>
                                      </p:cBhvr>
                                      <p:to>
                                        <p:strVal val="visible"/>
                                      </p:to>
                                    </p:set>
                                    <p:animEffect transition="in" filter="fade">
                                      <p:cBhvr>
                                        <p:cTn id="167" dur="400"/>
                                        <p:tgtEl>
                                          <p:spTgt spid="64"/>
                                        </p:tgtEl>
                                      </p:cBhvr>
                                    </p:animEffect>
                                  </p:childTnLst>
                                </p:cTn>
                              </p:par>
                              <p:par>
                                <p:cTn id="168" presetID="10" presetClass="entr" presetSubtype="0" fill="hold" grpId="0" nodeType="clickEffect">
                                  <p:stCondLst>
                                    <p:cond delay="0"/>
                                  </p:stCondLst>
                                  <p:childTnLst>
                                    <p:set>
                                      <p:cBhvr>
                                        <p:cTn id="169" dur="1" fill="hold">
                                          <p:stCondLst>
                                            <p:cond delay="0"/>
                                          </p:stCondLst>
                                        </p:cTn>
                                        <p:tgtEl>
                                          <p:spTgt spid="65"/>
                                        </p:tgtEl>
                                        <p:attrNameLst>
                                          <p:attrName>style.visibility</p:attrName>
                                        </p:attrNameLst>
                                      </p:cBhvr>
                                      <p:to>
                                        <p:strVal val="visible"/>
                                      </p:to>
                                    </p:set>
                                    <p:animEffect transition="in" filter="fade">
                                      <p:cBhvr>
                                        <p:cTn id="170" dur="400"/>
                                        <p:tgtEl>
                                          <p:spTgt spid="65"/>
                                        </p:tgtEl>
                                      </p:cBhvr>
                                    </p:animEffect>
                                  </p:childTnLst>
                                </p:cTn>
                              </p:par>
                              <p:par>
                                <p:cTn id="171" presetID="10" presetClass="entr" presetSubtype="0" fill="hold" grpId="0" nodeType="clickEffect">
                                  <p:stCondLst>
                                    <p:cond delay="0"/>
                                  </p:stCondLst>
                                  <p:childTnLst>
                                    <p:set>
                                      <p:cBhvr>
                                        <p:cTn id="172" dur="1" fill="hold">
                                          <p:stCondLst>
                                            <p:cond delay="0"/>
                                          </p:stCondLst>
                                        </p:cTn>
                                        <p:tgtEl>
                                          <p:spTgt spid="66"/>
                                        </p:tgtEl>
                                        <p:attrNameLst>
                                          <p:attrName>style.visibility</p:attrName>
                                        </p:attrNameLst>
                                      </p:cBhvr>
                                      <p:to>
                                        <p:strVal val="visible"/>
                                      </p:to>
                                    </p:set>
                                    <p:animEffect transition="in" filter="fade">
                                      <p:cBhvr>
                                        <p:cTn id="173" dur="400"/>
                                        <p:tgtEl>
                                          <p:spTgt spid="66"/>
                                        </p:tgtEl>
                                      </p:cBhvr>
                                    </p:animEffect>
                                  </p:childTnLst>
                                </p:cTn>
                              </p:par>
                              <p:par>
                                <p:cTn id="174" presetID="10" presetClass="entr" presetSubtype="0" fill="hold" grpId="0" nodeType="clickEffect">
                                  <p:stCondLst>
                                    <p:cond delay="0"/>
                                  </p:stCondLst>
                                  <p:childTnLst>
                                    <p:set>
                                      <p:cBhvr>
                                        <p:cTn id="175" dur="1" fill="hold">
                                          <p:stCondLst>
                                            <p:cond delay="0"/>
                                          </p:stCondLst>
                                        </p:cTn>
                                        <p:tgtEl>
                                          <p:spTgt spid="67"/>
                                        </p:tgtEl>
                                        <p:attrNameLst>
                                          <p:attrName>style.visibility</p:attrName>
                                        </p:attrNameLst>
                                      </p:cBhvr>
                                      <p:to>
                                        <p:strVal val="visible"/>
                                      </p:to>
                                    </p:set>
                                    <p:animEffect transition="in" filter="fade">
                                      <p:cBhvr>
                                        <p:cTn id="176" dur="400"/>
                                        <p:tgtEl>
                                          <p:spTgt spid="67"/>
                                        </p:tgtEl>
                                      </p:cBhvr>
                                    </p:animEffect>
                                  </p:childTnLst>
                                </p:cTn>
                              </p:par>
                              <p:par>
                                <p:cTn id="177" presetID="10" presetClass="entr" presetSubtype="0" fill="hold" grpId="0" nodeType="clickEffect">
                                  <p:stCondLst>
                                    <p:cond delay="0"/>
                                  </p:stCondLst>
                                  <p:childTnLst>
                                    <p:set>
                                      <p:cBhvr>
                                        <p:cTn id="178" dur="1" fill="hold">
                                          <p:stCondLst>
                                            <p:cond delay="0"/>
                                          </p:stCondLst>
                                        </p:cTn>
                                        <p:tgtEl>
                                          <p:spTgt spid="68"/>
                                        </p:tgtEl>
                                        <p:attrNameLst>
                                          <p:attrName>style.visibility</p:attrName>
                                        </p:attrNameLst>
                                      </p:cBhvr>
                                      <p:to>
                                        <p:strVal val="visible"/>
                                      </p:to>
                                    </p:set>
                                    <p:animEffect transition="in" filter="fade">
                                      <p:cBhvr>
                                        <p:cTn id="179" dur="400"/>
                                        <p:tgtEl>
                                          <p:spTgt spid="68"/>
                                        </p:tgtEl>
                                      </p:cBhvr>
                                    </p:animEffect>
                                  </p:childTnLst>
                                </p:cTn>
                              </p:par>
                              <p:par>
                                <p:cTn id="180" presetID="10" presetClass="entr" presetSubtype="0" fill="hold" grpId="0" nodeType="clickEffect">
                                  <p:stCondLst>
                                    <p:cond delay="0"/>
                                  </p:stCondLst>
                                  <p:childTnLst>
                                    <p:set>
                                      <p:cBhvr>
                                        <p:cTn id="181" dur="1" fill="hold">
                                          <p:stCondLst>
                                            <p:cond delay="0"/>
                                          </p:stCondLst>
                                        </p:cTn>
                                        <p:tgtEl>
                                          <p:spTgt spid="69"/>
                                        </p:tgtEl>
                                        <p:attrNameLst>
                                          <p:attrName>style.visibility</p:attrName>
                                        </p:attrNameLst>
                                      </p:cBhvr>
                                      <p:to>
                                        <p:strVal val="visible"/>
                                      </p:to>
                                    </p:set>
                                    <p:animEffect transition="in" filter="fade">
                                      <p:cBhvr>
                                        <p:cTn id="182" dur="400"/>
                                        <p:tgtEl>
                                          <p:spTgt spid="69"/>
                                        </p:tgtEl>
                                      </p:cBhvr>
                                    </p:animEffect>
                                  </p:childTnLst>
                                </p:cTn>
                              </p:par>
                              <p:par>
                                <p:cTn id="183" presetID="10" presetClass="entr" presetSubtype="0" fill="hold" grpId="0" nodeType="clickEffect">
                                  <p:stCondLst>
                                    <p:cond delay="0"/>
                                  </p:stCondLst>
                                  <p:childTnLst>
                                    <p:set>
                                      <p:cBhvr>
                                        <p:cTn id="184" dur="1" fill="hold">
                                          <p:stCondLst>
                                            <p:cond delay="0"/>
                                          </p:stCondLst>
                                        </p:cTn>
                                        <p:tgtEl>
                                          <p:spTgt spid="70"/>
                                        </p:tgtEl>
                                        <p:attrNameLst>
                                          <p:attrName>style.visibility</p:attrName>
                                        </p:attrNameLst>
                                      </p:cBhvr>
                                      <p:to>
                                        <p:strVal val="visible"/>
                                      </p:to>
                                    </p:set>
                                    <p:animEffect transition="in" filter="fade">
                                      <p:cBhvr>
                                        <p:cTn id="185" dur="400"/>
                                        <p:tgtEl>
                                          <p:spTgt spid="70"/>
                                        </p:tgtEl>
                                      </p:cBhvr>
                                    </p:animEffect>
                                  </p:childTnLst>
                                </p:cTn>
                              </p:par>
                              <p:par>
                                <p:cTn id="186" presetID="10" presetClass="entr" presetSubtype="0" fill="hold" grpId="0" nodeType="clickEffect">
                                  <p:stCondLst>
                                    <p:cond delay="0"/>
                                  </p:stCondLst>
                                  <p:childTnLst>
                                    <p:set>
                                      <p:cBhvr>
                                        <p:cTn id="187" dur="1" fill="hold">
                                          <p:stCondLst>
                                            <p:cond delay="0"/>
                                          </p:stCondLst>
                                        </p:cTn>
                                        <p:tgtEl>
                                          <p:spTgt spid="71"/>
                                        </p:tgtEl>
                                        <p:attrNameLst>
                                          <p:attrName>style.visibility</p:attrName>
                                        </p:attrNameLst>
                                      </p:cBhvr>
                                      <p:to>
                                        <p:strVal val="visible"/>
                                      </p:to>
                                    </p:set>
                                    <p:animEffect transition="in" filter="fade">
                                      <p:cBhvr>
                                        <p:cTn id="188" dur="400"/>
                                        <p:tgtEl>
                                          <p:spTgt spid="71"/>
                                        </p:tgtEl>
                                      </p:cBhvr>
                                    </p:animEffect>
                                  </p:childTnLst>
                                </p:cTn>
                              </p:par>
                              <p:par>
                                <p:cTn id="189" presetID="10" presetClass="entr" presetSubtype="0" fill="hold" grpId="0" nodeType="clickEffect">
                                  <p:stCondLst>
                                    <p:cond delay="0"/>
                                  </p:stCondLst>
                                  <p:childTnLst>
                                    <p:set>
                                      <p:cBhvr>
                                        <p:cTn id="190" dur="1" fill="hold">
                                          <p:stCondLst>
                                            <p:cond delay="0"/>
                                          </p:stCondLst>
                                        </p:cTn>
                                        <p:tgtEl>
                                          <p:spTgt spid="72"/>
                                        </p:tgtEl>
                                        <p:attrNameLst>
                                          <p:attrName>style.visibility</p:attrName>
                                        </p:attrNameLst>
                                      </p:cBhvr>
                                      <p:to>
                                        <p:strVal val="visible"/>
                                      </p:to>
                                    </p:set>
                                    <p:animEffect transition="in" filter="fade">
                                      <p:cBhvr>
                                        <p:cTn id="191" dur="400"/>
                                        <p:tgtEl>
                                          <p:spTgt spid="72"/>
                                        </p:tgtEl>
                                      </p:cBhvr>
                                    </p:animEffect>
                                  </p:childTnLst>
                                </p:cTn>
                              </p:par>
                              <p:par>
                                <p:cTn id="192" presetID="10" presetClass="entr" presetSubtype="0" fill="hold" grpId="0" nodeType="clickEffect">
                                  <p:stCondLst>
                                    <p:cond delay="0"/>
                                  </p:stCondLst>
                                  <p:childTnLst>
                                    <p:set>
                                      <p:cBhvr>
                                        <p:cTn id="193" dur="1" fill="hold">
                                          <p:stCondLst>
                                            <p:cond delay="0"/>
                                          </p:stCondLst>
                                        </p:cTn>
                                        <p:tgtEl>
                                          <p:spTgt spid="73"/>
                                        </p:tgtEl>
                                        <p:attrNameLst>
                                          <p:attrName>style.visibility</p:attrName>
                                        </p:attrNameLst>
                                      </p:cBhvr>
                                      <p:to>
                                        <p:strVal val="visible"/>
                                      </p:to>
                                    </p:set>
                                    <p:animEffect transition="in" filter="fade">
                                      <p:cBhvr>
                                        <p:cTn id="194" dur="400"/>
                                        <p:tgtEl>
                                          <p:spTgt spid="73"/>
                                        </p:tgtEl>
                                      </p:cBhvr>
                                    </p:animEffect>
                                  </p:childTnLst>
                                </p:cTn>
                              </p:par>
                              <p:par>
                                <p:cTn id="195" presetID="10" presetClass="entr" presetSubtype="0" fill="hold" grpId="0" nodeType="clickEffect">
                                  <p:stCondLst>
                                    <p:cond delay="0"/>
                                  </p:stCondLst>
                                  <p:childTnLst>
                                    <p:set>
                                      <p:cBhvr>
                                        <p:cTn id="196" dur="1" fill="hold">
                                          <p:stCondLst>
                                            <p:cond delay="0"/>
                                          </p:stCondLst>
                                        </p:cTn>
                                        <p:tgtEl>
                                          <p:spTgt spid="74"/>
                                        </p:tgtEl>
                                        <p:attrNameLst>
                                          <p:attrName>style.visibility</p:attrName>
                                        </p:attrNameLst>
                                      </p:cBhvr>
                                      <p:to>
                                        <p:strVal val="visible"/>
                                      </p:to>
                                    </p:set>
                                    <p:animEffect transition="in" filter="fade">
                                      <p:cBhvr>
                                        <p:cTn id="197" dur="400"/>
                                        <p:tgtEl>
                                          <p:spTgt spid="74"/>
                                        </p:tgtEl>
                                      </p:cBhvr>
                                    </p:animEffect>
                                  </p:childTnLst>
                                </p:cTn>
                              </p:par>
                              <p:par>
                                <p:cTn id="198" presetID="10" presetClass="entr" presetSubtype="0" fill="hold" grpId="0" nodeType="clickEffect">
                                  <p:stCondLst>
                                    <p:cond delay="0"/>
                                  </p:stCondLst>
                                  <p:childTnLst>
                                    <p:set>
                                      <p:cBhvr>
                                        <p:cTn id="199" dur="1" fill="hold">
                                          <p:stCondLst>
                                            <p:cond delay="0"/>
                                          </p:stCondLst>
                                        </p:cTn>
                                        <p:tgtEl>
                                          <p:spTgt spid="75"/>
                                        </p:tgtEl>
                                        <p:attrNameLst>
                                          <p:attrName>style.visibility</p:attrName>
                                        </p:attrNameLst>
                                      </p:cBhvr>
                                      <p:to>
                                        <p:strVal val="visible"/>
                                      </p:to>
                                    </p:set>
                                    <p:animEffect transition="in" filter="fade">
                                      <p:cBhvr>
                                        <p:cTn id="200" dur="400"/>
                                        <p:tgtEl>
                                          <p:spTgt spid="75"/>
                                        </p:tgtEl>
                                      </p:cBhvr>
                                    </p:animEffect>
                                  </p:childTnLst>
                                </p:cTn>
                              </p:par>
                              <p:par>
                                <p:cTn id="201" presetID="10" presetClass="entr" presetSubtype="0" fill="hold" grpId="0" nodeType="clickEffect">
                                  <p:stCondLst>
                                    <p:cond delay="0"/>
                                  </p:stCondLst>
                                  <p:childTnLst>
                                    <p:set>
                                      <p:cBhvr>
                                        <p:cTn id="202" dur="1" fill="hold">
                                          <p:stCondLst>
                                            <p:cond delay="0"/>
                                          </p:stCondLst>
                                        </p:cTn>
                                        <p:tgtEl>
                                          <p:spTgt spid="76"/>
                                        </p:tgtEl>
                                        <p:attrNameLst>
                                          <p:attrName>style.visibility</p:attrName>
                                        </p:attrNameLst>
                                      </p:cBhvr>
                                      <p:to>
                                        <p:strVal val="visible"/>
                                      </p:to>
                                    </p:set>
                                    <p:animEffect transition="in" filter="fade">
                                      <p:cBhvr>
                                        <p:cTn id="203" dur="400"/>
                                        <p:tgtEl>
                                          <p:spTgt spid="76"/>
                                        </p:tgtEl>
                                      </p:cBhvr>
                                    </p:animEffect>
                                  </p:childTnLst>
                                </p:cTn>
                              </p:par>
                              <p:par>
                                <p:cTn id="204" presetID="10" presetClass="entr" presetSubtype="0" fill="hold" grpId="0" nodeType="clickEffect">
                                  <p:stCondLst>
                                    <p:cond delay="0"/>
                                  </p:stCondLst>
                                  <p:childTnLst>
                                    <p:set>
                                      <p:cBhvr>
                                        <p:cTn id="205" dur="1" fill="hold">
                                          <p:stCondLst>
                                            <p:cond delay="0"/>
                                          </p:stCondLst>
                                        </p:cTn>
                                        <p:tgtEl>
                                          <p:spTgt spid="77"/>
                                        </p:tgtEl>
                                        <p:attrNameLst>
                                          <p:attrName>style.visibility</p:attrName>
                                        </p:attrNameLst>
                                      </p:cBhvr>
                                      <p:to>
                                        <p:strVal val="visible"/>
                                      </p:to>
                                    </p:set>
                                    <p:animEffect transition="in" filter="fade">
                                      <p:cBhvr>
                                        <p:cTn id="206" dur="400"/>
                                        <p:tgtEl>
                                          <p:spTgt spid="77"/>
                                        </p:tgtEl>
                                      </p:cBhvr>
                                    </p:animEffect>
                                  </p:childTnLst>
                                </p:cTn>
                              </p:par>
                              <p:par>
                                <p:cTn id="207" presetID="10" presetClass="entr" presetSubtype="0" fill="hold" grpId="0" nodeType="clickEffect">
                                  <p:stCondLst>
                                    <p:cond delay="0"/>
                                  </p:stCondLst>
                                  <p:childTnLst>
                                    <p:set>
                                      <p:cBhvr>
                                        <p:cTn id="208" dur="1" fill="hold">
                                          <p:stCondLst>
                                            <p:cond delay="0"/>
                                          </p:stCondLst>
                                        </p:cTn>
                                        <p:tgtEl>
                                          <p:spTgt spid="78"/>
                                        </p:tgtEl>
                                        <p:attrNameLst>
                                          <p:attrName>style.visibility</p:attrName>
                                        </p:attrNameLst>
                                      </p:cBhvr>
                                      <p:to>
                                        <p:strVal val="visible"/>
                                      </p:to>
                                    </p:set>
                                    <p:animEffect transition="in" filter="fade">
                                      <p:cBhvr>
                                        <p:cTn id="209" dur="400"/>
                                        <p:tgtEl>
                                          <p:spTgt spid="78"/>
                                        </p:tgtEl>
                                      </p:cBhvr>
                                    </p:animEffect>
                                  </p:childTnLst>
                                </p:cTn>
                              </p:par>
                              <p:par>
                                <p:cTn id="210" presetID="10" presetClass="entr" presetSubtype="0" fill="hold" grpId="0" nodeType="clickEffect">
                                  <p:stCondLst>
                                    <p:cond delay="0"/>
                                  </p:stCondLst>
                                  <p:childTnLst>
                                    <p:set>
                                      <p:cBhvr>
                                        <p:cTn id="211" dur="1" fill="hold">
                                          <p:stCondLst>
                                            <p:cond delay="0"/>
                                          </p:stCondLst>
                                        </p:cTn>
                                        <p:tgtEl>
                                          <p:spTgt spid="79"/>
                                        </p:tgtEl>
                                        <p:attrNameLst>
                                          <p:attrName>style.visibility</p:attrName>
                                        </p:attrNameLst>
                                      </p:cBhvr>
                                      <p:to>
                                        <p:strVal val="visible"/>
                                      </p:to>
                                    </p:set>
                                    <p:animEffect transition="in" filter="fade">
                                      <p:cBhvr>
                                        <p:cTn id="212"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roofline connects FLOPs to bytes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kernel is limited by whichever resource it needs more urgently.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39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Attainable FLOP/s ≤ min(compute ceiling, bandwidth × intensity)</a:t>
            </a:r>
          </a:p>
        </p:txBody>
      </p:sp>
      <p:cxnSp>
        <p:nvCxnSpPr>
          <p:cNvPr id="12" name="Connector 11"/>
          <p:cNvCxnSpPr/>
          <p:nvPr/>
        </p:nvCxnSpPr>
        <p:spPr>
          <a:xfrm>
            <a:off x="987552" y="5166360"/>
            <a:ext cx="9710928"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87552" y="1984248"/>
            <a:ext cx="0" cy="3182112"/>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0" y="5431536"/>
            <a:ext cx="6400800" cy="274320"/>
          </a:xfrm>
          <a:prstGeom prst="rect">
            <a:avLst/>
          </a:prstGeom>
          <a:noFill/>
        </p:spPr>
        <p:txBody>
          <a:bodyPr wrap="square" lIns="13716" rIns="13716" tIns="0" bIns="0">
            <a:spAutoFit/>
          </a:bodyPr>
          <a:lstStyle/>
          <a:p>
            <a:pPr algn="l">
              <a:spcBef>
                <a:spcPts val="0"/>
              </a:spcBef>
              <a:spcAft>
                <a:spcPts val="0"/>
              </a:spcAft>
            </a:pPr>
            <a:r>
              <a:rPr sz="1400" b="0">
                <a:solidFill>
                  <a:srgbClr val="A7B8CD"/>
                </a:solidFill>
                <a:latin typeface="DejaVu Sans"/>
              </a:rPr>
              <a:t>Arithmetic intensity →</a:t>
            </a:r>
          </a:p>
        </p:txBody>
      </p:sp>
      <p:sp>
        <p:nvSpPr>
          <p:cNvPr id="15" name="TextBox 14"/>
          <p:cNvSpPr txBox="1"/>
          <p:nvPr/>
        </p:nvSpPr>
        <p:spPr>
          <a:xfrm>
            <a:off x="1225296" y="1920240"/>
            <a:ext cx="4572000" cy="274320"/>
          </a:xfrm>
          <a:prstGeom prst="rect">
            <a:avLst/>
          </a:prstGeom>
          <a:noFill/>
        </p:spPr>
        <p:txBody>
          <a:bodyPr wrap="square" lIns="13716" rIns="13716" tIns="0" bIns="0">
            <a:spAutoFit/>
          </a:bodyPr>
          <a:lstStyle/>
          <a:p>
            <a:pPr algn="l">
              <a:spcBef>
                <a:spcPts val="0"/>
              </a:spcBef>
              <a:spcAft>
                <a:spcPts val="0"/>
              </a:spcAft>
            </a:pPr>
            <a:r>
              <a:rPr sz="1400" b="0">
                <a:solidFill>
                  <a:srgbClr val="A7B8CD"/>
                </a:solidFill>
                <a:latin typeface="DejaVu Sans"/>
              </a:rPr>
              <a:t>Attainable FLOP/s</a:t>
            </a:r>
          </a:p>
        </p:txBody>
      </p:sp>
      <p:cxnSp>
        <p:nvCxnSpPr>
          <p:cNvPr id="16" name="Connector 15"/>
          <p:cNvCxnSpPr/>
          <p:nvPr/>
        </p:nvCxnSpPr>
        <p:spPr>
          <a:xfrm flipV="1">
            <a:off x="1298448" y="2697480"/>
            <a:ext cx="4507992" cy="2240280"/>
          </a:xfrm>
          <a:prstGeom prst="line">
            <a:avLst/>
          </a:prstGeom>
          <a:ln w="22860">
            <a:solidFill>
              <a:srgbClr val="52CFD1"/>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331720" y="4114800"/>
            <a:ext cx="3474720" cy="365760"/>
          </a:xfrm>
          <a:prstGeom prst="rect">
            <a:avLst/>
          </a:prstGeom>
          <a:noFill/>
        </p:spPr>
        <p:txBody>
          <a:bodyPr wrap="square" lIns="13716" rIns="13716" tIns="0" bIns="0">
            <a:spAutoFit/>
          </a:bodyPr>
          <a:lstStyle/>
          <a:p>
            <a:pPr algn="l">
              <a:spcBef>
                <a:spcPts val="0"/>
              </a:spcBef>
              <a:spcAft>
                <a:spcPts val="0"/>
              </a:spcAft>
            </a:pPr>
            <a:r>
              <a:rPr sz="1800" b="1">
                <a:solidFill>
                  <a:srgbClr val="52CFD1"/>
                </a:solidFill>
                <a:latin typeface="DejaVu Sans"/>
              </a:rPr>
              <a:t>Bandwidth ceiling</a:t>
            </a:r>
          </a:p>
        </p:txBody>
      </p:sp>
      <p:cxnSp>
        <p:nvCxnSpPr>
          <p:cNvPr id="18" name="Connector 17"/>
          <p:cNvCxnSpPr/>
          <p:nvPr/>
        </p:nvCxnSpPr>
        <p:spPr>
          <a:xfrm>
            <a:off x="5806440" y="2697480"/>
            <a:ext cx="4690872" cy="0"/>
          </a:xfrm>
          <a:prstGeom prst="line">
            <a:avLst/>
          </a:prstGeom>
          <a:ln w="22860">
            <a:solidFill>
              <a:srgbClr val="69AEFF"/>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37960" y="2185416"/>
            <a:ext cx="3931920" cy="365760"/>
          </a:xfrm>
          <a:prstGeom prst="rect">
            <a:avLst/>
          </a:prstGeom>
          <a:noFill/>
        </p:spPr>
        <p:txBody>
          <a:bodyPr wrap="square" lIns="13716" rIns="13716" tIns="0" bIns="0">
            <a:spAutoFit/>
          </a:bodyPr>
          <a:lstStyle/>
          <a:p>
            <a:pPr algn="l">
              <a:spcBef>
                <a:spcPts val="0"/>
              </a:spcBef>
              <a:spcAft>
                <a:spcPts val="0"/>
              </a:spcAft>
            </a:pPr>
            <a:r>
              <a:rPr sz="1800" b="1">
                <a:solidFill>
                  <a:srgbClr val="69AEFF"/>
                </a:solidFill>
                <a:latin typeface="DejaVu Sans"/>
              </a:rPr>
              <a:t>Compute ceiling</a:t>
            </a:r>
          </a:p>
        </p:txBody>
      </p:sp>
      <p:sp>
        <p:nvSpPr>
          <p:cNvPr id="20" name="TextBox 19"/>
          <p:cNvSpPr txBox="1"/>
          <p:nvPr/>
        </p:nvSpPr>
        <p:spPr>
          <a:xfrm>
            <a:off x="6492240" y="4297680"/>
            <a:ext cx="4114800" cy="594360"/>
          </a:xfrm>
          <a:prstGeom prst="rect">
            <a:avLst/>
          </a:prstGeom>
          <a:noFill/>
        </p:spPr>
        <p:txBody>
          <a:bodyPr wrap="square" lIns="13716" rIns="13716" tIns="0" bIns="0">
            <a:spAutoFit/>
          </a:bodyPr>
          <a:lstStyle/>
          <a:p>
            <a:pPr algn="l">
              <a:spcBef>
                <a:spcPts val="0"/>
              </a:spcBef>
              <a:spcAft>
                <a:spcPts val="0"/>
              </a:spcAft>
            </a:pPr>
            <a:r>
              <a:rPr sz="1300" b="0">
                <a:solidFill>
                  <a:srgbClr val="A7B8CD"/>
                </a:solidFill>
                <a:latin typeface="DejaVu Sans"/>
              </a:rPr>
              <a:t>Conceptual axes;</a:t>
            </a:r>
          </a:p>
          <a:p>
            <a:pPr algn="l">
              <a:spcBef>
                <a:spcPts val="0"/>
              </a:spcBef>
              <a:spcAft>
                <a:spcPts val="0"/>
              </a:spcAft>
            </a:pPr>
            <a:r>
              <a:rPr sz="1300" b="0">
                <a:solidFill>
                  <a:srgbClr val="A7B8CD"/>
                </a:solidFill>
                <a:latin typeface="DejaVu Sans"/>
              </a:rPr>
              <a:t>not measured MI355X data.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MI355X EXECUTION</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Why eight GPUs are needed</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Sparse activation reduces work; the full weight set still consumes memory.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40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Ideal weight bytes = parameter count × bits per parameter / 8</a:t>
            </a:r>
          </a:p>
        </p:txBody>
      </p:sp>
      <p:sp>
        <p:nvSpPr>
          <p:cNvPr id="12" name="TextBox 11"/>
          <p:cNvSpPr txBox="1"/>
          <p:nvPr/>
        </p:nvSpPr>
        <p:spPr>
          <a:xfrm>
            <a:off x="640080" y="2560320"/>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Ideal 4-bit weight bytes</a:t>
            </a:r>
          </a:p>
        </p:txBody>
      </p:sp>
      <p:sp>
        <p:nvSpPr>
          <p:cNvPr id="13" name="Rectangle 12"/>
          <p:cNvSpPr/>
          <p:nvPr/>
        </p:nvSpPr>
        <p:spPr>
          <a:xfrm>
            <a:off x="4160520" y="2560320"/>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560320"/>
            <a:ext cx="3814876" cy="36576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2990087"/>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F4BF61"/>
                </a:solidFill>
                <a:latin typeface="DejaVu Sans"/>
              </a:rPr>
              <a:t>1,400 GB (decimal illustration)</a:t>
            </a:r>
          </a:p>
        </p:txBody>
      </p:sp>
      <p:sp>
        <p:nvSpPr>
          <p:cNvPr id="16" name="TextBox 15"/>
          <p:cNvSpPr txBox="1"/>
          <p:nvPr/>
        </p:nvSpPr>
        <p:spPr>
          <a:xfrm>
            <a:off x="640080" y="3438144"/>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8-GPU advertised HBM</a:t>
            </a:r>
          </a:p>
        </p:txBody>
      </p:sp>
      <p:sp>
        <p:nvSpPr>
          <p:cNvPr id="17" name="Rectangle 16"/>
          <p:cNvSpPr/>
          <p:nvPr/>
        </p:nvSpPr>
        <p:spPr>
          <a:xfrm>
            <a:off x="4160520" y="3438144"/>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3438144"/>
            <a:ext cx="6278197" cy="36576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20" y="3867911"/>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69AEFF"/>
                </a:solidFill>
                <a:latin typeface="DejaVu Sans"/>
              </a:rPr>
              <a:t>2,304 GB (decimal illustration)</a:t>
            </a:r>
          </a:p>
        </p:txBody>
      </p:sp>
      <p:sp>
        <p:nvSpPr>
          <p:cNvPr id="20" name="TextBox 19"/>
          <p:cNvSpPr txBox="1"/>
          <p:nvPr/>
        </p:nvSpPr>
        <p:spPr>
          <a:xfrm>
            <a:off x="676656" y="4800600"/>
            <a:ext cx="10789920" cy="566928"/>
          </a:xfrm>
          <a:prstGeom prst="rect">
            <a:avLst/>
          </a:prstGeom>
          <a:noFill/>
        </p:spPr>
        <p:txBody>
          <a:bodyPr wrap="square" lIns="13716" rIns="13716" tIns="0" bIns="0">
            <a:spAutoFit/>
          </a:bodyPr>
          <a:lstStyle/>
          <a:p>
            <a:pPr algn="l">
              <a:spcBef>
                <a:spcPts val="0"/>
              </a:spcBef>
              <a:spcAft>
                <a:spcPts val="0"/>
              </a:spcAft>
            </a:pPr>
            <a:r>
              <a:rPr sz="1700" b="0">
                <a:solidFill>
                  <a:srgbClr val="F2F6FC"/>
                </a:solidFill>
                <a:latin typeface="DejaVu Sans"/>
              </a:rPr>
              <a:t>Scales, BF16 modules, caches and workspaces consume the remaining budget.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serving stack turns requests into kernels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Every layer of software has a different responsibility.</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CBD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CBD7E6"/>
                </a:solidFill>
                <a:latin typeface="DejaVu Sans"/>
              </a:rPr>
              <a:t>Client + API</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Text, sessions and tool-call turns</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vLLM scheduler</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Batching, cache blocks and speculation</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PyTorch + backends</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Tensor operations and dispatch</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AITER / FlyDSL / ROCm</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GPU kernels, runtime and collectives</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Tensor parallelism splits model calculations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TP8 divides selected weight dimensions across eight ranks.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42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96 heads / 8 TP ranks = 12 local prefill heads per rank</a:t>
            </a:r>
          </a:p>
        </p:txBody>
      </p:sp>
      <p:sp>
        <p:nvSpPr>
          <p:cNvPr id="12" name="Rounded Rectangle 11"/>
          <p:cNvSpPr/>
          <p:nvPr/>
        </p:nvSpPr>
        <p:spPr>
          <a:xfrm>
            <a:off x="768096" y="2240280"/>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3544" y="242316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0</a:t>
            </a:r>
          </a:p>
        </p:txBody>
      </p:sp>
      <p:sp>
        <p:nvSpPr>
          <p:cNvPr id="15" name="TextBox 14"/>
          <p:cNvSpPr txBox="1"/>
          <p:nvPr/>
        </p:nvSpPr>
        <p:spPr>
          <a:xfrm>
            <a:off x="932688"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16" name="Rounded Rectangle 15"/>
          <p:cNvSpPr/>
          <p:nvPr/>
        </p:nvSpPr>
        <p:spPr>
          <a:xfrm>
            <a:off x="3630168" y="2240280"/>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85615" y="242316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41063"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1</a:t>
            </a:r>
          </a:p>
        </p:txBody>
      </p:sp>
      <p:sp>
        <p:nvSpPr>
          <p:cNvPr id="19" name="TextBox 18"/>
          <p:cNvSpPr txBox="1"/>
          <p:nvPr/>
        </p:nvSpPr>
        <p:spPr>
          <a:xfrm>
            <a:off x="3794759"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20" name="Rounded Rectangle 19"/>
          <p:cNvSpPr/>
          <p:nvPr/>
        </p:nvSpPr>
        <p:spPr>
          <a:xfrm>
            <a:off x="6492240" y="2240280"/>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47688" y="242316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03136"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2</a:t>
            </a:r>
          </a:p>
        </p:txBody>
      </p:sp>
      <p:sp>
        <p:nvSpPr>
          <p:cNvPr id="23" name="TextBox 22"/>
          <p:cNvSpPr txBox="1"/>
          <p:nvPr/>
        </p:nvSpPr>
        <p:spPr>
          <a:xfrm>
            <a:off x="6656831"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24" name="Rounded Rectangle 23"/>
          <p:cNvSpPr/>
          <p:nvPr/>
        </p:nvSpPr>
        <p:spPr>
          <a:xfrm>
            <a:off x="9354312" y="2240280"/>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09760" y="2423160"/>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65208"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3</a:t>
            </a:r>
          </a:p>
        </p:txBody>
      </p:sp>
      <p:sp>
        <p:nvSpPr>
          <p:cNvPr id="27" name="TextBox 26"/>
          <p:cNvSpPr txBox="1"/>
          <p:nvPr/>
        </p:nvSpPr>
        <p:spPr>
          <a:xfrm>
            <a:off x="9518904"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28" name="Rounded Rectangle 27"/>
          <p:cNvSpPr/>
          <p:nvPr/>
        </p:nvSpPr>
        <p:spPr>
          <a:xfrm>
            <a:off x="768096" y="3675888"/>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3544" y="385876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8992"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4</a:t>
            </a:r>
          </a:p>
        </p:txBody>
      </p:sp>
      <p:sp>
        <p:nvSpPr>
          <p:cNvPr id="31" name="TextBox 30"/>
          <p:cNvSpPr txBox="1"/>
          <p:nvPr/>
        </p:nvSpPr>
        <p:spPr>
          <a:xfrm>
            <a:off x="932688"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32" name="Rounded Rectangle 31"/>
          <p:cNvSpPr/>
          <p:nvPr/>
        </p:nvSpPr>
        <p:spPr>
          <a:xfrm>
            <a:off x="3630168" y="3675888"/>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85615" y="385876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41063"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5</a:t>
            </a:r>
          </a:p>
        </p:txBody>
      </p:sp>
      <p:sp>
        <p:nvSpPr>
          <p:cNvPr id="35" name="TextBox 34"/>
          <p:cNvSpPr txBox="1"/>
          <p:nvPr/>
        </p:nvSpPr>
        <p:spPr>
          <a:xfrm>
            <a:off x="3794759"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36" name="Rounded Rectangle 35"/>
          <p:cNvSpPr/>
          <p:nvPr/>
        </p:nvSpPr>
        <p:spPr>
          <a:xfrm>
            <a:off x="6492240" y="3675888"/>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47688" y="385876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03136"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6</a:t>
            </a:r>
          </a:p>
        </p:txBody>
      </p:sp>
      <p:sp>
        <p:nvSpPr>
          <p:cNvPr id="39" name="TextBox 38"/>
          <p:cNvSpPr txBox="1"/>
          <p:nvPr/>
        </p:nvSpPr>
        <p:spPr>
          <a:xfrm>
            <a:off x="6656831"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
        <p:nvSpPr>
          <p:cNvPr id="40" name="Rounded Rectangle 39"/>
          <p:cNvSpPr/>
          <p:nvPr/>
        </p:nvSpPr>
        <p:spPr>
          <a:xfrm>
            <a:off x="9354312" y="3675888"/>
            <a:ext cx="2487168" cy="12344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09760" y="3858768"/>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65208"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GPU 7</a:t>
            </a:r>
          </a:p>
        </p:txBody>
      </p:sp>
      <p:sp>
        <p:nvSpPr>
          <p:cNvPr id="43" name="TextBox 42"/>
          <p:cNvSpPr txBox="1"/>
          <p:nvPr/>
        </p:nvSpPr>
        <p:spPr>
          <a:xfrm>
            <a:off x="9518904"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Feature shard</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00"/>
                                        <p:tgtEl>
                                          <p:spTgt spid="26"/>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00"/>
                                        <p:tgtEl>
                                          <p:spTgt spid="28"/>
                                        </p:tgtEl>
                                      </p:cBhvr>
                                    </p:animEffect>
                                  </p:childTnLst>
                                </p:cTn>
                              </p:par>
                              <p:par>
                                <p:cTn id="58" presetID="10" presetClass="entr" presetSubtype="0" fill="hold" grpId="0"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par>
                                <p:cTn id="61" presetID="10" presetClass="entr" presetSubtype="0" fill="hold" grpId="0" nodeType="click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400"/>
                                        <p:tgtEl>
                                          <p:spTgt spid="30"/>
                                        </p:tgtEl>
                                      </p:cBhvr>
                                    </p:animEffect>
                                  </p:childTnLst>
                                </p:cTn>
                              </p:par>
                              <p:par>
                                <p:cTn id="64" presetID="10" presetClass="entr" presetSubtype="0" fill="hold" grpId="0"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400"/>
                                        <p:tgtEl>
                                          <p:spTgt spid="31"/>
                                        </p:tgtEl>
                                      </p:cBhvr>
                                    </p:animEffect>
                                  </p:childTnLst>
                                </p:cTn>
                              </p:par>
                              <p:par>
                                <p:cTn id="67" presetID="10"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400"/>
                                        <p:tgtEl>
                                          <p:spTgt spid="32"/>
                                        </p:tgtEl>
                                      </p:cBhvr>
                                    </p:animEffect>
                                  </p:childTnLst>
                                </p:cTn>
                              </p:par>
                              <p:par>
                                <p:cTn id="70" presetID="10" presetClass="entr" presetSubtype="0" fill="hold" grpId="0" nodeType="click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400"/>
                                        <p:tgtEl>
                                          <p:spTgt spid="33"/>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400"/>
                                        <p:tgtEl>
                                          <p:spTgt spid="34"/>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400"/>
                                        <p:tgtEl>
                                          <p:spTgt spid="35"/>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400"/>
                                        <p:tgtEl>
                                          <p:spTgt spid="36"/>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400"/>
                                        <p:tgtEl>
                                          <p:spTgt spid="37"/>
                                        </p:tgtEl>
                                      </p:cBhvr>
                                    </p:animEffect>
                                  </p:childTnLst>
                                </p:cTn>
                              </p:par>
                              <p:par>
                                <p:cTn id="85" presetID="10" presetClass="entr" presetSubtype="0"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400"/>
                                        <p:tgtEl>
                                          <p:spTgt spid="38"/>
                                        </p:tgtEl>
                                      </p:cBhvr>
                                    </p:animEffect>
                                  </p:childTnLst>
                                </p:cTn>
                              </p:par>
                              <p:par>
                                <p:cTn id="88" presetID="10" presetClass="entr" presetSubtype="0" fill="hold" grpId="0" nodeType="click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400"/>
                                        <p:tgtEl>
                                          <p:spTgt spid="39"/>
                                        </p:tgtEl>
                                      </p:cBhvr>
                                    </p:animEffect>
                                  </p:childTnLst>
                                </p:cTn>
                              </p:par>
                              <p:par>
                                <p:cTn id="91" presetID="10" presetClass="entr" presetSubtype="0" fill="hold" grpId="0" nodeType="click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400"/>
                                        <p:tgtEl>
                                          <p:spTgt spid="40"/>
                                        </p:tgtEl>
                                      </p:cBhvr>
                                    </p:animEffect>
                                  </p:childTnLst>
                                </p:cTn>
                              </p:par>
                              <p:par>
                                <p:cTn id="94" presetID="10" presetClass="entr" presetSubtype="0" fill="hold" grpId="0" nodeType="click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400"/>
                                        <p:tgtEl>
                                          <p:spTgt spid="41"/>
                                        </p:tgtEl>
                                      </p:cBhvr>
                                    </p:animEffect>
                                  </p:childTnLst>
                                </p:cTn>
                              </p:par>
                              <p:par>
                                <p:cTn id="97" presetID="10" presetClass="entr" presetSubtype="0" fill="hold" grpId="0" nodeType="click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400"/>
                                        <p:tgtEl>
                                          <p:spTgt spid="42"/>
                                        </p:tgtEl>
                                      </p:cBhvr>
                                    </p:animEffect>
                                  </p:childTnLst>
                                </p:cTn>
                              </p:par>
                              <p:par>
                                <p:cTn id="100" presetID="10" presetClass="entr" presetSubtype="0" fill="hold" grpId="0" nodeType="click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DCP partitions the context across the same ranks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TP8 and DCP8 use eight GPUs here—not sixty-four.</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768096" y="2240280"/>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23544" y="242316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0</a:t>
            </a:r>
          </a:p>
        </p:txBody>
      </p:sp>
      <p:sp>
        <p:nvSpPr>
          <p:cNvPr id="14" name="TextBox 13"/>
          <p:cNvSpPr txBox="1"/>
          <p:nvPr/>
        </p:nvSpPr>
        <p:spPr>
          <a:xfrm>
            <a:off x="932688"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15" name="Rounded Rectangle 14"/>
          <p:cNvSpPr/>
          <p:nvPr/>
        </p:nvSpPr>
        <p:spPr>
          <a:xfrm>
            <a:off x="3630168" y="2240280"/>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85615" y="242316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1063"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1</a:t>
            </a:r>
          </a:p>
        </p:txBody>
      </p:sp>
      <p:sp>
        <p:nvSpPr>
          <p:cNvPr id="18" name="TextBox 17"/>
          <p:cNvSpPr txBox="1"/>
          <p:nvPr/>
        </p:nvSpPr>
        <p:spPr>
          <a:xfrm>
            <a:off x="3794759"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19" name="Rounded Rectangle 18"/>
          <p:cNvSpPr/>
          <p:nvPr/>
        </p:nvSpPr>
        <p:spPr>
          <a:xfrm>
            <a:off x="6492240" y="2240280"/>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47688" y="242316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2</a:t>
            </a:r>
          </a:p>
        </p:txBody>
      </p:sp>
      <p:sp>
        <p:nvSpPr>
          <p:cNvPr id="22" name="TextBox 21"/>
          <p:cNvSpPr txBox="1"/>
          <p:nvPr/>
        </p:nvSpPr>
        <p:spPr>
          <a:xfrm>
            <a:off x="6656831"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23" name="Rounded Rectangle 22"/>
          <p:cNvSpPr/>
          <p:nvPr/>
        </p:nvSpPr>
        <p:spPr>
          <a:xfrm>
            <a:off x="9354312" y="2240280"/>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09760" y="2423160"/>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65208" y="2423160"/>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3</a:t>
            </a:r>
          </a:p>
        </p:txBody>
      </p:sp>
      <p:sp>
        <p:nvSpPr>
          <p:cNvPr id="26" name="TextBox 25"/>
          <p:cNvSpPr txBox="1"/>
          <p:nvPr/>
        </p:nvSpPr>
        <p:spPr>
          <a:xfrm>
            <a:off x="9518904" y="2990088"/>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27" name="Rounded Rectangle 26"/>
          <p:cNvSpPr/>
          <p:nvPr/>
        </p:nvSpPr>
        <p:spPr>
          <a:xfrm>
            <a:off x="768096" y="3675888"/>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3544" y="385876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992"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4</a:t>
            </a:r>
          </a:p>
        </p:txBody>
      </p:sp>
      <p:sp>
        <p:nvSpPr>
          <p:cNvPr id="30" name="TextBox 29"/>
          <p:cNvSpPr txBox="1"/>
          <p:nvPr/>
        </p:nvSpPr>
        <p:spPr>
          <a:xfrm>
            <a:off x="932688"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31" name="Rounded Rectangle 30"/>
          <p:cNvSpPr/>
          <p:nvPr/>
        </p:nvSpPr>
        <p:spPr>
          <a:xfrm>
            <a:off x="3630168" y="3675888"/>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85615" y="385876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41063"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5</a:t>
            </a:r>
          </a:p>
        </p:txBody>
      </p:sp>
      <p:sp>
        <p:nvSpPr>
          <p:cNvPr id="34" name="TextBox 33"/>
          <p:cNvSpPr txBox="1"/>
          <p:nvPr/>
        </p:nvSpPr>
        <p:spPr>
          <a:xfrm>
            <a:off x="3794759"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35" name="Rounded Rectangle 34"/>
          <p:cNvSpPr/>
          <p:nvPr/>
        </p:nvSpPr>
        <p:spPr>
          <a:xfrm>
            <a:off x="6492240" y="3675888"/>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47688" y="385876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03136"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6</a:t>
            </a:r>
          </a:p>
        </p:txBody>
      </p:sp>
      <p:sp>
        <p:nvSpPr>
          <p:cNvPr id="38" name="TextBox 37"/>
          <p:cNvSpPr txBox="1"/>
          <p:nvPr/>
        </p:nvSpPr>
        <p:spPr>
          <a:xfrm>
            <a:off x="6656831"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
        <p:nvSpPr>
          <p:cNvPr id="39" name="Rounded Rectangle 38"/>
          <p:cNvSpPr/>
          <p:nvPr/>
        </p:nvSpPr>
        <p:spPr>
          <a:xfrm>
            <a:off x="9354312" y="3675888"/>
            <a:ext cx="2487168" cy="12344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09760" y="385876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65208" y="3858768"/>
            <a:ext cx="2029968"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GPU 7</a:t>
            </a:r>
          </a:p>
        </p:txBody>
      </p:sp>
      <p:sp>
        <p:nvSpPr>
          <p:cNvPr id="42" name="TextBox 41"/>
          <p:cNvSpPr txBox="1"/>
          <p:nvPr/>
        </p:nvSpPr>
        <p:spPr>
          <a:xfrm>
            <a:off x="9518904" y="4425696"/>
            <a:ext cx="2176272" cy="256032"/>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Context partition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00"/>
                                        <p:tgtEl>
                                          <p:spTgt spid="19"/>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00"/>
                                        <p:tgtEl>
                                          <p:spTgt spid="20"/>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par>
                                <p:cTn id="38" presetID="10"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00"/>
                                        <p:tgtEl>
                                          <p:spTgt spid="22"/>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00"/>
                                        <p:tgtEl>
                                          <p:spTgt spid="27"/>
                                        </p:tgtEl>
                                      </p:cBhvr>
                                    </p:animEffect>
                                  </p:childTnLst>
                                </p:cTn>
                              </p:par>
                              <p:par>
                                <p:cTn id="58" presetID="10" presetClass="entr" presetSubtype="0"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00"/>
                                        <p:tgtEl>
                                          <p:spTgt spid="28"/>
                                        </p:tgtEl>
                                      </p:cBhvr>
                                    </p:animEffect>
                                  </p:childTnLst>
                                </p:cTn>
                              </p:par>
                              <p:par>
                                <p:cTn id="61" presetID="10"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400"/>
                                        <p:tgtEl>
                                          <p:spTgt spid="29"/>
                                        </p:tgtEl>
                                      </p:cBhvr>
                                    </p:animEffect>
                                  </p:childTnLst>
                                </p:cTn>
                              </p:par>
                              <p:par>
                                <p:cTn id="64" presetID="10" presetClass="entr" presetSubtype="0" fill="hold" grpId="0" nodeType="click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00"/>
                                        <p:tgtEl>
                                          <p:spTgt spid="30"/>
                                        </p:tgtEl>
                                      </p:cBhvr>
                                    </p:animEffect>
                                  </p:childTnLst>
                                </p:cTn>
                              </p:par>
                              <p:par>
                                <p:cTn id="67" presetID="10" presetClass="entr" presetSubtype="0"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00"/>
                                        <p:tgtEl>
                                          <p:spTgt spid="31"/>
                                        </p:tgtEl>
                                      </p:cBhvr>
                                    </p:animEffect>
                                  </p:childTnLst>
                                </p:cTn>
                              </p:par>
                              <p:par>
                                <p:cTn id="70" presetID="10" presetClass="entr" presetSubtype="0"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400"/>
                                        <p:tgtEl>
                                          <p:spTgt spid="32"/>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400"/>
                                        <p:tgtEl>
                                          <p:spTgt spid="33"/>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400"/>
                                        <p:tgtEl>
                                          <p:spTgt spid="34"/>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grpId="0" nodeType="click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click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grpId="0" nodeType="click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click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click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Collectives move or combine distributed tensors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All-gather, all-reduce and all-to-all solve different problems.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All-gather</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Everyone receives all participants' pieces.</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All-reduce</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Everyone receives a reduction, such as a sum.</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All-to-all</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Each participant sends a different piece to each peer.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Merge attention chunks with their normalization mass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Average by exp(LSE), not by chunk length or a fixed 50/50 split.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45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L = logaddexp(L_A,L_B);  O = e^(L_A−L)O_A + e^(L_B−L)O_B</a:t>
            </a:r>
          </a:p>
        </p:txBody>
      </p:sp>
      <p:sp>
        <p:nvSpPr>
          <p:cNvPr id="12" name="Rounded Rectangle 11"/>
          <p:cNvSpPr/>
          <p:nvPr/>
        </p:nvSpPr>
        <p:spPr>
          <a:xfrm>
            <a:off x="566928"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Chunk A</a:t>
            </a:r>
          </a:p>
        </p:txBody>
      </p:sp>
      <p:sp>
        <p:nvSpPr>
          <p:cNvPr id="15" name="TextBox 14"/>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Output O_A and LSE_A</a:t>
            </a:r>
          </a:p>
        </p:txBody>
      </p:sp>
      <p:sp>
        <p:nvSpPr>
          <p:cNvPr id="16" name="Rounded Rectangle 15"/>
          <p:cNvSpPr/>
          <p:nvPr/>
        </p:nvSpPr>
        <p:spPr>
          <a:xfrm>
            <a:off x="3383280"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38728"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Chunk B</a:t>
            </a:r>
          </a:p>
        </p:txBody>
      </p:sp>
      <p:sp>
        <p:nvSpPr>
          <p:cNvPr id="19" name="TextBox 18"/>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Output O_B and LSE_B</a:t>
            </a:r>
          </a:p>
        </p:txBody>
      </p:sp>
      <p:cxnSp>
        <p:nvCxnSpPr>
          <p:cNvPr id="20" name="Connector 19"/>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99632"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B799FF"/>
                </a:solidFill>
                <a:latin typeface="DejaVu Sans"/>
              </a:rPr>
              <a:t>Stable mass weights</a:t>
            </a:r>
          </a:p>
        </p:txBody>
      </p:sp>
      <p:sp>
        <p:nvSpPr>
          <p:cNvPr id="24" name="TextBox 23"/>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Normalize exponentials of the two LSEs</a:t>
            </a:r>
          </a:p>
        </p:txBody>
      </p:sp>
      <p:cxnSp>
        <p:nvCxnSpPr>
          <p:cNvPr id="25" name="Connector 24"/>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15984" y="2487168"/>
            <a:ext cx="2615184"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71432"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Merged output</a:t>
            </a:r>
          </a:p>
        </p:txBody>
      </p:sp>
      <p:sp>
        <p:nvSpPr>
          <p:cNvPr id="29" name="TextBox 28"/>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w_A O_A + w_B O_B</a:t>
            </a:r>
          </a:p>
        </p:txBody>
      </p:sp>
      <p:cxnSp>
        <p:nvCxnSpPr>
          <p:cNvPr id="30" name="Connector 29"/>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Continuous batching keeps requests moving</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scheduler admits new work as other requests finish.</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46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667512" y="244144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52CFD1"/>
                </a:solidFill>
                <a:latin typeface="DejaVu Sans"/>
              </a:rPr>
              <a:t>Request A</a:t>
            </a:r>
          </a:p>
        </p:txBody>
      </p:sp>
      <p:sp>
        <p:nvSpPr>
          <p:cNvPr id="12" name="Rectangle 11"/>
          <p:cNvSpPr/>
          <p:nvPr/>
        </p:nvSpPr>
        <p:spPr>
          <a:xfrm>
            <a:off x="4791456"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62472"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33488"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875519"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40156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69AEFF"/>
                </a:solidFill>
                <a:latin typeface="DejaVu Sans"/>
              </a:rPr>
              <a:t>Request B</a:t>
            </a:r>
          </a:p>
        </p:txBody>
      </p:sp>
      <p:sp>
        <p:nvSpPr>
          <p:cNvPr id="17" name="Rectangle 16"/>
          <p:cNvSpPr/>
          <p:nvPr/>
        </p:nvSpPr>
        <p:spPr>
          <a:xfrm>
            <a:off x="3520440"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91456"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62472"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04504"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875519"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36168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B799FF"/>
                </a:solidFill>
                <a:latin typeface="DejaVu Sans"/>
              </a:rPr>
              <a:t>Request C</a:t>
            </a:r>
          </a:p>
        </p:txBody>
      </p:sp>
      <p:sp>
        <p:nvSpPr>
          <p:cNvPr id="23" name="Rectangle 22"/>
          <p:cNvSpPr/>
          <p:nvPr/>
        </p:nvSpPr>
        <p:spPr>
          <a:xfrm>
            <a:off x="3520440"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91456"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33488"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04504"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75519"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0" y="5385816"/>
            <a:ext cx="6400800" cy="256032"/>
          </a:xfrm>
          <a:prstGeom prst="rect">
            <a:avLst/>
          </a:prstGeom>
          <a:noFill/>
        </p:spPr>
        <p:txBody>
          <a:bodyPr wrap="square" lIns="13716" rIns="13716" tIns="0" bIns="0">
            <a:spAutoFit/>
          </a:bodyPr>
          <a:lstStyle/>
          <a:p>
            <a:pPr algn="l">
              <a:spcBef>
                <a:spcPts val="0"/>
              </a:spcBef>
              <a:spcAft>
                <a:spcPts val="0"/>
              </a:spcAft>
            </a:pPr>
            <a:r>
              <a:rPr sz="1200" b="0">
                <a:solidFill>
                  <a:srgbClr val="A7B8CD"/>
                </a:solidFill>
                <a:latin typeface="DejaVu Sans"/>
              </a:rPr>
              <a:t>TIME →   (schematic, not a measured trace)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400"/>
                                        <p:tgtEl>
                                          <p:spTgt spid="17"/>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00"/>
                                        <p:tgtEl>
                                          <p:spTgt spid="20"/>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00"/>
                                        <p:tgtEl>
                                          <p:spTgt spid="23"/>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00"/>
                                        <p:tgtEl>
                                          <p:spTgt spid="24"/>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400"/>
                                        <p:tgtEl>
                                          <p:spTgt spid="25"/>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00"/>
                                        <p:tgtEl>
                                          <p:spTgt spid="26"/>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Prefix reuse and offload trade compute for movement</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Agentic turns often repeat a long prefix and append a small suffix.</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685800" y="2002536"/>
            <a:ext cx="3657600" cy="30175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Persistent history</a:t>
            </a:r>
          </a:p>
        </p:txBody>
      </p:sp>
      <p:sp>
        <p:nvSpPr>
          <p:cNvPr id="12" name="Rectangle 11"/>
          <p:cNvSpPr/>
          <p:nvPr/>
        </p:nvSpPr>
        <p:spPr>
          <a:xfrm>
            <a:off x="713232"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a:t>
            </a:r>
          </a:p>
        </p:txBody>
      </p:sp>
      <p:sp>
        <p:nvSpPr>
          <p:cNvPr id="14" name="Rectangle 13"/>
          <p:cNvSpPr/>
          <p:nvPr/>
        </p:nvSpPr>
        <p:spPr>
          <a:xfrm>
            <a:off x="1271016"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2</a:t>
            </a:r>
          </a:p>
        </p:txBody>
      </p:sp>
      <p:sp>
        <p:nvSpPr>
          <p:cNvPr id="16" name="Rectangle 15"/>
          <p:cNvSpPr/>
          <p:nvPr/>
        </p:nvSpPr>
        <p:spPr>
          <a:xfrm>
            <a:off x="1828800"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83664"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3</a:t>
            </a:r>
          </a:p>
        </p:txBody>
      </p:sp>
      <p:sp>
        <p:nvSpPr>
          <p:cNvPr id="18" name="Rectangle 17"/>
          <p:cNvSpPr/>
          <p:nvPr/>
        </p:nvSpPr>
        <p:spPr>
          <a:xfrm>
            <a:off x="2386584"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41448"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4</a:t>
            </a:r>
          </a:p>
        </p:txBody>
      </p:sp>
      <p:sp>
        <p:nvSpPr>
          <p:cNvPr id="20" name="Rectangle 19"/>
          <p:cNvSpPr/>
          <p:nvPr/>
        </p:nvSpPr>
        <p:spPr>
          <a:xfrm>
            <a:off x="2944368"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99232"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5</a:t>
            </a:r>
          </a:p>
        </p:txBody>
      </p:sp>
      <p:sp>
        <p:nvSpPr>
          <p:cNvPr id="22" name="Rectangle 21"/>
          <p:cNvSpPr/>
          <p:nvPr/>
        </p:nvSpPr>
        <p:spPr>
          <a:xfrm>
            <a:off x="3502152"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57015"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6</a:t>
            </a:r>
          </a:p>
        </p:txBody>
      </p:sp>
      <p:sp>
        <p:nvSpPr>
          <p:cNvPr id="24" name="Rectangle 23"/>
          <p:cNvSpPr/>
          <p:nvPr/>
        </p:nvSpPr>
        <p:spPr>
          <a:xfrm>
            <a:off x="4059936"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0"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7</a:t>
            </a:r>
          </a:p>
        </p:txBody>
      </p:sp>
      <p:sp>
        <p:nvSpPr>
          <p:cNvPr id="26" name="Rectangle 25"/>
          <p:cNvSpPr/>
          <p:nvPr/>
        </p:nvSpPr>
        <p:spPr>
          <a:xfrm>
            <a:off x="4617720"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2583"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8</a:t>
            </a:r>
          </a:p>
        </p:txBody>
      </p:sp>
      <p:sp>
        <p:nvSpPr>
          <p:cNvPr id="28" name="Rectangle 27"/>
          <p:cNvSpPr/>
          <p:nvPr/>
        </p:nvSpPr>
        <p:spPr>
          <a:xfrm>
            <a:off x="5175504"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30368"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9</a:t>
            </a:r>
          </a:p>
        </p:txBody>
      </p:sp>
      <p:sp>
        <p:nvSpPr>
          <p:cNvPr id="30" name="Rectangle 29"/>
          <p:cNvSpPr/>
          <p:nvPr/>
        </p:nvSpPr>
        <p:spPr>
          <a:xfrm>
            <a:off x="5733288" y="2432304"/>
            <a:ext cx="46634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88152" y="2587752"/>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10</a:t>
            </a:r>
          </a:p>
        </p:txBody>
      </p:sp>
      <p:sp>
        <p:nvSpPr>
          <p:cNvPr id="32" name="TextBox 31"/>
          <p:cNvSpPr txBox="1"/>
          <p:nvPr/>
        </p:nvSpPr>
        <p:spPr>
          <a:xfrm>
            <a:off x="685800" y="3127248"/>
            <a:ext cx="3657600" cy="30175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New token rows</a:t>
            </a:r>
          </a:p>
        </p:txBody>
      </p:sp>
      <p:sp>
        <p:nvSpPr>
          <p:cNvPr id="33" name="Rectangle 32"/>
          <p:cNvSpPr/>
          <p:nvPr/>
        </p:nvSpPr>
        <p:spPr>
          <a:xfrm>
            <a:off x="713232"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1</a:t>
            </a:r>
          </a:p>
        </p:txBody>
      </p:sp>
      <p:sp>
        <p:nvSpPr>
          <p:cNvPr id="35" name="Rectangle 34"/>
          <p:cNvSpPr/>
          <p:nvPr/>
        </p:nvSpPr>
        <p:spPr>
          <a:xfrm>
            <a:off x="1271016"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25880"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2</a:t>
            </a:r>
          </a:p>
        </p:txBody>
      </p:sp>
      <p:sp>
        <p:nvSpPr>
          <p:cNvPr id="37" name="Rectangle 36"/>
          <p:cNvSpPr/>
          <p:nvPr/>
        </p:nvSpPr>
        <p:spPr>
          <a:xfrm>
            <a:off x="1828800" y="3557016"/>
            <a:ext cx="466344" cy="521207"/>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883664" y="3712464"/>
            <a:ext cx="356616" cy="182880"/>
          </a:xfrm>
          <a:prstGeom prst="rect">
            <a:avLst/>
          </a:prstGeom>
          <a:noFill/>
        </p:spPr>
        <p:txBody>
          <a:bodyPr wrap="square" lIns="13716" rIns="13716" tIns="0" bIns="0">
            <a:spAutoFit/>
          </a:bodyPr>
          <a:lstStyle/>
          <a:p>
            <a:pPr algn="ctr">
              <a:spcBef>
                <a:spcPts val="0"/>
              </a:spcBef>
              <a:spcAft>
                <a:spcPts val="0"/>
              </a:spcAft>
            </a:pPr>
            <a:r>
              <a:rPr sz="1100" b="1">
                <a:solidFill>
                  <a:srgbClr val="0B1220"/>
                </a:solidFill>
                <a:latin typeface="DejaVu Sans"/>
              </a:rPr>
              <a:t>3</a:t>
            </a:r>
          </a:p>
        </p:txBody>
      </p:sp>
      <p:sp>
        <p:nvSpPr>
          <p:cNvPr id="39" name="Rounded Rectangle 38"/>
          <p:cNvSpPr/>
          <p:nvPr/>
        </p:nvSpPr>
        <p:spPr>
          <a:xfrm>
            <a:off x="7360920" y="2212848"/>
            <a:ext cx="3840480" cy="2734056"/>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516368" y="239572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71816" y="2395728"/>
            <a:ext cx="33832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Reuse + append</a:t>
            </a:r>
          </a:p>
        </p:txBody>
      </p:sp>
      <p:sp>
        <p:nvSpPr>
          <p:cNvPr id="42" name="TextBox 41"/>
          <p:cNvSpPr txBox="1"/>
          <p:nvPr/>
        </p:nvSpPr>
        <p:spPr>
          <a:xfrm>
            <a:off x="7580376" y="3127248"/>
            <a:ext cx="3419856" cy="1709928"/>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Keep the history consistent with the current request.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00"/>
                                        <p:tgtEl>
                                          <p:spTgt spid="26"/>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00"/>
                                        <p:tgtEl>
                                          <p:spTgt spid="27"/>
                                        </p:tgtEl>
                                      </p:cBhvr>
                                    </p:animEffect>
                                  </p:childTnLst>
                                </p:cTn>
                              </p:par>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00"/>
                                        <p:tgtEl>
                                          <p:spTgt spid="28"/>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00"/>
                                        <p:tgtEl>
                                          <p:spTgt spid="29"/>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00"/>
                                        <p:tgtEl>
                                          <p:spTgt spid="30"/>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00"/>
                                        <p:tgtEl>
                                          <p:spTgt spid="3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400"/>
                                        <p:tgtEl>
                                          <p:spTgt spid="33"/>
                                        </p:tgtEl>
                                      </p:cBhvr>
                                    </p:animEffect>
                                  </p:childTnLst>
                                </p:cTn>
                              </p:par>
                              <p:par>
                                <p:cTn id="70" presetID="10" presetClass="entr" presetSubtype="0"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400"/>
                                        <p:tgtEl>
                                          <p:spTgt spid="34"/>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400"/>
                                        <p:tgtEl>
                                          <p:spTgt spid="35"/>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400"/>
                                        <p:tgtEl>
                                          <p:spTgt spid="36"/>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fade">
                                      <p:cBhvr>
                                        <p:cTn id="81" dur="400"/>
                                        <p:tgtEl>
                                          <p:spTgt spid="37"/>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400"/>
                                        <p:tgtEl>
                                          <p:spTgt spid="38"/>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400"/>
                                        <p:tgtEl>
                                          <p:spTgt spid="39"/>
                                        </p:tgtEl>
                                      </p:cBhvr>
                                    </p:animEffect>
                                  </p:childTnLst>
                                </p:cTn>
                              </p:par>
                              <p:par>
                                <p:cTn id="90" presetID="10" presetClass="entr" presetSubtype="0" fill="hold" grpId="0" nodeType="click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400"/>
                                        <p:tgtEl>
                                          <p:spTgt spid="40"/>
                                        </p:tgtEl>
                                      </p:cBhvr>
                                    </p:animEffect>
                                  </p:childTnLst>
                                </p:cTn>
                              </p:par>
                              <p:par>
                                <p:cTn id="93" presetID="10"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400"/>
                                        <p:tgtEl>
                                          <p:spTgt spid="41"/>
                                        </p:tgtEl>
                                      </p:cBhvr>
                                    </p:animEffect>
                                  </p:childTnLst>
                                </p:cTn>
                              </p:par>
                              <p:par>
                                <p:cTn id="96" presetID="10" presetClass="entr" presetSubtype="0" fill="hold" grpId="0" nodeType="click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MTP proposes several tokens; the target verifies them</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Speed depends on accepted progress per complete draft-and-verify cycle.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Useful speedup ≈ accepted progress per cycle / relative cycle cost</a:t>
            </a:r>
          </a:p>
        </p:txBody>
      </p:sp>
      <p:sp>
        <p:nvSpPr>
          <p:cNvPr id="12" name="TextBox 11"/>
          <p:cNvSpPr txBox="1"/>
          <p:nvPr/>
        </p:nvSpPr>
        <p:spPr>
          <a:xfrm>
            <a:off x="667512" y="244144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52CFD1"/>
                </a:solidFill>
                <a:latin typeface="DejaVu Sans"/>
              </a:rPr>
              <a:t>Draft</a:t>
            </a:r>
          </a:p>
        </p:txBody>
      </p:sp>
      <p:sp>
        <p:nvSpPr>
          <p:cNvPr id="13" name="Rectangle 12"/>
          <p:cNvSpPr/>
          <p:nvPr/>
        </p:nvSpPr>
        <p:spPr>
          <a:xfrm>
            <a:off x="4791456"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62472"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33488"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875519"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40156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69AEFF"/>
                </a:solidFill>
                <a:latin typeface="DejaVu Sans"/>
              </a:rPr>
              <a:t>Verify</a:t>
            </a:r>
          </a:p>
        </p:txBody>
      </p:sp>
      <p:sp>
        <p:nvSpPr>
          <p:cNvPr id="18" name="Rectangle 17"/>
          <p:cNvSpPr/>
          <p:nvPr/>
        </p:nvSpPr>
        <p:spPr>
          <a:xfrm>
            <a:off x="3520440"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91456"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62472"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04504"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875519"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36168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B799FF"/>
                </a:solidFill>
                <a:latin typeface="DejaVu Sans"/>
              </a:rPr>
              <a:t>Commit</a:t>
            </a:r>
          </a:p>
        </p:txBody>
      </p:sp>
      <p:sp>
        <p:nvSpPr>
          <p:cNvPr id="24" name="Rectangle 23"/>
          <p:cNvSpPr/>
          <p:nvPr/>
        </p:nvSpPr>
        <p:spPr>
          <a:xfrm>
            <a:off x="3520440"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91456"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33488"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04504"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875519"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0" y="5385816"/>
            <a:ext cx="6400800" cy="256032"/>
          </a:xfrm>
          <a:prstGeom prst="rect">
            <a:avLst/>
          </a:prstGeom>
          <a:noFill/>
        </p:spPr>
        <p:txBody>
          <a:bodyPr wrap="square" lIns="13716" rIns="13716" tIns="0" bIns="0">
            <a:spAutoFit/>
          </a:bodyPr>
          <a:lstStyle/>
          <a:p>
            <a:pPr algn="l">
              <a:spcBef>
                <a:spcPts val="0"/>
              </a:spcBef>
              <a:spcAft>
                <a:spcPts val="0"/>
              </a:spcAft>
            </a:pPr>
            <a:r>
              <a:rPr sz="1200" b="0">
                <a:solidFill>
                  <a:srgbClr val="A7B8CD"/>
                </a:solidFill>
                <a:latin typeface="DejaVu Sans"/>
              </a:rPr>
              <a:t>TIME →   (schematic, not a measured trace)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00"/>
                                        <p:tgtEl>
                                          <p:spTgt spid="18"/>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00"/>
                                        <p:tgtEl>
                                          <p:spTgt spid="19"/>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00"/>
                                        <p:tgtEl>
                                          <p:spTgt spid="20"/>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400"/>
                                        <p:tgtEl>
                                          <p:spTgt spid="21"/>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DISTRIBUTED SERVING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400" b="1">
                <a:solidFill>
                  <a:srgbClr val="F2F6FC"/>
                </a:solidFill>
                <a:latin typeface="DejaVu Sans"/>
              </a:rPr>
              <a:t>CPU placement and GPU graphs address dispatch overhead</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Locality and launch reuse matter when individual GPU operations are short.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49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52CFD1"/>
                </a:solidFill>
                <a:latin typeface="DejaVu Sans"/>
              </a:rPr>
              <a:t>NUMA / CCD binding</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Place worker CPU threads near relevant memory and devices.</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Graph replay</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Reuse a captured GPU launch dependency graph.</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Tradeoffs</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Affinity needs topology; graph pools consume persistent memory.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700" b="1">
                <a:solidFill>
                  <a:srgbClr val="F2F6FC"/>
                </a:solidFill>
                <a:latin typeface="DejaVu Sans"/>
              </a:rPr>
              <a:t>Precision belongs to each object and each operation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“An FP8 path” does not mean every internal value uses eight bits.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MXFP4 weights</a:t>
            </a:r>
          </a:p>
        </p:txBody>
      </p:sp>
      <p:sp>
        <p:nvSpPr>
          <p:cNvPr id="13" name="TextBox 12"/>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4-bit values with block scaling</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FP8 operands</a:t>
            </a:r>
          </a:p>
        </p:txBody>
      </p:sp>
      <p:sp>
        <p:nvSpPr>
          <p:cNvPr id="16" name="TextBox 15"/>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Compact Q/K/V and projection operands</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BF16 activations</a:t>
            </a:r>
          </a:p>
        </p:txBody>
      </p:sp>
      <p:sp>
        <p:nvSpPr>
          <p:cNvPr id="19" name="TextBox 18"/>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16-bit storage for many outputs</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FP32 internals</a:t>
            </a:r>
          </a:p>
        </p:txBody>
      </p:sp>
      <p:sp>
        <p:nvSpPr>
          <p:cNvPr id="22" name="TextBox 21"/>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Scales, reductions and accumulators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300" b="1">
                <a:solidFill>
                  <a:srgbClr val="F2F6FC"/>
                </a:solidFill>
                <a:latin typeface="DejaVu Sans"/>
              </a:rPr>
              <a:t>Quantization changes numbers; dequantization rescales them</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scale preserves units, but it cannot recover rounding already lost.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51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For E4M3FN: s = max|X| / 448, with explicit zero-range handling</a:t>
            </a:r>
          </a:p>
        </p:txBody>
      </p:sp>
      <p:sp>
        <p:nvSpPr>
          <p:cNvPr id="12" name="Rounded Rectangle 11"/>
          <p:cNvSpPr/>
          <p:nvPr/>
        </p:nvSpPr>
        <p:spPr>
          <a:xfrm>
            <a:off x="56692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Original X</a:t>
            </a:r>
          </a:p>
        </p:txBody>
      </p:sp>
      <p:sp>
        <p:nvSpPr>
          <p:cNvPr id="14" name="TextBox 13"/>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Higher-precision values</a:t>
            </a:r>
          </a:p>
        </p:txBody>
      </p:sp>
      <p:sp>
        <p:nvSpPr>
          <p:cNvPr id="15" name="Rounded Rectangle 14"/>
          <p:cNvSpPr/>
          <p:nvPr/>
        </p:nvSpPr>
        <p:spPr>
          <a:xfrm>
            <a:off x="6213348" y="194767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Choose s</a:t>
            </a:r>
          </a:p>
        </p:txBody>
      </p:sp>
      <p:sp>
        <p:nvSpPr>
          <p:cNvPr id="17" name="TextBox 16"/>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Use range / representable maximum</a:t>
            </a:r>
          </a:p>
        </p:txBody>
      </p:sp>
      <p:sp>
        <p:nvSpPr>
          <p:cNvPr id="18" name="Rounded Rectangle 17"/>
          <p:cNvSpPr/>
          <p:nvPr/>
        </p:nvSpPr>
        <p:spPr>
          <a:xfrm>
            <a:off x="566928" y="3867912"/>
            <a:ext cx="541782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Quantize</a:t>
            </a:r>
          </a:p>
        </p:txBody>
      </p:sp>
      <p:sp>
        <p:nvSpPr>
          <p:cNvPr id="20" name="TextBox 19"/>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X₈ = round_FP8(clip(X/s))</a:t>
            </a:r>
          </a:p>
        </p:txBody>
      </p:sp>
      <p:sp>
        <p:nvSpPr>
          <p:cNvPr id="21" name="Rounded Rectangle 20"/>
          <p:cNvSpPr/>
          <p:nvPr/>
        </p:nvSpPr>
        <p:spPr>
          <a:xfrm>
            <a:off x="6213348" y="386791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Interpret</a:t>
            </a:r>
          </a:p>
        </p:txBody>
      </p:sp>
      <p:sp>
        <p:nvSpPr>
          <p:cNvPr id="23" name="TextBox 22"/>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X ≈ s × X₈</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00"/>
                                        <p:tgtEl>
                                          <p:spTgt spid="15"/>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300" b="1">
                <a:solidFill>
                  <a:srgbClr val="F2F6FC"/>
                </a:solidFill>
                <a:latin typeface="DejaVu Sans"/>
              </a:rPr>
              <a:t>Scale granularity changes the accuracy/performance tradeoff</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Per-tensor, per-channel and per-block scales cover different value groups.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Per-tensor</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One scale; simple metadata; outliers affect the whole tensor.</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Per-channel</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Separate output-channel weight scales; tighter ranges.</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Per-block</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Scales shared by small groups; extra packing and metadata.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Stage 0: before the FP8 attention optimizations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compressed cache was already FP8; the attention operands were BF16.</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53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Established full configuration: 15,476.46881 total tokens/s/GPU</a:t>
            </a:r>
          </a:p>
        </p:txBody>
      </p:sp>
      <p:sp>
        <p:nvSpPr>
          <p:cNvPr id="12" name="Rounded Rectangle 11"/>
          <p:cNvSpPr/>
          <p:nvPr/>
        </p:nvSpPr>
        <p:spPr>
          <a:xfrm>
            <a:off x="566928"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FP8 cache</a:t>
            </a:r>
          </a:p>
        </p:txBody>
      </p:sp>
      <p:sp>
        <p:nvSpPr>
          <p:cNvPr id="15" name="TextBox 14"/>
          <p:cNvSpPr txBox="1"/>
          <p:nvPr/>
        </p:nvSpPr>
        <p:spPr>
          <a:xfrm>
            <a:off x="786384"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Gather compressed history</a:t>
            </a:r>
          </a:p>
        </p:txBody>
      </p:sp>
      <p:sp>
        <p:nvSpPr>
          <p:cNvPr id="16" name="Rounded Rectangle 15"/>
          <p:cNvSpPr/>
          <p:nvPr/>
        </p:nvSpPr>
        <p:spPr>
          <a:xfrm>
            <a:off x="2820009" y="2487168"/>
            <a:ext cx="2051913"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5457"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0905"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BF16 projection</a:t>
            </a:r>
          </a:p>
        </p:txBody>
      </p:sp>
      <p:sp>
        <p:nvSpPr>
          <p:cNvPr id="19" name="TextBox 18"/>
          <p:cNvSpPr txBox="1"/>
          <p:nvPr/>
        </p:nvSpPr>
        <p:spPr>
          <a:xfrm>
            <a:off x="3039465"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Dequantize + kv_b_proj</a:t>
            </a:r>
          </a:p>
        </p:txBody>
      </p:sp>
      <p:cxnSp>
        <p:nvCxnSpPr>
          <p:cNvPr id="20" name="Connector 19"/>
          <p:cNvCxnSpPr/>
          <p:nvPr/>
        </p:nvCxnSpPr>
        <p:spPr>
          <a:xfrm>
            <a:off x="2664561"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3091" y="2487168"/>
            <a:ext cx="2051913"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28539"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83987" y="2670048"/>
            <a:ext cx="1594713"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BF16 K/V</a:t>
            </a:r>
          </a:p>
        </p:txBody>
      </p:sp>
      <p:sp>
        <p:nvSpPr>
          <p:cNvPr id="24" name="TextBox 23"/>
          <p:cNvSpPr txBox="1"/>
          <p:nvPr/>
        </p:nvSpPr>
        <p:spPr>
          <a:xfrm>
            <a:off x="5292547"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Expanded intermediate</a:t>
            </a:r>
          </a:p>
        </p:txBody>
      </p:sp>
      <p:cxnSp>
        <p:nvCxnSpPr>
          <p:cNvPr id="25" name="Connector 24"/>
          <p:cNvCxnSpPr/>
          <p:nvPr/>
        </p:nvCxnSpPr>
        <p:spPr>
          <a:xfrm>
            <a:off x="4917643"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26172" y="2487168"/>
            <a:ext cx="2051913"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81620"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7068"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BF16 FMHA</a:t>
            </a:r>
          </a:p>
        </p:txBody>
      </p:sp>
      <p:sp>
        <p:nvSpPr>
          <p:cNvPr id="29" name="TextBox 28"/>
          <p:cNvSpPr txBox="1"/>
          <p:nvPr/>
        </p:nvSpPr>
        <p:spPr>
          <a:xfrm>
            <a:off x="7545628"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BF16 Q joins K/V</a:t>
            </a:r>
          </a:p>
        </p:txBody>
      </p:sp>
      <p:cxnSp>
        <p:nvCxnSpPr>
          <p:cNvPr id="30" name="Connector 29"/>
          <p:cNvCxnSpPr/>
          <p:nvPr/>
        </p:nvCxnSpPr>
        <p:spPr>
          <a:xfrm>
            <a:off x="717072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79254" y="2487168"/>
            <a:ext cx="2051913"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3470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90150"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B799FF"/>
                </a:solidFill>
                <a:latin typeface="DejaVu Sans"/>
              </a:rPr>
              <a:t>Output + LSE</a:t>
            </a:r>
          </a:p>
        </p:txBody>
      </p:sp>
      <p:sp>
        <p:nvSpPr>
          <p:cNvPr id="34" name="TextBox 33"/>
          <p:cNvSpPr txBox="1"/>
          <p:nvPr/>
        </p:nvSpPr>
        <p:spPr>
          <a:xfrm>
            <a:off x="9798710"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BF16 / FP32</a:t>
            </a:r>
          </a:p>
        </p:txBody>
      </p:sp>
      <p:cxnSp>
        <p:nvCxnSpPr>
          <p:cNvPr id="35" name="Connector 34"/>
          <p:cNvCxnSpPr/>
          <p:nvPr/>
        </p:nvCxnSpPr>
        <p:spPr>
          <a:xfrm>
            <a:off x="942380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00"/>
                                        <p:tgtEl>
                                          <p:spTgt spid="31"/>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00"/>
                                        <p:tgtEl>
                                          <p:spTgt spid="32"/>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400"/>
                                        <p:tgtEl>
                                          <p:spTgt spid="33"/>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Stage 1: dynamic operands for FP8 FMHA</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Keep BF16 up-projection, then quantize the expanded Q/K/V.</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54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Established full configuration: 16,915.72154 total tokens/s/GPU</a:t>
            </a:r>
          </a:p>
        </p:txBody>
      </p:sp>
      <p:sp>
        <p:nvSpPr>
          <p:cNvPr id="12" name="Rounded Rectangle 11"/>
          <p:cNvSpPr/>
          <p:nvPr/>
        </p:nvSpPr>
        <p:spPr>
          <a:xfrm>
            <a:off x="566928"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FP8 cache</a:t>
            </a:r>
          </a:p>
        </p:txBody>
      </p:sp>
      <p:sp>
        <p:nvSpPr>
          <p:cNvPr id="15" name="TextBox 14"/>
          <p:cNvSpPr txBox="1"/>
          <p:nvPr/>
        </p:nvSpPr>
        <p:spPr>
          <a:xfrm>
            <a:off x="786384"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Compressed history</a:t>
            </a:r>
          </a:p>
        </p:txBody>
      </p:sp>
      <p:sp>
        <p:nvSpPr>
          <p:cNvPr id="16" name="Rounded Rectangle 15"/>
          <p:cNvSpPr/>
          <p:nvPr/>
        </p:nvSpPr>
        <p:spPr>
          <a:xfrm>
            <a:off x="2820009" y="2487168"/>
            <a:ext cx="2051913" cy="228600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5457" y="2670048"/>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0905"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BF16 up-project</a:t>
            </a:r>
          </a:p>
        </p:txBody>
      </p:sp>
      <p:sp>
        <p:nvSpPr>
          <p:cNvPr id="19" name="TextBox 18"/>
          <p:cNvSpPr txBox="1"/>
          <p:nvPr/>
        </p:nvSpPr>
        <p:spPr>
          <a:xfrm>
            <a:off x="3039465"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Expanded BF16 K/V</a:t>
            </a:r>
          </a:p>
        </p:txBody>
      </p:sp>
      <p:cxnSp>
        <p:nvCxnSpPr>
          <p:cNvPr id="20" name="Connector 19"/>
          <p:cNvCxnSpPr/>
          <p:nvPr/>
        </p:nvCxnSpPr>
        <p:spPr>
          <a:xfrm>
            <a:off x="2664561"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3091" y="2487168"/>
            <a:ext cx="2051913"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28539"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83987"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Dynamic quantize</a:t>
            </a:r>
          </a:p>
        </p:txBody>
      </p:sp>
      <p:sp>
        <p:nvSpPr>
          <p:cNvPr id="24" name="TextBox 23"/>
          <p:cNvSpPr txBox="1"/>
          <p:nvPr/>
        </p:nvSpPr>
        <p:spPr>
          <a:xfrm>
            <a:off x="5292547"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Q and expanded K/V</a:t>
            </a:r>
          </a:p>
        </p:txBody>
      </p:sp>
      <p:cxnSp>
        <p:nvCxnSpPr>
          <p:cNvPr id="25" name="Connector 24"/>
          <p:cNvCxnSpPr/>
          <p:nvPr/>
        </p:nvCxnSpPr>
        <p:spPr>
          <a:xfrm>
            <a:off x="4917643"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26172"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81620"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7068"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FP8 FMHA</a:t>
            </a:r>
          </a:p>
        </p:txBody>
      </p:sp>
      <p:sp>
        <p:nvSpPr>
          <p:cNvPr id="29" name="TextBox 28"/>
          <p:cNvSpPr txBox="1"/>
          <p:nvPr/>
        </p:nvSpPr>
        <p:spPr>
          <a:xfrm>
            <a:off x="7545628"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FP8 Q/K/V operands</a:t>
            </a:r>
          </a:p>
        </p:txBody>
      </p:sp>
      <p:cxnSp>
        <p:nvCxnSpPr>
          <p:cNvPr id="30" name="Connector 29"/>
          <p:cNvCxnSpPr/>
          <p:nvPr/>
        </p:nvCxnSpPr>
        <p:spPr>
          <a:xfrm>
            <a:off x="717072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79254" y="2487168"/>
            <a:ext cx="2051913"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3470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90150"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B799FF"/>
                </a:solidFill>
                <a:latin typeface="DejaVu Sans"/>
              </a:rPr>
              <a:t>Output + LSE</a:t>
            </a:r>
          </a:p>
        </p:txBody>
      </p:sp>
      <p:sp>
        <p:nvSpPr>
          <p:cNvPr id="34" name="TextBox 33"/>
          <p:cNvSpPr txBox="1"/>
          <p:nvPr/>
        </p:nvSpPr>
        <p:spPr>
          <a:xfrm>
            <a:off x="9798710"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BF16 / FP32</a:t>
            </a:r>
          </a:p>
        </p:txBody>
      </p:sp>
      <p:cxnSp>
        <p:nvCxnSpPr>
          <p:cNvPr id="35" name="Connector 34"/>
          <p:cNvCxnSpPr/>
          <p:nvPr/>
        </p:nvCxnSpPr>
        <p:spPr>
          <a:xfrm>
            <a:off x="942380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00"/>
                                        <p:tgtEl>
                                          <p:spTgt spid="31"/>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00"/>
                                        <p:tgtEl>
                                          <p:spTgt spid="32"/>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400"/>
                                        <p:tgtEl>
                                          <p:spTgt spid="33"/>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Stage 2: direct FP8 up-projection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FP8 cache × FP8 kv_b_proj → FP8 K/V storage → FP8 FMHA.</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55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Established full configuration: 17,406.08912 total tokens/s/GPU</a:t>
            </a:r>
          </a:p>
        </p:txBody>
      </p:sp>
      <p:sp>
        <p:nvSpPr>
          <p:cNvPr id="12" name="Rounded Rectangle 11"/>
          <p:cNvSpPr/>
          <p:nvPr/>
        </p:nvSpPr>
        <p:spPr>
          <a:xfrm>
            <a:off x="566928"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FP8 cache</a:t>
            </a:r>
          </a:p>
        </p:txBody>
      </p:sp>
      <p:sp>
        <p:nvSpPr>
          <p:cNvPr id="15" name="TextBox 14"/>
          <p:cNvSpPr txBox="1"/>
          <p:nvPr/>
        </p:nvSpPr>
        <p:spPr>
          <a:xfrm>
            <a:off x="786384"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Compressed latent + shared K</a:t>
            </a:r>
          </a:p>
        </p:txBody>
      </p:sp>
      <p:sp>
        <p:nvSpPr>
          <p:cNvPr id="16" name="Rounded Rectangle 15"/>
          <p:cNvSpPr/>
          <p:nvPr/>
        </p:nvSpPr>
        <p:spPr>
          <a:xfrm>
            <a:off x="2820009"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5457"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0905"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FP8 × FP8</a:t>
            </a:r>
          </a:p>
        </p:txBody>
      </p:sp>
      <p:sp>
        <p:nvSpPr>
          <p:cNvPr id="19" name="TextBox 18"/>
          <p:cNvSpPr txBox="1"/>
          <p:nvPr/>
        </p:nvSpPr>
        <p:spPr>
          <a:xfrm>
            <a:off x="3039465"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Projection operands</a:t>
            </a:r>
          </a:p>
        </p:txBody>
      </p:sp>
      <p:cxnSp>
        <p:nvCxnSpPr>
          <p:cNvPr id="20" name="Connector 19"/>
          <p:cNvCxnSpPr/>
          <p:nvPr/>
        </p:nvCxnSpPr>
        <p:spPr>
          <a:xfrm>
            <a:off x="2664561"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73091" y="2487168"/>
            <a:ext cx="2051913"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28539"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83987" y="2670048"/>
            <a:ext cx="1594713" cy="658368"/>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FP32 accumulate</a:t>
            </a:r>
          </a:p>
        </p:txBody>
      </p:sp>
      <p:sp>
        <p:nvSpPr>
          <p:cNvPr id="24" name="TextBox 23"/>
          <p:cNvSpPr txBox="1"/>
          <p:nvPr/>
        </p:nvSpPr>
        <p:spPr>
          <a:xfrm>
            <a:off x="5292547"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Descale and assemble K/V</a:t>
            </a:r>
          </a:p>
        </p:txBody>
      </p:sp>
      <p:cxnSp>
        <p:nvCxnSpPr>
          <p:cNvPr id="25" name="Connector 24"/>
          <p:cNvCxnSpPr/>
          <p:nvPr/>
        </p:nvCxnSpPr>
        <p:spPr>
          <a:xfrm>
            <a:off x="4917643"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26172"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81620"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7068"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FP8 epilogue</a:t>
            </a:r>
          </a:p>
        </p:txBody>
      </p:sp>
      <p:sp>
        <p:nvSpPr>
          <p:cNvPr id="29" name="TextBox 28"/>
          <p:cNvSpPr txBox="1"/>
          <p:nvPr/>
        </p:nvSpPr>
        <p:spPr>
          <a:xfrm>
            <a:off x="7545628"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Write K₈/V₈ directly</a:t>
            </a:r>
          </a:p>
        </p:txBody>
      </p:sp>
      <p:cxnSp>
        <p:nvCxnSpPr>
          <p:cNvPr id="30" name="Connector 29"/>
          <p:cNvCxnSpPr/>
          <p:nvPr/>
        </p:nvCxnSpPr>
        <p:spPr>
          <a:xfrm>
            <a:off x="717072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79254" y="2487168"/>
            <a:ext cx="2051913"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34702"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90150" y="2670048"/>
            <a:ext cx="1594713"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FP8 FMHA</a:t>
            </a:r>
          </a:p>
        </p:txBody>
      </p:sp>
      <p:sp>
        <p:nvSpPr>
          <p:cNvPr id="34" name="TextBox 33"/>
          <p:cNvSpPr txBox="1"/>
          <p:nvPr/>
        </p:nvSpPr>
        <p:spPr>
          <a:xfrm>
            <a:off x="9798710" y="3401568"/>
            <a:ext cx="1631289"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Return BF16 O / FP32 LSE</a:t>
            </a:r>
          </a:p>
        </p:txBody>
      </p:sp>
      <p:cxnSp>
        <p:nvCxnSpPr>
          <p:cNvPr id="35" name="Connector 34"/>
          <p:cNvCxnSpPr/>
          <p:nvPr/>
        </p:nvCxnSpPr>
        <p:spPr>
          <a:xfrm>
            <a:off x="942380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00"/>
                                        <p:tgtEl>
                                          <p:spTgt spid="31"/>
                                        </p:tgtEl>
                                      </p:cBhvr>
                                    </p:animEffect>
                                  </p:childTnLst>
                                </p:cTn>
                              </p:par>
                              <p:par>
                                <p:cTn id="73" presetID="10"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00"/>
                                        <p:tgtEl>
                                          <p:spTgt spid="32"/>
                                        </p:tgtEl>
                                      </p:cBhvr>
                                    </p:animEffect>
                                  </p:childTnLst>
                                </p:cTn>
                              </p:par>
                              <p:par>
                                <p:cTn id="76" presetID="10" presetClass="entr" presetSubtype="0" fill="hold" grpId="0" nodeType="click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400"/>
                                        <p:tgtEl>
                                          <p:spTgt spid="33"/>
                                        </p:tgtEl>
                                      </p:cBhvr>
                                    </p:animEffect>
                                  </p:childTnLst>
                                </p:cTn>
                              </p:par>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grpId="0" nodeType="click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Follow the units through the FP8 projection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Input, weight and output scales play separate roles.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56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FP8 multiplication operands → FP32 accumulation → scaled FP8 epilogue</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Latent cache</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C ≈ s_C C₈</a:t>
            </a:r>
          </a:p>
        </p:txBody>
      </p:sp>
      <p:sp>
        <p:nvSpPr>
          <p:cNvPr id="16" name="Oval 15"/>
          <p:cNvSpPr/>
          <p:nvPr/>
        </p:nvSpPr>
        <p:spPr>
          <a:xfrm>
            <a:off x="621792" y="288493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29580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28666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Weight channel j</a:t>
            </a:r>
          </a:p>
        </p:txBody>
      </p:sp>
      <p:sp>
        <p:nvSpPr>
          <p:cNvPr id="19" name="TextBox 18"/>
          <p:cNvSpPr txBox="1"/>
          <p:nvPr/>
        </p:nvSpPr>
        <p:spPr>
          <a:xfrm>
            <a:off x="4142232" y="28666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W_j ≈ s_W,j W₈,j</a:t>
            </a:r>
          </a:p>
        </p:txBody>
      </p:sp>
      <p:sp>
        <p:nvSpPr>
          <p:cNvPr id="20" name="Oval 19"/>
          <p:cNvSpPr/>
          <p:nvPr/>
        </p:nvSpPr>
        <p:spPr>
          <a:xfrm>
            <a:off x="621792" y="377647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84962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3758183"/>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Accumulated projection</a:t>
            </a:r>
          </a:p>
        </p:txBody>
      </p:sp>
      <p:sp>
        <p:nvSpPr>
          <p:cNvPr id="23" name="TextBox 22"/>
          <p:cNvSpPr txBox="1"/>
          <p:nvPr/>
        </p:nvSpPr>
        <p:spPr>
          <a:xfrm>
            <a:off x="4142232" y="3758183"/>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Z_j ≈ s_C s_W,j Σ_i C₈,i W₈,j,i</a:t>
            </a:r>
          </a:p>
        </p:txBody>
      </p:sp>
      <p:sp>
        <p:nvSpPr>
          <p:cNvPr id="24" name="Oval 23"/>
          <p:cNvSpPr/>
          <p:nvPr/>
        </p:nvSpPr>
        <p:spPr>
          <a:xfrm>
            <a:off x="621792" y="4668012"/>
            <a:ext cx="429768" cy="429768"/>
          </a:xfrm>
          <a:prstGeom prst="ellipse">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47411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4</a:t>
            </a:r>
          </a:p>
        </p:txBody>
      </p:sp>
      <p:sp>
        <p:nvSpPr>
          <p:cNvPr id="26" name="TextBox 25"/>
          <p:cNvSpPr txBox="1"/>
          <p:nvPr/>
        </p:nvSpPr>
        <p:spPr>
          <a:xfrm>
            <a:off x="1234440" y="4649723"/>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1D79B"/>
                </a:solidFill>
                <a:latin typeface="DejaVu Sans"/>
              </a:rPr>
              <a:t>FP8 output</a:t>
            </a:r>
          </a:p>
        </p:txBody>
      </p:sp>
      <p:sp>
        <p:nvSpPr>
          <p:cNvPr id="27" name="TextBox 26"/>
          <p:cNvSpPr txBox="1"/>
          <p:nvPr/>
        </p:nvSpPr>
        <p:spPr>
          <a:xfrm>
            <a:off x="4142232" y="4649723"/>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K₈ = round_FP8(K/s_K); similarly for V</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What direct output actually removes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It removes a large BF16 intermediate and its separate quantization pass.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57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12 × (192 + 128) = 3,840 expanded values per token per TP rank</a:t>
            </a:r>
          </a:p>
        </p:txBody>
      </p:sp>
      <p:sp>
        <p:nvSpPr>
          <p:cNvPr id="12" name="Rounded Rectangle 11"/>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Earlier path</a:t>
            </a:r>
          </a:p>
        </p:txBody>
      </p:sp>
      <p:sp>
        <p:nvSpPr>
          <p:cNvPr id="15" name="TextBox 14"/>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Write BF16 K/V → read BF16 K/V → quantize → write FP8 K/V.</a:t>
            </a:r>
          </a:p>
        </p:txBody>
      </p:sp>
      <p:sp>
        <p:nvSpPr>
          <p:cNvPr id="16" name="Rounded Rectangle 15"/>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Direct path</a:t>
            </a:r>
          </a:p>
        </p:txBody>
      </p:sp>
      <p:sp>
        <p:nvSpPr>
          <p:cNvPr id="19" name="TextBox 18"/>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Accumulate locally → scale/round → write FP8 K/V.</a:t>
            </a:r>
          </a:p>
        </p:txBody>
      </p:sp>
      <p:sp>
        <p:nvSpPr>
          <p:cNvPr id="20" name="Rounded Rectangle 19"/>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Logical sizes per token/rank</a:t>
            </a:r>
          </a:p>
        </p:txBody>
      </p:sp>
      <p:sp>
        <p:nvSpPr>
          <p:cNvPr id="23" name="TextBox 22"/>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BF16 expanded K/V: 7,680 bytes; FP8: 3,840 bytes.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700" b="1">
                <a:solidFill>
                  <a:srgbClr val="F2F6FC"/>
                </a:solidFill>
                <a:latin typeface="DejaVu Sans"/>
              </a:rPr>
              <a:t>Stage 3: reuse prepared FP8 for new-token attention</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causal call consumes existing Q₈/K₈/V₈ with their original descales.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58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Prepare once</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New-token Q/K/V → FP8 + original scales</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Cached branch</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Direct FP8 cached projection + FP8 FMHA</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New-token branch</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Causal FP8 FMHA on prepared tensors</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100" b="1">
                <a:solidFill>
                  <a:srgbClr val="B799FF"/>
                </a:solidFill>
                <a:latin typeface="DejaVu Sans"/>
              </a:rPr>
              <a:t>Merge</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Use each branch's output and LSE</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FP8 DATA FLOW</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Two attention branches need two different masks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new query chunk sees all old context, plus its allowed new-token prefix.</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59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1033271" y="2020824"/>
            <a:ext cx="3657600" cy="274320"/>
          </a:xfrm>
          <a:prstGeom prst="rect">
            <a:avLst/>
          </a:prstGeom>
          <a:noFill/>
        </p:spPr>
        <p:txBody>
          <a:bodyPr wrap="square" lIns="13716" rIns="13716" tIns="0" bIns="0">
            <a:spAutoFit/>
          </a:bodyPr>
          <a:lstStyle/>
          <a:p>
            <a:pPr algn="l">
              <a:spcBef>
                <a:spcPts val="0"/>
              </a:spcBef>
              <a:spcAft>
                <a:spcPts val="0"/>
              </a:spcAft>
            </a:pPr>
            <a:r>
              <a:rPr sz="1200" b="1">
                <a:solidFill>
                  <a:srgbClr val="A7B8CD"/>
                </a:solidFill>
                <a:latin typeface="DejaVu Sans"/>
              </a:rPr>
              <a:t>KEY POSITIONS →</a:t>
            </a:r>
          </a:p>
        </p:txBody>
      </p:sp>
      <p:sp>
        <p:nvSpPr>
          <p:cNvPr id="12" name="TextBox 11"/>
          <p:cNvSpPr txBox="1"/>
          <p:nvPr/>
        </p:nvSpPr>
        <p:spPr>
          <a:xfrm>
            <a:off x="612648" y="5376672"/>
            <a:ext cx="2743200" cy="228600"/>
          </a:xfrm>
          <a:prstGeom prst="rect">
            <a:avLst/>
          </a:prstGeom>
          <a:noFill/>
        </p:spPr>
        <p:txBody>
          <a:bodyPr wrap="square" lIns="13716" rIns="13716" tIns="0" bIns="0">
            <a:spAutoFit/>
          </a:bodyPr>
          <a:lstStyle/>
          <a:p>
            <a:pPr algn="l">
              <a:spcBef>
                <a:spcPts val="0"/>
              </a:spcBef>
              <a:spcAft>
                <a:spcPts val="0"/>
              </a:spcAft>
            </a:pPr>
            <a:r>
              <a:rPr sz="1000" b="1">
                <a:solidFill>
                  <a:srgbClr val="A7B8CD"/>
                </a:solidFill>
                <a:latin typeface="DejaVu Sans"/>
              </a:rPr>
              <a:t>QUERY ROWS ↓</a:t>
            </a:r>
          </a:p>
        </p:txBody>
      </p:sp>
      <p:sp>
        <p:nvSpPr>
          <p:cNvPr id="13" name="Rectangle 12"/>
          <p:cNvSpPr/>
          <p:nvPr/>
        </p:nvSpPr>
        <p:spPr>
          <a:xfrm>
            <a:off x="1033271" y="245059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72184"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91055"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16" name="Rectangle 15"/>
          <p:cNvSpPr/>
          <p:nvPr/>
        </p:nvSpPr>
        <p:spPr>
          <a:xfrm>
            <a:off x="1911095"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29967"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18" name="Rectangle 17"/>
          <p:cNvSpPr/>
          <p:nvPr/>
        </p:nvSpPr>
        <p:spPr>
          <a:xfrm>
            <a:off x="2350008"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79"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0" name="Rectangle 19"/>
          <p:cNvSpPr/>
          <p:nvPr/>
        </p:nvSpPr>
        <p:spPr>
          <a:xfrm>
            <a:off x="2788920"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7791"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2" name="Rectangle 21"/>
          <p:cNvSpPr/>
          <p:nvPr/>
        </p:nvSpPr>
        <p:spPr>
          <a:xfrm>
            <a:off x="3227832" y="2450592"/>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3" y="2560320"/>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4" name="Rectangle 23"/>
          <p:cNvSpPr/>
          <p:nvPr/>
        </p:nvSpPr>
        <p:spPr>
          <a:xfrm>
            <a:off x="1033271" y="2889504"/>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472184" y="2889504"/>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11095"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29967"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28" name="Rectangle 27"/>
          <p:cNvSpPr/>
          <p:nvPr/>
        </p:nvSpPr>
        <p:spPr>
          <a:xfrm>
            <a:off x="2350008"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68879"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0" name="Rectangle 29"/>
          <p:cNvSpPr/>
          <p:nvPr/>
        </p:nvSpPr>
        <p:spPr>
          <a:xfrm>
            <a:off x="2788920"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07791"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2" name="Rectangle 31"/>
          <p:cNvSpPr/>
          <p:nvPr/>
        </p:nvSpPr>
        <p:spPr>
          <a:xfrm>
            <a:off x="3227832" y="2889504"/>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46703" y="2999232"/>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4" name="Rectangle 33"/>
          <p:cNvSpPr/>
          <p:nvPr/>
        </p:nvSpPr>
        <p:spPr>
          <a:xfrm>
            <a:off x="1033271"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472184"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11095" y="3328416"/>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350008"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68879"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39" name="Rectangle 38"/>
          <p:cNvSpPr/>
          <p:nvPr/>
        </p:nvSpPr>
        <p:spPr>
          <a:xfrm>
            <a:off x="2788920"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07791"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1" name="Rectangle 40"/>
          <p:cNvSpPr/>
          <p:nvPr/>
        </p:nvSpPr>
        <p:spPr>
          <a:xfrm>
            <a:off x="3227832" y="3328416"/>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46703" y="3438144"/>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3" name="Rectangle 42"/>
          <p:cNvSpPr/>
          <p:nvPr/>
        </p:nvSpPr>
        <p:spPr>
          <a:xfrm>
            <a:off x="1033271"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472184"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911095"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350008" y="3767328"/>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788920" y="3767328"/>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07791" y="3877056"/>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49" name="Rectangle 48"/>
          <p:cNvSpPr/>
          <p:nvPr/>
        </p:nvSpPr>
        <p:spPr>
          <a:xfrm>
            <a:off x="3227832" y="3767328"/>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46703" y="3877056"/>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1" name="Rectangle 50"/>
          <p:cNvSpPr/>
          <p:nvPr/>
        </p:nvSpPr>
        <p:spPr>
          <a:xfrm>
            <a:off x="1033271"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472184"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911095"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350008"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88920" y="4206240"/>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227832" y="4206240"/>
            <a:ext cx="388620" cy="388620"/>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46703" y="4315968"/>
            <a:ext cx="164592" cy="164592"/>
          </a:xfrm>
          <a:prstGeom prst="rect">
            <a:avLst/>
          </a:prstGeom>
          <a:noFill/>
        </p:spPr>
        <p:txBody>
          <a:bodyPr wrap="square" lIns="13716" rIns="13716" tIns="0" bIns="0">
            <a:spAutoFit/>
          </a:bodyPr>
          <a:lstStyle/>
          <a:p>
            <a:pPr algn="l">
              <a:spcBef>
                <a:spcPts val="0"/>
              </a:spcBef>
              <a:spcAft>
                <a:spcPts val="0"/>
              </a:spcAft>
            </a:pPr>
            <a:r>
              <a:rPr sz="900" b="0">
                <a:solidFill>
                  <a:srgbClr val="A7B8CD"/>
                </a:solidFill>
                <a:latin typeface="DejaVu Sans"/>
              </a:rPr>
              <a:t>×</a:t>
            </a:r>
          </a:p>
        </p:txBody>
      </p:sp>
      <p:sp>
        <p:nvSpPr>
          <p:cNvPr id="58" name="Rectangle 57"/>
          <p:cNvSpPr/>
          <p:nvPr/>
        </p:nvSpPr>
        <p:spPr>
          <a:xfrm>
            <a:off x="1033271"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472184"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911095"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50008"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788920"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227832" y="4645152"/>
            <a:ext cx="388620" cy="38862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206240" y="245059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590288" y="245059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974336" y="245059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206240" y="2889504"/>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90288" y="2889504"/>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974336" y="2889504"/>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206240" y="3328416"/>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590288" y="3328416"/>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974336" y="3328416"/>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06240" y="3767328"/>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590288" y="3767328"/>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974336" y="3767328"/>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206240" y="4206240"/>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590288" y="4206240"/>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974336" y="4206240"/>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206240" y="464515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90288" y="464515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74336" y="4645152"/>
            <a:ext cx="333756" cy="38862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133087" y="1993392"/>
            <a:ext cx="1828800" cy="347472"/>
          </a:xfrm>
          <a:prstGeom prst="rect">
            <a:avLst/>
          </a:prstGeom>
          <a:noFill/>
        </p:spPr>
        <p:txBody>
          <a:bodyPr wrap="square" lIns="13716" rIns="13716" tIns="0" bIns="0">
            <a:spAutoFit/>
          </a:bodyPr>
          <a:lstStyle/>
          <a:p>
            <a:pPr algn="l">
              <a:spcBef>
                <a:spcPts val="0"/>
              </a:spcBef>
              <a:spcAft>
                <a:spcPts val="0"/>
              </a:spcAft>
            </a:pPr>
            <a:r>
              <a:rPr sz="1100" b="1">
                <a:solidFill>
                  <a:srgbClr val="51D79B"/>
                </a:solidFill>
                <a:latin typeface="DejaVu Sans"/>
              </a:rPr>
              <a:t>OLD PREFIX</a:t>
            </a:r>
          </a:p>
        </p:txBody>
      </p:sp>
      <p:sp>
        <p:nvSpPr>
          <p:cNvPr id="83" name="TextBox 82"/>
          <p:cNvSpPr txBox="1"/>
          <p:nvPr/>
        </p:nvSpPr>
        <p:spPr>
          <a:xfrm>
            <a:off x="6400800" y="2176272"/>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52CFD1"/>
                </a:solidFill>
                <a:latin typeface="DejaVu Sans"/>
              </a:rPr>
              <a:t>Old cached prefix</a:t>
            </a:r>
          </a:p>
        </p:txBody>
      </p:sp>
      <p:sp>
        <p:nvSpPr>
          <p:cNvPr id="84" name="TextBox 83"/>
          <p:cNvSpPr txBox="1"/>
          <p:nvPr/>
        </p:nvSpPr>
        <p:spPr>
          <a:xfrm>
            <a:off x="6400800" y="2532888"/>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All its keys precede every new query</a:t>
            </a:r>
          </a:p>
        </p:txBody>
      </p:sp>
      <p:sp>
        <p:nvSpPr>
          <p:cNvPr id="85" name="TextBox 84"/>
          <p:cNvSpPr txBox="1"/>
          <p:nvPr/>
        </p:nvSpPr>
        <p:spPr>
          <a:xfrm>
            <a:off x="6400800" y="2980944"/>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69AEFF"/>
                </a:solidFill>
                <a:latin typeface="DejaVu Sans"/>
              </a:rPr>
              <a:t>New-token block</a:t>
            </a:r>
          </a:p>
        </p:txBody>
      </p:sp>
      <p:sp>
        <p:nvSpPr>
          <p:cNvPr id="86" name="TextBox 85"/>
          <p:cNvSpPr txBox="1"/>
          <p:nvPr/>
        </p:nvSpPr>
        <p:spPr>
          <a:xfrm>
            <a:off x="6400800" y="3337560"/>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Use a causal triangle within the chunk</a:t>
            </a:r>
          </a:p>
        </p:txBody>
      </p:sp>
      <p:sp>
        <p:nvSpPr>
          <p:cNvPr id="87" name="TextBox 86"/>
          <p:cNvSpPr txBox="1"/>
          <p:nvPr/>
        </p:nvSpPr>
        <p:spPr>
          <a:xfrm>
            <a:off x="6400800" y="3785615"/>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B799FF"/>
                </a:solidFill>
                <a:latin typeface="DejaVu Sans"/>
              </a:rPr>
              <a:t>Same query outputs</a:t>
            </a:r>
          </a:p>
        </p:txBody>
      </p:sp>
      <p:sp>
        <p:nvSpPr>
          <p:cNvPr id="88" name="TextBox 87"/>
          <p:cNvSpPr txBox="1"/>
          <p:nvPr/>
        </p:nvSpPr>
        <p:spPr>
          <a:xfrm>
            <a:off x="6400800" y="4142231"/>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Merge by natural-log LSE</a:t>
            </a:r>
          </a:p>
        </p:txBody>
      </p:sp>
      <p:sp>
        <p:nvSpPr>
          <p:cNvPr id="89" name="TextBox 88"/>
          <p:cNvSpPr txBox="1"/>
          <p:nvPr/>
        </p:nvSpPr>
        <p:spPr>
          <a:xfrm>
            <a:off x="6400800" y="4590288"/>
            <a:ext cx="4754880" cy="320040"/>
          </a:xfrm>
          <a:prstGeom prst="rect">
            <a:avLst/>
          </a:prstGeom>
          <a:noFill/>
        </p:spPr>
        <p:txBody>
          <a:bodyPr wrap="square" lIns="13716" rIns="13716" tIns="0" bIns="0">
            <a:spAutoFit/>
          </a:bodyPr>
          <a:lstStyle/>
          <a:p>
            <a:pPr algn="l">
              <a:spcBef>
                <a:spcPts val="0"/>
              </a:spcBef>
              <a:spcAft>
                <a:spcPts val="0"/>
              </a:spcAft>
            </a:pPr>
            <a:r>
              <a:rPr sz="1800" b="1">
                <a:solidFill>
                  <a:srgbClr val="F4BF61"/>
                </a:solidFill>
                <a:latin typeface="DejaVu Sans"/>
              </a:rPr>
              <a:t>Scale discipline</a:t>
            </a:r>
          </a:p>
        </p:txBody>
      </p:sp>
      <p:sp>
        <p:nvSpPr>
          <p:cNvPr id="90" name="TextBox 89"/>
          <p:cNvSpPr txBox="1"/>
          <p:nvPr/>
        </p:nvSpPr>
        <p:spPr>
          <a:xfrm>
            <a:off x="6400800" y="4946903"/>
            <a:ext cx="4754880" cy="384048"/>
          </a:xfrm>
          <a:prstGeom prst="rect">
            <a:avLst/>
          </a:prstGeom>
          <a:noFill/>
        </p:spPr>
        <p:txBody>
          <a:bodyPr wrap="square" lIns="13716" rIns="13716" tIns="0" bIns="0">
            <a:spAutoFit/>
          </a:bodyPr>
          <a:lstStyle/>
          <a:p>
            <a:pPr algn="l">
              <a:spcBef>
                <a:spcPts val="0"/>
              </a:spcBef>
              <a:spcAft>
                <a:spcPts val="0"/>
              </a:spcAft>
            </a:pPr>
            <a:r>
              <a:rPr sz="1300" b="0">
                <a:solidFill>
                  <a:srgbClr val="F2F6FC"/>
                </a:solidFill>
                <a:latin typeface="DejaVu Sans"/>
              </a:rPr>
              <a:t>Keep cached-output and new-token descales separate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00"/>
                                        <p:tgtEl>
                                          <p:spTgt spid="29"/>
                                        </p:tgtEl>
                                      </p:cBhvr>
                                    </p:animEffect>
                                  </p:childTnLst>
                                </p:cTn>
                              </p:par>
                              <p:par>
                                <p:cTn id="58" presetID="10" presetClass="entr" presetSubtype="0"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400"/>
                                        <p:tgtEl>
                                          <p:spTgt spid="30"/>
                                        </p:tgtEl>
                                      </p:cBhvr>
                                    </p:animEffect>
                                  </p:childTnLst>
                                </p:cTn>
                              </p:par>
                              <p:par>
                                <p:cTn id="61" presetID="10"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400"/>
                                        <p:tgtEl>
                                          <p:spTgt spid="31"/>
                                        </p:tgtEl>
                                      </p:cBhvr>
                                    </p:animEffect>
                                  </p:childTnLst>
                                </p:cTn>
                              </p:par>
                              <p:par>
                                <p:cTn id="64" presetID="10" presetClass="entr" presetSubtype="0"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400"/>
                                        <p:tgtEl>
                                          <p:spTgt spid="32"/>
                                        </p:tgtEl>
                                      </p:cBhvr>
                                    </p:animEffect>
                                  </p:childTnLst>
                                </p:cTn>
                              </p:par>
                              <p:par>
                                <p:cTn id="67" presetID="10" presetClass="entr" presetSubtype="0"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400"/>
                                        <p:tgtEl>
                                          <p:spTgt spid="3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click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par>
                                <p:cTn id="81" presetID="10" presetClass="entr" presetSubtype="0"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400"/>
                                        <p:tgtEl>
                                          <p:spTgt spid="37"/>
                                        </p:tgtEl>
                                      </p:cBhvr>
                                    </p:animEffect>
                                  </p:childTnLst>
                                </p:cTn>
                              </p:par>
                              <p:par>
                                <p:cTn id="84" presetID="10" presetClass="entr" presetSubtype="0" fill="hold" grpId="0" nodeType="click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400"/>
                                        <p:tgtEl>
                                          <p:spTgt spid="38"/>
                                        </p:tgtEl>
                                      </p:cBhvr>
                                    </p:animEffect>
                                  </p:childTnLst>
                                </p:cTn>
                              </p:par>
                              <p:par>
                                <p:cTn id="87" presetID="10" presetClass="entr" presetSubtype="0" fill="hold" grpId="0" nodeType="click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400"/>
                                        <p:tgtEl>
                                          <p:spTgt spid="39"/>
                                        </p:tgtEl>
                                      </p:cBhvr>
                                    </p:animEffect>
                                  </p:childTnLst>
                                </p:cTn>
                              </p:par>
                              <p:par>
                                <p:cTn id="90" presetID="10" presetClass="entr" presetSubtype="0" fill="hold" grpId="0" nodeType="click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400"/>
                                        <p:tgtEl>
                                          <p:spTgt spid="40"/>
                                        </p:tgtEl>
                                      </p:cBhvr>
                                    </p:animEffect>
                                  </p:childTnLst>
                                </p:cTn>
                              </p:par>
                              <p:par>
                                <p:cTn id="93" presetID="10"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400"/>
                                        <p:tgtEl>
                                          <p:spTgt spid="41"/>
                                        </p:tgtEl>
                                      </p:cBhvr>
                                    </p:animEffect>
                                  </p:childTnLst>
                                </p:cTn>
                              </p:par>
                              <p:par>
                                <p:cTn id="96" presetID="10" presetClass="entr" presetSubtype="0" fill="hold" grpId="0" nodeType="click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400"/>
                                        <p:tgtEl>
                                          <p:spTgt spid="42"/>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00"/>
                                        <p:tgtEl>
                                          <p:spTgt spid="43"/>
                                        </p:tgtEl>
                                      </p:cBhvr>
                                    </p:animEffect>
                                  </p:childTnLst>
                                </p:cTn>
                              </p:par>
                              <p:par>
                                <p:cTn id="104" presetID="10" presetClass="entr" presetSubtype="0" fill="hold" grpId="0" nodeType="click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00"/>
                                        <p:tgtEl>
                                          <p:spTgt spid="44"/>
                                        </p:tgtEl>
                                      </p:cBhvr>
                                    </p:animEffect>
                                  </p:childTnLst>
                                </p:cTn>
                              </p:par>
                              <p:par>
                                <p:cTn id="107" presetID="10" presetClass="entr" presetSubtype="0" fill="hold" grpId="0" nodeType="click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fade">
                                      <p:cBhvr>
                                        <p:cTn id="109" dur="400"/>
                                        <p:tgtEl>
                                          <p:spTgt spid="45"/>
                                        </p:tgtEl>
                                      </p:cBhvr>
                                    </p:animEffect>
                                  </p:childTnLst>
                                </p:cTn>
                              </p:par>
                              <p:par>
                                <p:cTn id="110" presetID="10" presetClass="entr" presetSubtype="0" fill="hold" grpId="0" nodeType="clickEffect">
                                  <p:stCondLst>
                                    <p:cond delay="0"/>
                                  </p:stCondLst>
                                  <p:childTnLst>
                                    <p:set>
                                      <p:cBhvr>
                                        <p:cTn id="111" dur="1" fill="hold">
                                          <p:stCondLst>
                                            <p:cond delay="0"/>
                                          </p:stCondLst>
                                        </p:cTn>
                                        <p:tgtEl>
                                          <p:spTgt spid="46"/>
                                        </p:tgtEl>
                                        <p:attrNameLst>
                                          <p:attrName>style.visibility</p:attrName>
                                        </p:attrNameLst>
                                      </p:cBhvr>
                                      <p:to>
                                        <p:strVal val="visible"/>
                                      </p:to>
                                    </p:set>
                                    <p:animEffect transition="in" filter="fade">
                                      <p:cBhvr>
                                        <p:cTn id="112" dur="400"/>
                                        <p:tgtEl>
                                          <p:spTgt spid="46"/>
                                        </p:tgtEl>
                                      </p:cBhvr>
                                    </p:animEffect>
                                  </p:childTnLst>
                                </p:cTn>
                              </p:par>
                              <p:par>
                                <p:cTn id="113" presetID="10" presetClass="entr" presetSubtype="0" fill="hold" grpId="0" nodeType="clickEffect">
                                  <p:stCondLst>
                                    <p:cond delay="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400"/>
                                        <p:tgtEl>
                                          <p:spTgt spid="47"/>
                                        </p:tgtEl>
                                      </p:cBhvr>
                                    </p:animEffect>
                                  </p:childTnLst>
                                </p:cTn>
                              </p:par>
                              <p:par>
                                <p:cTn id="116" presetID="10" presetClass="entr" presetSubtype="0" fill="hold" grpId="0" nodeType="clickEffect">
                                  <p:stCondLst>
                                    <p:cond delay="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400"/>
                                        <p:tgtEl>
                                          <p:spTgt spid="48"/>
                                        </p:tgtEl>
                                      </p:cBhvr>
                                    </p:animEffect>
                                  </p:childTnLst>
                                </p:cTn>
                              </p:par>
                              <p:par>
                                <p:cTn id="119" presetID="10" presetClass="entr" presetSubtype="0" fill="hold" grpId="0" nodeType="clickEffect">
                                  <p:stCondLst>
                                    <p:cond delay="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400"/>
                                        <p:tgtEl>
                                          <p:spTgt spid="49"/>
                                        </p:tgtEl>
                                      </p:cBhvr>
                                    </p:animEffect>
                                  </p:childTnLst>
                                </p:cTn>
                              </p:par>
                              <p:par>
                                <p:cTn id="122" presetID="10" presetClass="entr" presetSubtype="0" fill="hold" grpId="0" nodeType="clickEffect">
                                  <p:stCondLst>
                                    <p:cond delay="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400"/>
                                        <p:tgtEl>
                                          <p:spTgt spid="50"/>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51"/>
                                        </p:tgtEl>
                                        <p:attrNameLst>
                                          <p:attrName>style.visibility</p:attrName>
                                        </p:attrNameLst>
                                      </p:cBhvr>
                                      <p:to>
                                        <p:strVal val="visible"/>
                                      </p:to>
                                    </p:set>
                                    <p:animEffect transition="in" filter="fade">
                                      <p:cBhvr>
                                        <p:cTn id="129" dur="400"/>
                                        <p:tgtEl>
                                          <p:spTgt spid="51"/>
                                        </p:tgtEl>
                                      </p:cBhvr>
                                    </p:animEffect>
                                  </p:childTnLst>
                                </p:cTn>
                              </p:par>
                              <p:par>
                                <p:cTn id="130" presetID="10" presetClass="entr" presetSubtype="0" fill="hold" grpId="0" nodeType="clickEffect">
                                  <p:stCondLst>
                                    <p:cond delay="0"/>
                                  </p:stCondLst>
                                  <p:childTnLst>
                                    <p:set>
                                      <p:cBhvr>
                                        <p:cTn id="131" dur="1" fill="hold">
                                          <p:stCondLst>
                                            <p:cond delay="0"/>
                                          </p:stCondLst>
                                        </p:cTn>
                                        <p:tgtEl>
                                          <p:spTgt spid="52"/>
                                        </p:tgtEl>
                                        <p:attrNameLst>
                                          <p:attrName>style.visibility</p:attrName>
                                        </p:attrNameLst>
                                      </p:cBhvr>
                                      <p:to>
                                        <p:strVal val="visible"/>
                                      </p:to>
                                    </p:set>
                                    <p:animEffect transition="in" filter="fade">
                                      <p:cBhvr>
                                        <p:cTn id="132" dur="400"/>
                                        <p:tgtEl>
                                          <p:spTgt spid="52"/>
                                        </p:tgtEl>
                                      </p:cBhvr>
                                    </p:animEffect>
                                  </p:childTnLst>
                                </p:cTn>
                              </p:par>
                              <p:par>
                                <p:cTn id="133" presetID="10" presetClass="entr" presetSubtype="0" fill="hold" grpId="0" nodeType="clickEffect">
                                  <p:stCondLst>
                                    <p:cond delay="0"/>
                                  </p:stCondLst>
                                  <p:childTnLst>
                                    <p:set>
                                      <p:cBhvr>
                                        <p:cTn id="134" dur="1" fill="hold">
                                          <p:stCondLst>
                                            <p:cond delay="0"/>
                                          </p:stCondLst>
                                        </p:cTn>
                                        <p:tgtEl>
                                          <p:spTgt spid="53"/>
                                        </p:tgtEl>
                                        <p:attrNameLst>
                                          <p:attrName>style.visibility</p:attrName>
                                        </p:attrNameLst>
                                      </p:cBhvr>
                                      <p:to>
                                        <p:strVal val="visible"/>
                                      </p:to>
                                    </p:set>
                                    <p:animEffect transition="in" filter="fade">
                                      <p:cBhvr>
                                        <p:cTn id="135" dur="400"/>
                                        <p:tgtEl>
                                          <p:spTgt spid="53"/>
                                        </p:tgtEl>
                                      </p:cBhvr>
                                    </p:animEffect>
                                  </p:childTnLst>
                                </p:cTn>
                              </p:par>
                              <p:par>
                                <p:cTn id="136" presetID="10" presetClass="entr" presetSubtype="0" fill="hold" grpId="0" nodeType="clickEffect">
                                  <p:stCondLst>
                                    <p:cond delay="0"/>
                                  </p:stCondLst>
                                  <p:childTnLst>
                                    <p:set>
                                      <p:cBhvr>
                                        <p:cTn id="137" dur="1" fill="hold">
                                          <p:stCondLst>
                                            <p:cond delay="0"/>
                                          </p:stCondLst>
                                        </p:cTn>
                                        <p:tgtEl>
                                          <p:spTgt spid="54"/>
                                        </p:tgtEl>
                                        <p:attrNameLst>
                                          <p:attrName>style.visibility</p:attrName>
                                        </p:attrNameLst>
                                      </p:cBhvr>
                                      <p:to>
                                        <p:strVal val="visible"/>
                                      </p:to>
                                    </p:set>
                                    <p:animEffect transition="in" filter="fade">
                                      <p:cBhvr>
                                        <p:cTn id="138" dur="400"/>
                                        <p:tgtEl>
                                          <p:spTgt spid="54"/>
                                        </p:tgtEl>
                                      </p:cBhvr>
                                    </p:animEffect>
                                  </p:childTnLst>
                                </p:cTn>
                              </p:par>
                              <p:par>
                                <p:cTn id="139" presetID="10" presetClass="entr" presetSubtype="0" fill="hold" grpId="0" nodeType="clickEffect">
                                  <p:stCondLst>
                                    <p:cond delay="0"/>
                                  </p:stCondLst>
                                  <p:childTnLst>
                                    <p:set>
                                      <p:cBhvr>
                                        <p:cTn id="140" dur="1" fill="hold">
                                          <p:stCondLst>
                                            <p:cond delay="0"/>
                                          </p:stCondLst>
                                        </p:cTn>
                                        <p:tgtEl>
                                          <p:spTgt spid="55"/>
                                        </p:tgtEl>
                                        <p:attrNameLst>
                                          <p:attrName>style.visibility</p:attrName>
                                        </p:attrNameLst>
                                      </p:cBhvr>
                                      <p:to>
                                        <p:strVal val="visible"/>
                                      </p:to>
                                    </p:set>
                                    <p:animEffect transition="in" filter="fade">
                                      <p:cBhvr>
                                        <p:cTn id="141" dur="400"/>
                                        <p:tgtEl>
                                          <p:spTgt spid="55"/>
                                        </p:tgtEl>
                                      </p:cBhvr>
                                    </p:animEffect>
                                  </p:childTnLst>
                                </p:cTn>
                              </p:par>
                              <p:par>
                                <p:cTn id="142" presetID="10" presetClass="entr" presetSubtype="0" fill="hold" grpId="0" nodeType="clickEffect">
                                  <p:stCondLst>
                                    <p:cond delay="0"/>
                                  </p:stCondLst>
                                  <p:childTnLst>
                                    <p:set>
                                      <p:cBhvr>
                                        <p:cTn id="143" dur="1" fill="hold">
                                          <p:stCondLst>
                                            <p:cond delay="0"/>
                                          </p:stCondLst>
                                        </p:cTn>
                                        <p:tgtEl>
                                          <p:spTgt spid="56"/>
                                        </p:tgtEl>
                                        <p:attrNameLst>
                                          <p:attrName>style.visibility</p:attrName>
                                        </p:attrNameLst>
                                      </p:cBhvr>
                                      <p:to>
                                        <p:strVal val="visible"/>
                                      </p:to>
                                    </p:set>
                                    <p:animEffect transition="in" filter="fade">
                                      <p:cBhvr>
                                        <p:cTn id="144" dur="400"/>
                                        <p:tgtEl>
                                          <p:spTgt spid="56"/>
                                        </p:tgtEl>
                                      </p:cBhvr>
                                    </p:animEffect>
                                  </p:childTnLst>
                                </p:cTn>
                              </p:par>
                              <p:par>
                                <p:cTn id="145" presetID="10" presetClass="entr" presetSubtype="0" fill="hold" grpId="0" nodeType="clickEffect">
                                  <p:stCondLst>
                                    <p:cond delay="0"/>
                                  </p:stCondLst>
                                  <p:childTnLst>
                                    <p:set>
                                      <p:cBhvr>
                                        <p:cTn id="146" dur="1" fill="hold">
                                          <p:stCondLst>
                                            <p:cond delay="0"/>
                                          </p:stCondLst>
                                        </p:cTn>
                                        <p:tgtEl>
                                          <p:spTgt spid="57"/>
                                        </p:tgtEl>
                                        <p:attrNameLst>
                                          <p:attrName>style.visibility</p:attrName>
                                        </p:attrNameLst>
                                      </p:cBhvr>
                                      <p:to>
                                        <p:strVal val="visible"/>
                                      </p:to>
                                    </p:set>
                                    <p:animEffect transition="in" filter="fade">
                                      <p:cBhvr>
                                        <p:cTn id="147" dur="400"/>
                                        <p:tgtEl>
                                          <p:spTgt spid="57"/>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par>
                                <p:cTn id="153" presetID="10" presetClass="entr" presetSubtype="0" fill="hold" grpId="0" nodeType="clickEffect">
                                  <p:stCondLst>
                                    <p:cond delay="0"/>
                                  </p:stCondLst>
                                  <p:childTnLst>
                                    <p:set>
                                      <p:cBhvr>
                                        <p:cTn id="154" dur="1" fill="hold">
                                          <p:stCondLst>
                                            <p:cond delay="0"/>
                                          </p:stCondLst>
                                        </p:cTn>
                                        <p:tgtEl>
                                          <p:spTgt spid="59"/>
                                        </p:tgtEl>
                                        <p:attrNameLst>
                                          <p:attrName>style.visibility</p:attrName>
                                        </p:attrNameLst>
                                      </p:cBhvr>
                                      <p:to>
                                        <p:strVal val="visible"/>
                                      </p:to>
                                    </p:set>
                                    <p:animEffect transition="in" filter="fade">
                                      <p:cBhvr>
                                        <p:cTn id="155" dur="400"/>
                                        <p:tgtEl>
                                          <p:spTgt spid="59"/>
                                        </p:tgtEl>
                                      </p:cBhvr>
                                    </p:animEffect>
                                  </p:childTnLst>
                                </p:cTn>
                              </p:par>
                              <p:par>
                                <p:cTn id="156" presetID="10" presetClass="entr" presetSubtype="0" fill="hold" grpId="0" nodeType="clickEffect">
                                  <p:stCondLst>
                                    <p:cond delay="0"/>
                                  </p:stCondLst>
                                  <p:childTnLst>
                                    <p:set>
                                      <p:cBhvr>
                                        <p:cTn id="157" dur="1" fill="hold">
                                          <p:stCondLst>
                                            <p:cond delay="0"/>
                                          </p:stCondLst>
                                        </p:cTn>
                                        <p:tgtEl>
                                          <p:spTgt spid="60"/>
                                        </p:tgtEl>
                                        <p:attrNameLst>
                                          <p:attrName>style.visibility</p:attrName>
                                        </p:attrNameLst>
                                      </p:cBhvr>
                                      <p:to>
                                        <p:strVal val="visible"/>
                                      </p:to>
                                    </p:set>
                                    <p:animEffect transition="in" filter="fade">
                                      <p:cBhvr>
                                        <p:cTn id="158" dur="400"/>
                                        <p:tgtEl>
                                          <p:spTgt spid="60"/>
                                        </p:tgtEl>
                                      </p:cBhvr>
                                    </p:animEffect>
                                  </p:childTnLst>
                                </p:cTn>
                              </p:par>
                              <p:par>
                                <p:cTn id="159" presetID="10" presetClass="entr" presetSubtype="0" fill="hold" grpId="0" nodeType="clickEffect">
                                  <p:stCondLst>
                                    <p:cond delay="0"/>
                                  </p:stCondLst>
                                  <p:childTnLst>
                                    <p:set>
                                      <p:cBhvr>
                                        <p:cTn id="160" dur="1" fill="hold">
                                          <p:stCondLst>
                                            <p:cond delay="0"/>
                                          </p:stCondLst>
                                        </p:cTn>
                                        <p:tgtEl>
                                          <p:spTgt spid="61"/>
                                        </p:tgtEl>
                                        <p:attrNameLst>
                                          <p:attrName>style.visibility</p:attrName>
                                        </p:attrNameLst>
                                      </p:cBhvr>
                                      <p:to>
                                        <p:strVal val="visible"/>
                                      </p:to>
                                    </p:set>
                                    <p:animEffect transition="in" filter="fade">
                                      <p:cBhvr>
                                        <p:cTn id="161" dur="400"/>
                                        <p:tgtEl>
                                          <p:spTgt spid="61"/>
                                        </p:tgtEl>
                                      </p:cBhvr>
                                    </p:animEffect>
                                  </p:childTnLst>
                                </p:cTn>
                              </p:par>
                              <p:par>
                                <p:cTn id="162" presetID="10" presetClass="entr" presetSubtype="0" fill="hold" grpId="0" nodeType="clickEffect">
                                  <p:stCondLst>
                                    <p:cond delay="0"/>
                                  </p:stCondLst>
                                  <p:childTnLst>
                                    <p:set>
                                      <p:cBhvr>
                                        <p:cTn id="163" dur="1" fill="hold">
                                          <p:stCondLst>
                                            <p:cond delay="0"/>
                                          </p:stCondLst>
                                        </p:cTn>
                                        <p:tgtEl>
                                          <p:spTgt spid="62"/>
                                        </p:tgtEl>
                                        <p:attrNameLst>
                                          <p:attrName>style.visibility</p:attrName>
                                        </p:attrNameLst>
                                      </p:cBhvr>
                                      <p:to>
                                        <p:strVal val="visible"/>
                                      </p:to>
                                    </p:set>
                                    <p:animEffect transition="in" filter="fade">
                                      <p:cBhvr>
                                        <p:cTn id="164" dur="400"/>
                                        <p:tgtEl>
                                          <p:spTgt spid="62"/>
                                        </p:tgtEl>
                                      </p:cBhvr>
                                    </p:animEffect>
                                  </p:childTnLst>
                                </p:cTn>
                              </p:par>
                              <p:par>
                                <p:cTn id="165" presetID="10" presetClass="entr" presetSubtype="0" fill="hold" grpId="0" nodeType="clickEffect">
                                  <p:stCondLst>
                                    <p:cond delay="0"/>
                                  </p:stCondLst>
                                  <p:childTnLst>
                                    <p:set>
                                      <p:cBhvr>
                                        <p:cTn id="166" dur="1" fill="hold">
                                          <p:stCondLst>
                                            <p:cond delay="0"/>
                                          </p:stCondLst>
                                        </p:cTn>
                                        <p:tgtEl>
                                          <p:spTgt spid="63"/>
                                        </p:tgtEl>
                                        <p:attrNameLst>
                                          <p:attrName>style.visibility</p:attrName>
                                        </p:attrNameLst>
                                      </p:cBhvr>
                                      <p:to>
                                        <p:strVal val="visible"/>
                                      </p:to>
                                    </p:set>
                                    <p:animEffect transition="in" filter="fade">
                                      <p:cBhvr>
                                        <p:cTn id="167" dur="400"/>
                                        <p:tgtEl>
                                          <p:spTgt spid="63"/>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grpId="0" nodeType="click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click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grpId="0" nodeType="click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click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par>
                                <p:cTn id="185" presetID="10" presetClass="entr" presetSubtype="0" fill="hold" grpId="0" nodeType="clickEffect">
                                  <p:stCondLst>
                                    <p:cond delay="0"/>
                                  </p:stCondLst>
                                  <p:childTnLst>
                                    <p:set>
                                      <p:cBhvr>
                                        <p:cTn id="186" dur="1" fill="hold">
                                          <p:stCondLst>
                                            <p:cond delay="0"/>
                                          </p:stCondLst>
                                        </p:cTn>
                                        <p:tgtEl>
                                          <p:spTgt spid="69"/>
                                        </p:tgtEl>
                                        <p:attrNameLst>
                                          <p:attrName>style.visibility</p:attrName>
                                        </p:attrNameLst>
                                      </p:cBhvr>
                                      <p:to>
                                        <p:strVal val="visible"/>
                                      </p:to>
                                    </p:set>
                                    <p:animEffect transition="in" filter="fade">
                                      <p:cBhvr>
                                        <p:cTn id="187" dur="400"/>
                                        <p:tgtEl>
                                          <p:spTgt spid="69"/>
                                        </p:tgtEl>
                                      </p:cBhvr>
                                    </p:animEffect>
                                  </p:childTnLst>
                                </p:cTn>
                              </p:par>
                              <p:par>
                                <p:cTn id="188" presetID="10" presetClass="entr" presetSubtype="0" fill="hold" grpId="0" nodeType="click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par>
                                <p:cTn id="191" presetID="10" presetClass="entr" presetSubtype="0" fill="hold" grpId="0" nodeType="clickEffect">
                                  <p:stCondLst>
                                    <p:cond delay="0"/>
                                  </p:stCondLst>
                                  <p:childTnLst>
                                    <p:set>
                                      <p:cBhvr>
                                        <p:cTn id="192" dur="1" fill="hold">
                                          <p:stCondLst>
                                            <p:cond delay="0"/>
                                          </p:stCondLst>
                                        </p:cTn>
                                        <p:tgtEl>
                                          <p:spTgt spid="71"/>
                                        </p:tgtEl>
                                        <p:attrNameLst>
                                          <p:attrName>style.visibility</p:attrName>
                                        </p:attrNameLst>
                                      </p:cBhvr>
                                      <p:to>
                                        <p:strVal val="visible"/>
                                      </p:to>
                                    </p:set>
                                    <p:animEffect transition="in" filter="fade">
                                      <p:cBhvr>
                                        <p:cTn id="193" dur="400"/>
                                        <p:tgtEl>
                                          <p:spTgt spid="71"/>
                                        </p:tgtEl>
                                      </p:cBhvr>
                                    </p:animEffect>
                                  </p:childTnLst>
                                </p:cTn>
                              </p:par>
                              <p:par>
                                <p:cTn id="194" presetID="10" presetClass="entr" presetSubtype="0" fill="hold" grpId="0" nodeType="clickEffect">
                                  <p:stCondLst>
                                    <p:cond delay="0"/>
                                  </p:stCondLst>
                                  <p:childTnLst>
                                    <p:set>
                                      <p:cBhvr>
                                        <p:cTn id="195" dur="1" fill="hold">
                                          <p:stCondLst>
                                            <p:cond delay="0"/>
                                          </p:stCondLst>
                                        </p:cTn>
                                        <p:tgtEl>
                                          <p:spTgt spid="72"/>
                                        </p:tgtEl>
                                        <p:attrNameLst>
                                          <p:attrName>style.visibility</p:attrName>
                                        </p:attrNameLst>
                                      </p:cBhvr>
                                      <p:to>
                                        <p:strVal val="visible"/>
                                      </p:to>
                                    </p:set>
                                    <p:animEffect transition="in" filter="fade">
                                      <p:cBhvr>
                                        <p:cTn id="196" dur="400"/>
                                        <p:tgtEl>
                                          <p:spTgt spid="72"/>
                                        </p:tgtEl>
                                      </p:cBhvr>
                                    </p:animEffect>
                                  </p:childTnLst>
                                </p:cTn>
                              </p:par>
                              <p:par>
                                <p:cTn id="197" presetID="10" presetClass="entr" presetSubtype="0" fill="hold" grpId="0" nodeType="clickEffect">
                                  <p:stCondLst>
                                    <p:cond delay="0"/>
                                  </p:stCondLst>
                                  <p:childTnLst>
                                    <p:set>
                                      <p:cBhvr>
                                        <p:cTn id="198" dur="1" fill="hold">
                                          <p:stCondLst>
                                            <p:cond delay="0"/>
                                          </p:stCondLst>
                                        </p:cTn>
                                        <p:tgtEl>
                                          <p:spTgt spid="73"/>
                                        </p:tgtEl>
                                        <p:attrNameLst>
                                          <p:attrName>style.visibility</p:attrName>
                                        </p:attrNameLst>
                                      </p:cBhvr>
                                      <p:to>
                                        <p:strVal val="visible"/>
                                      </p:to>
                                    </p:set>
                                    <p:animEffect transition="in" filter="fade">
                                      <p:cBhvr>
                                        <p:cTn id="199" dur="400"/>
                                        <p:tgtEl>
                                          <p:spTgt spid="73"/>
                                        </p:tgtEl>
                                      </p:cBhvr>
                                    </p:animEffect>
                                  </p:childTnLst>
                                </p:cTn>
                              </p:par>
                              <p:par>
                                <p:cTn id="200" presetID="10" presetClass="entr" presetSubtype="0" fill="hold" grpId="0" nodeType="clickEffect">
                                  <p:stCondLst>
                                    <p:cond delay="0"/>
                                  </p:stCondLst>
                                  <p:childTnLst>
                                    <p:set>
                                      <p:cBhvr>
                                        <p:cTn id="201" dur="1" fill="hold">
                                          <p:stCondLst>
                                            <p:cond delay="0"/>
                                          </p:stCondLst>
                                        </p:cTn>
                                        <p:tgtEl>
                                          <p:spTgt spid="74"/>
                                        </p:tgtEl>
                                        <p:attrNameLst>
                                          <p:attrName>style.visibility</p:attrName>
                                        </p:attrNameLst>
                                      </p:cBhvr>
                                      <p:to>
                                        <p:strVal val="visible"/>
                                      </p:to>
                                    </p:set>
                                    <p:animEffect transition="in" filter="fade">
                                      <p:cBhvr>
                                        <p:cTn id="202" dur="400"/>
                                        <p:tgtEl>
                                          <p:spTgt spid="74"/>
                                        </p:tgtEl>
                                      </p:cBhvr>
                                    </p:animEffect>
                                  </p:childTnLst>
                                </p:cTn>
                              </p:par>
                              <p:par>
                                <p:cTn id="203" presetID="10" presetClass="entr" presetSubtype="0" fill="hold" grpId="0" nodeType="clickEffect">
                                  <p:stCondLst>
                                    <p:cond delay="0"/>
                                  </p:stCondLst>
                                  <p:childTnLst>
                                    <p:set>
                                      <p:cBhvr>
                                        <p:cTn id="204" dur="1" fill="hold">
                                          <p:stCondLst>
                                            <p:cond delay="0"/>
                                          </p:stCondLst>
                                        </p:cTn>
                                        <p:tgtEl>
                                          <p:spTgt spid="75"/>
                                        </p:tgtEl>
                                        <p:attrNameLst>
                                          <p:attrName>style.visibility</p:attrName>
                                        </p:attrNameLst>
                                      </p:cBhvr>
                                      <p:to>
                                        <p:strVal val="visible"/>
                                      </p:to>
                                    </p:set>
                                    <p:animEffect transition="in" filter="fade">
                                      <p:cBhvr>
                                        <p:cTn id="205" dur="400"/>
                                        <p:tgtEl>
                                          <p:spTgt spid="75"/>
                                        </p:tgtEl>
                                      </p:cBhvr>
                                    </p:animEffect>
                                  </p:childTnLst>
                                </p:cTn>
                              </p:par>
                              <p:par>
                                <p:cTn id="206" presetID="10" presetClass="entr" presetSubtype="0" fill="hold" grpId="0" nodeType="clickEffect">
                                  <p:stCondLst>
                                    <p:cond delay="0"/>
                                  </p:stCondLst>
                                  <p:childTnLst>
                                    <p:set>
                                      <p:cBhvr>
                                        <p:cTn id="207" dur="1" fill="hold">
                                          <p:stCondLst>
                                            <p:cond delay="0"/>
                                          </p:stCondLst>
                                        </p:cTn>
                                        <p:tgtEl>
                                          <p:spTgt spid="76"/>
                                        </p:tgtEl>
                                        <p:attrNameLst>
                                          <p:attrName>style.visibility</p:attrName>
                                        </p:attrNameLst>
                                      </p:cBhvr>
                                      <p:to>
                                        <p:strVal val="visible"/>
                                      </p:to>
                                    </p:set>
                                    <p:animEffect transition="in" filter="fade">
                                      <p:cBhvr>
                                        <p:cTn id="208" dur="400"/>
                                        <p:tgtEl>
                                          <p:spTgt spid="76"/>
                                        </p:tgtEl>
                                      </p:cBhvr>
                                    </p:animEffect>
                                  </p:childTnLst>
                                </p:cTn>
                              </p:par>
                              <p:par>
                                <p:cTn id="209" presetID="10" presetClass="entr" presetSubtype="0" fill="hold" grpId="0" nodeType="clickEffect">
                                  <p:stCondLst>
                                    <p:cond delay="0"/>
                                  </p:stCondLst>
                                  <p:childTnLst>
                                    <p:set>
                                      <p:cBhvr>
                                        <p:cTn id="210" dur="1" fill="hold">
                                          <p:stCondLst>
                                            <p:cond delay="0"/>
                                          </p:stCondLst>
                                        </p:cTn>
                                        <p:tgtEl>
                                          <p:spTgt spid="77"/>
                                        </p:tgtEl>
                                        <p:attrNameLst>
                                          <p:attrName>style.visibility</p:attrName>
                                        </p:attrNameLst>
                                      </p:cBhvr>
                                      <p:to>
                                        <p:strVal val="visible"/>
                                      </p:to>
                                    </p:set>
                                    <p:animEffect transition="in" filter="fade">
                                      <p:cBhvr>
                                        <p:cTn id="211" dur="400"/>
                                        <p:tgtEl>
                                          <p:spTgt spid="77"/>
                                        </p:tgtEl>
                                      </p:cBhvr>
                                    </p:animEffect>
                                  </p:childTnLst>
                                </p:cTn>
                              </p:par>
                              <p:par>
                                <p:cTn id="212" presetID="10" presetClass="entr" presetSubtype="0" fill="hold" grpId="0" nodeType="clickEffect">
                                  <p:stCondLst>
                                    <p:cond delay="0"/>
                                  </p:stCondLst>
                                  <p:childTnLst>
                                    <p:set>
                                      <p:cBhvr>
                                        <p:cTn id="213" dur="1" fill="hold">
                                          <p:stCondLst>
                                            <p:cond delay="0"/>
                                          </p:stCondLst>
                                        </p:cTn>
                                        <p:tgtEl>
                                          <p:spTgt spid="78"/>
                                        </p:tgtEl>
                                        <p:attrNameLst>
                                          <p:attrName>style.visibility</p:attrName>
                                        </p:attrNameLst>
                                      </p:cBhvr>
                                      <p:to>
                                        <p:strVal val="visible"/>
                                      </p:to>
                                    </p:set>
                                    <p:animEffect transition="in" filter="fade">
                                      <p:cBhvr>
                                        <p:cTn id="214" dur="400"/>
                                        <p:tgtEl>
                                          <p:spTgt spid="78"/>
                                        </p:tgtEl>
                                      </p:cBhvr>
                                    </p:animEffect>
                                  </p:childTnLst>
                                </p:cTn>
                              </p:par>
                              <p:par>
                                <p:cTn id="215" presetID="10" presetClass="entr" presetSubtype="0" fill="hold" grpId="0" nodeType="clickEffect">
                                  <p:stCondLst>
                                    <p:cond delay="0"/>
                                  </p:stCondLst>
                                  <p:childTnLst>
                                    <p:set>
                                      <p:cBhvr>
                                        <p:cTn id="216" dur="1" fill="hold">
                                          <p:stCondLst>
                                            <p:cond delay="0"/>
                                          </p:stCondLst>
                                        </p:cTn>
                                        <p:tgtEl>
                                          <p:spTgt spid="79"/>
                                        </p:tgtEl>
                                        <p:attrNameLst>
                                          <p:attrName>style.visibility</p:attrName>
                                        </p:attrNameLst>
                                      </p:cBhvr>
                                      <p:to>
                                        <p:strVal val="visible"/>
                                      </p:to>
                                    </p:set>
                                    <p:animEffect transition="in" filter="fade">
                                      <p:cBhvr>
                                        <p:cTn id="217" dur="400"/>
                                        <p:tgtEl>
                                          <p:spTgt spid="79"/>
                                        </p:tgtEl>
                                      </p:cBhvr>
                                    </p:animEffect>
                                  </p:childTnLst>
                                </p:cTn>
                              </p:par>
                              <p:par>
                                <p:cTn id="218" presetID="10" presetClass="entr" presetSubtype="0" fill="hold" grpId="0" nodeType="clickEffect">
                                  <p:stCondLst>
                                    <p:cond delay="0"/>
                                  </p:stCondLst>
                                  <p:childTnLst>
                                    <p:set>
                                      <p:cBhvr>
                                        <p:cTn id="219" dur="1" fill="hold">
                                          <p:stCondLst>
                                            <p:cond delay="0"/>
                                          </p:stCondLst>
                                        </p:cTn>
                                        <p:tgtEl>
                                          <p:spTgt spid="80"/>
                                        </p:tgtEl>
                                        <p:attrNameLst>
                                          <p:attrName>style.visibility</p:attrName>
                                        </p:attrNameLst>
                                      </p:cBhvr>
                                      <p:to>
                                        <p:strVal val="visible"/>
                                      </p:to>
                                    </p:set>
                                    <p:animEffect transition="in" filter="fade">
                                      <p:cBhvr>
                                        <p:cTn id="220" dur="400"/>
                                        <p:tgtEl>
                                          <p:spTgt spid="80"/>
                                        </p:tgtEl>
                                      </p:cBhvr>
                                    </p:animEffect>
                                  </p:childTnLst>
                                </p:cTn>
                              </p:par>
                              <p:par>
                                <p:cTn id="221" presetID="10" presetClass="entr" presetSubtype="0" fill="hold" grpId="0" nodeType="clickEffect">
                                  <p:stCondLst>
                                    <p:cond delay="0"/>
                                  </p:stCondLst>
                                  <p:childTnLst>
                                    <p:set>
                                      <p:cBhvr>
                                        <p:cTn id="222" dur="1" fill="hold">
                                          <p:stCondLst>
                                            <p:cond delay="0"/>
                                          </p:stCondLst>
                                        </p:cTn>
                                        <p:tgtEl>
                                          <p:spTgt spid="81"/>
                                        </p:tgtEl>
                                        <p:attrNameLst>
                                          <p:attrName>style.visibility</p:attrName>
                                        </p:attrNameLst>
                                      </p:cBhvr>
                                      <p:to>
                                        <p:strVal val="visible"/>
                                      </p:to>
                                    </p:set>
                                    <p:animEffect transition="in" filter="fade">
                                      <p:cBhvr>
                                        <p:cTn id="223" dur="400"/>
                                        <p:tgtEl>
                                          <p:spTgt spid="81"/>
                                        </p:tgtEl>
                                      </p:cBhvr>
                                    </p:animEffect>
                                  </p:childTnLst>
                                </p:cTn>
                              </p:par>
                            </p:childTnLst>
                          </p:cTn>
                        </p:par>
                      </p:childTnLst>
                    </p:cTn>
                  </p:par>
                  <p:par>
                    <p:cTn id="224" fill="hold">
                      <p:stCondLst>
                        <p:cond delay="indefinite"/>
                      </p:stCondLst>
                      <p:childTnLst>
                        <p:par>
                          <p:cTn id="225" fill="hold">
                            <p:stCondLst>
                              <p:cond delay="0"/>
                            </p:stCondLst>
                            <p:childTnLst>
                              <p:par>
                                <p:cTn id="226" presetID="10" presetClass="entr" presetSubtype="0" fill="hold" grpId="0" nodeType="clickEffect">
                                  <p:stCondLst>
                                    <p:cond delay="0"/>
                                  </p:stCondLst>
                                  <p:childTnLst>
                                    <p:set>
                                      <p:cBhvr>
                                        <p:cTn id="227" dur="1" fill="hold">
                                          <p:stCondLst>
                                            <p:cond delay="0"/>
                                          </p:stCondLst>
                                        </p:cTn>
                                        <p:tgtEl>
                                          <p:spTgt spid="83"/>
                                        </p:tgtEl>
                                        <p:attrNameLst>
                                          <p:attrName>style.visibility</p:attrName>
                                        </p:attrNameLst>
                                      </p:cBhvr>
                                      <p:to>
                                        <p:strVal val="visible"/>
                                      </p:to>
                                    </p:set>
                                    <p:animEffect transition="in" filter="fade">
                                      <p:cBhvr>
                                        <p:cTn id="228" dur="400"/>
                                        <p:tgtEl>
                                          <p:spTgt spid="83"/>
                                        </p:tgtEl>
                                      </p:cBhvr>
                                    </p:animEffect>
                                  </p:childTnLst>
                                </p:cTn>
                              </p:par>
                              <p:par>
                                <p:cTn id="229" presetID="10" presetClass="entr" presetSubtype="0" fill="hold" grpId="0" nodeType="clickEffect">
                                  <p:stCondLst>
                                    <p:cond delay="0"/>
                                  </p:stCondLst>
                                  <p:childTnLst>
                                    <p:set>
                                      <p:cBhvr>
                                        <p:cTn id="230" dur="1" fill="hold">
                                          <p:stCondLst>
                                            <p:cond delay="0"/>
                                          </p:stCondLst>
                                        </p:cTn>
                                        <p:tgtEl>
                                          <p:spTgt spid="84"/>
                                        </p:tgtEl>
                                        <p:attrNameLst>
                                          <p:attrName>style.visibility</p:attrName>
                                        </p:attrNameLst>
                                      </p:cBhvr>
                                      <p:to>
                                        <p:strVal val="visible"/>
                                      </p:to>
                                    </p:set>
                                    <p:animEffect transition="in" filter="fade">
                                      <p:cBhvr>
                                        <p:cTn id="231" dur="400"/>
                                        <p:tgtEl>
                                          <p:spTgt spid="84"/>
                                        </p:tgtEl>
                                      </p:cBhvr>
                                    </p:animEffect>
                                  </p:childTnLst>
                                </p:cTn>
                              </p:par>
                            </p:childTnLst>
                          </p:cTn>
                        </p:par>
                      </p:childTnLst>
                    </p:cTn>
                  </p:par>
                  <p:par>
                    <p:cTn id="232" fill="hold">
                      <p:stCondLst>
                        <p:cond delay="indefinite"/>
                      </p:stCondLst>
                      <p:childTnLst>
                        <p:par>
                          <p:cTn id="233" fill="hold">
                            <p:stCondLst>
                              <p:cond delay="0"/>
                            </p:stCondLst>
                            <p:childTnLst>
                              <p:par>
                                <p:cTn id="234" presetID="10" presetClass="entr" presetSubtype="0" fill="hold" grpId="0" nodeType="clickEffect">
                                  <p:stCondLst>
                                    <p:cond delay="0"/>
                                  </p:stCondLst>
                                  <p:childTnLst>
                                    <p:set>
                                      <p:cBhvr>
                                        <p:cTn id="235" dur="1" fill="hold">
                                          <p:stCondLst>
                                            <p:cond delay="0"/>
                                          </p:stCondLst>
                                        </p:cTn>
                                        <p:tgtEl>
                                          <p:spTgt spid="85"/>
                                        </p:tgtEl>
                                        <p:attrNameLst>
                                          <p:attrName>style.visibility</p:attrName>
                                        </p:attrNameLst>
                                      </p:cBhvr>
                                      <p:to>
                                        <p:strVal val="visible"/>
                                      </p:to>
                                    </p:set>
                                    <p:animEffect transition="in" filter="fade">
                                      <p:cBhvr>
                                        <p:cTn id="236" dur="400"/>
                                        <p:tgtEl>
                                          <p:spTgt spid="85"/>
                                        </p:tgtEl>
                                      </p:cBhvr>
                                    </p:animEffect>
                                  </p:childTnLst>
                                </p:cTn>
                              </p:par>
                              <p:par>
                                <p:cTn id="237" presetID="10" presetClass="entr" presetSubtype="0" fill="hold" grpId="0" nodeType="clickEffect">
                                  <p:stCondLst>
                                    <p:cond delay="0"/>
                                  </p:stCondLst>
                                  <p:childTnLst>
                                    <p:set>
                                      <p:cBhvr>
                                        <p:cTn id="238" dur="1" fill="hold">
                                          <p:stCondLst>
                                            <p:cond delay="0"/>
                                          </p:stCondLst>
                                        </p:cTn>
                                        <p:tgtEl>
                                          <p:spTgt spid="86"/>
                                        </p:tgtEl>
                                        <p:attrNameLst>
                                          <p:attrName>style.visibility</p:attrName>
                                        </p:attrNameLst>
                                      </p:cBhvr>
                                      <p:to>
                                        <p:strVal val="visible"/>
                                      </p:to>
                                    </p:set>
                                    <p:animEffect transition="in" filter="fade">
                                      <p:cBhvr>
                                        <p:cTn id="239" dur="400"/>
                                        <p:tgtEl>
                                          <p:spTgt spid="86"/>
                                        </p:tgtEl>
                                      </p:cBhvr>
                                    </p:animEffect>
                                  </p:childTnLst>
                                </p:cTn>
                              </p:par>
                            </p:childTnLst>
                          </p:cTn>
                        </p:par>
                      </p:childTnLst>
                    </p:cTn>
                  </p:par>
                  <p:par>
                    <p:cTn id="240" fill="hold">
                      <p:stCondLst>
                        <p:cond delay="indefinite"/>
                      </p:stCondLst>
                      <p:childTnLst>
                        <p:par>
                          <p:cTn id="241" fill="hold">
                            <p:stCondLst>
                              <p:cond delay="0"/>
                            </p:stCondLst>
                            <p:childTnLst>
                              <p:par>
                                <p:cTn id="242" presetID="10" presetClass="entr" presetSubtype="0" fill="hold" grpId="0" nodeType="clickEffect">
                                  <p:stCondLst>
                                    <p:cond delay="0"/>
                                  </p:stCondLst>
                                  <p:childTnLst>
                                    <p:set>
                                      <p:cBhvr>
                                        <p:cTn id="243" dur="1" fill="hold">
                                          <p:stCondLst>
                                            <p:cond delay="0"/>
                                          </p:stCondLst>
                                        </p:cTn>
                                        <p:tgtEl>
                                          <p:spTgt spid="87"/>
                                        </p:tgtEl>
                                        <p:attrNameLst>
                                          <p:attrName>style.visibility</p:attrName>
                                        </p:attrNameLst>
                                      </p:cBhvr>
                                      <p:to>
                                        <p:strVal val="visible"/>
                                      </p:to>
                                    </p:set>
                                    <p:animEffect transition="in" filter="fade">
                                      <p:cBhvr>
                                        <p:cTn id="244" dur="400"/>
                                        <p:tgtEl>
                                          <p:spTgt spid="87"/>
                                        </p:tgtEl>
                                      </p:cBhvr>
                                    </p:animEffect>
                                  </p:childTnLst>
                                </p:cTn>
                              </p:par>
                              <p:par>
                                <p:cTn id="245" presetID="10" presetClass="entr" presetSubtype="0" fill="hold" grpId="0" nodeType="clickEffect">
                                  <p:stCondLst>
                                    <p:cond delay="0"/>
                                  </p:stCondLst>
                                  <p:childTnLst>
                                    <p:set>
                                      <p:cBhvr>
                                        <p:cTn id="246" dur="1" fill="hold">
                                          <p:stCondLst>
                                            <p:cond delay="0"/>
                                          </p:stCondLst>
                                        </p:cTn>
                                        <p:tgtEl>
                                          <p:spTgt spid="88"/>
                                        </p:tgtEl>
                                        <p:attrNameLst>
                                          <p:attrName>style.visibility</p:attrName>
                                        </p:attrNameLst>
                                      </p:cBhvr>
                                      <p:to>
                                        <p:strVal val="visible"/>
                                      </p:to>
                                    </p:set>
                                    <p:animEffect transition="in" filter="fade">
                                      <p:cBhvr>
                                        <p:cTn id="247" dur="400"/>
                                        <p:tgtEl>
                                          <p:spTgt spid="88"/>
                                        </p:tgtEl>
                                      </p:cBhvr>
                                    </p:animEffect>
                                  </p:childTnLst>
                                </p:cTn>
                              </p:par>
                            </p:childTnLst>
                          </p:cTn>
                        </p:par>
                      </p:childTnLst>
                    </p:cTn>
                  </p:par>
                  <p:par>
                    <p:cTn id="248" fill="hold">
                      <p:stCondLst>
                        <p:cond delay="indefinite"/>
                      </p:stCondLst>
                      <p:childTnLst>
                        <p:par>
                          <p:cTn id="249" fill="hold">
                            <p:stCondLst>
                              <p:cond delay="0"/>
                            </p:stCondLst>
                            <p:childTnLst>
                              <p:par>
                                <p:cTn id="250" presetID="10" presetClass="entr" presetSubtype="0" fill="hold" grpId="0" nodeType="clickEffect">
                                  <p:stCondLst>
                                    <p:cond delay="0"/>
                                  </p:stCondLst>
                                  <p:childTnLst>
                                    <p:set>
                                      <p:cBhvr>
                                        <p:cTn id="251" dur="1" fill="hold">
                                          <p:stCondLst>
                                            <p:cond delay="0"/>
                                          </p:stCondLst>
                                        </p:cTn>
                                        <p:tgtEl>
                                          <p:spTgt spid="89"/>
                                        </p:tgtEl>
                                        <p:attrNameLst>
                                          <p:attrName>style.visibility</p:attrName>
                                        </p:attrNameLst>
                                      </p:cBhvr>
                                      <p:to>
                                        <p:strVal val="visible"/>
                                      </p:to>
                                    </p:set>
                                    <p:animEffect transition="in" filter="fade">
                                      <p:cBhvr>
                                        <p:cTn id="252" dur="400"/>
                                        <p:tgtEl>
                                          <p:spTgt spid="89"/>
                                        </p:tgtEl>
                                      </p:cBhvr>
                                    </p:animEffect>
                                  </p:childTnLst>
                                </p:cTn>
                              </p:par>
                              <p:par>
                                <p:cTn id="253" presetID="10" presetClass="entr" presetSubtype="0" fill="hold" grpId="0" nodeType="clickEffect">
                                  <p:stCondLst>
                                    <p:cond delay="0"/>
                                  </p:stCondLst>
                                  <p:childTnLst>
                                    <p:set>
                                      <p:cBhvr>
                                        <p:cTn id="254" dur="1" fill="hold">
                                          <p:stCondLst>
                                            <p:cond delay="0"/>
                                          </p:stCondLst>
                                        </p:cTn>
                                        <p:tgtEl>
                                          <p:spTgt spid="90"/>
                                        </p:tgtEl>
                                        <p:attrNameLst>
                                          <p:attrName>style.visibility</p:attrName>
                                        </p:attrNameLst>
                                      </p:cBhvr>
                                      <p:to>
                                        <p:strVal val="visible"/>
                                      </p:to>
                                    </p:set>
                                    <p:animEffect transition="in" filter="fade">
                                      <p:cBhvr>
                                        <p:cTn id="255" dur="4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Quantization error enters at several points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wider accumulator cannot restore information lost before multiplication.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Cache quantization</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Latent representation error</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Weight quantization</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Projection parameter error</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Q/K/V rounding</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Attention operand error</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B799FF"/>
                </a:solidFill>
                <a:latin typeface="DejaVu Sans"/>
              </a:rPr>
              <a:t>Softmax + merge</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Errors can change relative attention mass</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cached output scale is a policy to validate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Twice the new-token range is headroom—not a bound on all cached values.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New-token amax</a:t>
            </a:r>
          </a:p>
        </p:txBody>
      </p:sp>
      <p:sp>
        <p:nvSpPr>
          <p:cNvPr id="13" name="TextBox 12"/>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Estimate current K/V ranges</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Cached output scale</a:t>
            </a:r>
          </a:p>
        </p:txBody>
      </p:sp>
      <p:sp>
        <p:nvSpPr>
          <p:cNvPr id="16" name="TextBox 15"/>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2 × max(new-token descale, 10⁻⁶)</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Old cached outlier</a:t>
            </a:r>
          </a:p>
        </p:txBody>
      </p:sp>
      <p:sp>
        <p:nvSpPr>
          <p:cNvPr id="19" name="TextBox 18"/>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May exceed that range</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Validation</a:t>
            </a:r>
          </a:p>
        </p:txBody>
      </p:sp>
      <p:sp>
        <p:nvSpPr>
          <p:cNvPr id="22" name="TextBox 21"/>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Measure clipping, output error and LSE error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Validate three different questions separately</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Arithmetic, quantization fidelity and model quality require different evidence.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52CFD1"/>
                </a:solidFill>
                <a:latin typeface="DejaVu Sans"/>
              </a:rPr>
              <a:t>Same FP8 operands</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Does the kernel compute the intended quantized operation?</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Original BF16 reference</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How much error does the full quantized path introduce?</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End-to-end model task</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Does the executed implementation preserve task quality?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Accuracy evidence is strong—but has a defined scope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prototype passed full GSM8K; native-PR validation remains separate.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3969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1,319</a:t>
            </a:r>
          </a:p>
        </p:txBody>
      </p:sp>
      <p:sp>
        <p:nvSpPr>
          <p:cNvPr id="13" name="TextBox 12"/>
          <p:cNvSpPr txBox="1"/>
          <p:nvPr/>
        </p:nvSpPr>
        <p:spPr>
          <a:xfrm>
            <a:off x="768096" y="289864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GSM8K questions</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13969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69AEFF"/>
                </a:solidFill>
                <a:latin typeface="DejaVu Sans"/>
              </a:rPr>
              <a:t>96.9674%</a:t>
            </a:r>
          </a:p>
        </p:txBody>
      </p:sp>
      <p:sp>
        <p:nvSpPr>
          <p:cNvPr id="16" name="TextBox 15"/>
          <p:cNvSpPr txBox="1"/>
          <p:nvPr/>
        </p:nvSpPr>
        <p:spPr>
          <a:xfrm>
            <a:off x="6414516" y="289864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Strict: 1,279 correct</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05993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51D79B"/>
                </a:solidFill>
                <a:latin typeface="DejaVu Sans"/>
              </a:rPr>
              <a:t>96.8916%</a:t>
            </a:r>
          </a:p>
        </p:txBody>
      </p:sp>
      <p:sp>
        <p:nvSpPr>
          <p:cNvPr id="19" name="TextBox 18"/>
          <p:cNvSpPr txBox="1"/>
          <p:nvPr/>
        </p:nvSpPr>
        <p:spPr>
          <a:xfrm>
            <a:off x="768096" y="481888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Flexible: 1,278 correct</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4516" y="405993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B799FF"/>
                </a:solidFill>
                <a:latin typeface="DejaVu Sans"/>
              </a:rPr>
              <a:t>8 workers</a:t>
            </a:r>
          </a:p>
        </p:txBody>
      </p:sp>
      <p:sp>
        <p:nvSpPr>
          <p:cNvPr id="22" name="TextBox 21"/>
          <p:cNvSpPr txBox="1"/>
          <p:nvPr/>
        </p:nvSpPr>
        <p:spPr>
          <a:xfrm>
            <a:off x="6414516" y="481888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Optimized-path invocation verified</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ACCURACY AND EXECUTION PROOF</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Execution proof is part of correctness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passing test is useful only if it exercised the optimized path.</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2487168"/>
            <a:ext cx="2615184" cy="2286000"/>
          </a:xfrm>
          <a:prstGeom prst="roundRect">
            <a:avLst>
              <a:gd name="adj" fmla="val 9000"/>
            </a:avLst>
          </a:prstGeom>
          <a:solidFill>
            <a:srgbClr val="152239"/>
          </a:solidFill>
          <a:ln w="14604">
            <a:solidFill>
              <a:srgbClr val="CB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670048"/>
            <a:ext cx="54864" cy="320040"/>
          </a:xfrm>
          <a:prstGeom prst="rect">
            <a:avLst/>
          </a:prstGeom>
          <a:solidFill>
            <a:srgbClr val="CBD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CBD7E6"/>
                </a:solidFill>
                <a:latin typeface="DejaVu Sans"/>
              </a:rPr>
              <a:t>Pin the source</a:t>
            </a:r>
          </a:p>
        </p:txBody>
      </p:sp>
      <p:sp>
        <p:nvSpPr>
          <p:cNvPr id="14" name="TextBox 13"/>
          <p:cNvSpPr txBox="1"/>
          <p:nvPr/>
        </p:nvSpPr>
        <p:spPr>
          <a:xfrm>
            <a:off x="786384"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Exact serving code and image</a:t>
            </a:r>
          </a:p>
        </p:txBody>
      </p:sp>
      <p:sp>
        <p:nvSpPr>
          <p:cNvPr id="15" name="Rounded Rectangle 14"/>
          <p:cNvSpPr/>
          <p:nvPr/>
        </p:nvSpPr>
        <p:spPr>
          <a:xfrm>
            <a:off x="3383280" y="2487168"/>
            <a:ext cx="2615184" cy="228600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8728" y="2670048"/>
            <a:ext cx="54864" cy="32004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4176"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51D79B"/>
                </a:solidFill>
                <a:latin typeface="DejaVu Sans"/>
              </a:rPr>
              <a:t>Verify operands</a:t>
            </a:r>
          </a:p>
        </p:txBody>
      </p:sp>
      <p:sp>
        <p:nvSpPr>
          <p:cNvPr id="18" name="TextBox 17"/>
          <p:cNvSpPr txBox="1"/>
          <p:nvPr/>
        </p:nvSpPr>
        <p:spPr>
          <a:xfrm>
            <a:off x="3602736"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Dtypes, layouts and scales</a:t>
            </a:r>
          </a:p>
        </p:txBody>
      </p:sp>
      <p:cxnSp>
        <p:nvCxnSpPr>
          <p:cNvPr id="19" name="Connector 18"/>
          <p:cNvCxnSpPr/>
          <p:nvPr/>
        </p:nvCxnSpPr>
        <p:spPr>
          <a:xfrm>
            <a:off x="3227832"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99632" y="2487168"/>
            <a:ext cx="2615184" cy="228600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670048"/>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Observe calls</a:t>
            </a:r>
          </a:p>
        </p:txBody>
      </p:sp>
      <p:sp>
        <p:nvSpPr>
          <p:cNvPr id="23" name="TextBox 22"/>
          <p:cNvSpPr txBox="1"/>
          <p:nvPr/>
        </p:nvSpPr>
        <p:spPr>
          <a:xfrm>
            <a:off x="6419088"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Successful execution on all workers</a:t>
            </a:r>
          </a:p>
        </p:txBody>
      </p:sp>
      <p:cxnSp>
        <p:nvCxnSpPr>
          <p:cNvPr id="24" name="Connector 23"/>
          <p:cNvCxnSpPr/>
          <p:nvPr/>
        </p:nvCxnSpPr>
        <p:spPr>
          <a:xfrm>
            <a:off x="6044184"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15984" y="2487168"/>
            <a:ext cx="2615184" cy="228600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71432" y="2670048"/>
            <a:ext cx="54864" cy="320040"/>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2670048"/>
            <a:ext cx="2157984" cy="658368"/>
          </a:xfrm>
          <a:prstGeom prst="rect">
            <a:avLst/>
          </a:prstGeom>
          <a:noFill/>
        </p:spPr>
        <p:txBody>
          <a:bodyPr wrap="square" lIns="13716" rIns="13716" tIns="0" bIns="0">
            <a:spAutoFit/>
          </a:bodyPr>
          <a:lstStyle/>
          <a:p>
            <a:pPr algn="l">
              <a:spcBef>
                <a:spcPts val="0"/>
              </a:spcBef>
              <a:spcAft>
                <a:spcPts val="0"/>
              </a:spcAft>
            </a:pPr>
            <a:r>
              <a:rPr sz="2000" b="1">
                <a:solidFill>
                  <a:srgbClr val="B799FF"/>
                </a:solidFill>
                <a:latin typeface="DejaVu Sans"/>
              </a:rPr>
              <a:t>Separate phases</a:t>
            </a:r>
          </a:p>
        </p:txBody>
      </p:sp>
      <p:sp>
        <p:nvSpPr>
          <p:cNvPr id="28" name="TextBox 27"/>
          <p:cNvSpPr txBox="1"/>
          <p:nvPr/>
        </p:nvSpPr>
        <p:spPr>
          <a:xfrm>
            <a:off x="9235440" y="3401568"/>
            <a:ext cx="2194560" cy="126187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Warmup, capture, evaluation and replay</a:t>
            </a:r>
          </a:p>
        </p:txBody>
      </p:sp>
      <p:cxnSp>
        <p:nvCxnSpPr>
          <p:cNvPr id="29" name="Connector 28"/>
          <p:cNvCxnSpPr/>
          <p:nvPr/>
        </p:nvCxnSpPr>
        <p:spPr>
          <a:xfrm>
            <a:off x="8860536" y="3602736"/>
            <a:ext cx="128016" cy="0"/>
          </a:xfrm>
          <a:prstGeom prst="line">
            <a:avLst/>
          </a:prstGeom>
          <a:ln w="22860">
            <a:solidFill>
              <a:srgbClr val="A7B8CD"/>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The three established performance stages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Total input + output tokens/s/GPU under the recorded full configurations.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640080" y="2157984"/>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Baseline</a:t>
            </a:r>
          </a:p>
        </p:txBody>
      </p:sp>
      <p:sp>
        <p:nvSpPr>
          <p:cNvPr id="12" name="Rectangle 11"/>
          <p:cNvSpPr/>
          <p:nvPr/>
        </p:nvSpPr>
        <p:spPr>
          <a:xfrm>
            <a:off x="4160520" y="2157984"/>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157984"/>
            <a:ext cx="5698921" cy="36576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2587752"/>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69AEFF"/>
                </a:solidFill>
                <a:latin typeface="DejaVu Sans"/>
              </a:rPr>
              <a:t>15,476.46881</a:t>
            </a:r>
          </a:p>
        </p:txBody>
      </p:sp>
      <p:sp>
        <p:nvSpPr>
          <p:cNvPr id="15" name="TextBox 14"/>
          <p:cNvSpPr txBox="1"/>
          <p:nvPr/>
        </p:nvSpPr>
        <p:spPr>
          <a:xfrm>
            <a:off x="640080" y="3035808"/>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Cached FP8 FMHA</a:t>
            </a:r>
          </a:p>
        </p:txBody>
      </p:sp>
      <p:sp>
        <p:nvSpPr>
          <p:cNvPr id="16" name="Rectangle 15"/>
          <p:cNvSpPr/>
          <p:nvPr/>
        </p:nvSpPr>
        <p:spPr>
          <a:xfrm>
            <a:off x="4160520" y="3035808"/>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60520" y="3035808"/>
            <a:ext cx="6228899" cy="36576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60520" y="3465576"/>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52CFD1"/>
                </a:solidFill>
                <a:latin typeface="DejaVu Sans"/>
              </a:rPr>
              <a:t>16,915.72154</a:t>
            </a:r>
          </a:p>
        </p:txBody>
      </p:sp>
      <p:sp>
        <p:nvSpPr>
          <p:cNvPr id="19" name="TextBox 18"/>
          <p:cNvSpPr txBox="1"/>
          <p:nvPr/>
        </p:nvSpPr>
        <p:spPr>
          <a:xfrm>
            <a:off x="640080" y="3913631"/>
            <a:ext cx="3657600" cy="274320"/>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FP8 projection + FMHA</a:t>
            </a:r>
          </a:p>
        </p:txBody>
      </p:sp>
      <p:sp>
        <p:nvSpPr>
          <p:cNvPr id="20" name="Rectangle 19"/>
          <p:cNvSpPr/>
          <p:nvPr/>
        </p:nvSpPr>
        <p:spPr>
          <a:xfrm>
            <a:off x="4160520" y="3913631"/>
            <a:ext cx="6812280" cy="365760"/>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60520" y="3913631"/>
            <a:ext cx="6409467" cy="365760"/>
          </a:xfrm>
          <a:prstGeom prst="rect">
            <a:avLst/>
          </a:prstGeom>
          <a:solidFill>
            <a:srgbClr val="51D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60520" y="4343399"/>
            <a:ext cx="6812280" cy="246888"/>
          </a:xfrm>
          <a:prstGeom prst="rect">
            <a:avLst/>
          </a:prstGeom>
          <a:noFill/>
        </p:spPr>
        <p:txBody>
          <a:bodyPr wrap="square" lIns="13716" rIns="13716" tIns="0" bIns="0">
            <a:spAutoFit/>
          </a:bodyPr>
          <a:lstStyle/>
          <a:p>
            <a:pPr algn="l">
              <a:spcBef>
                <a:spcPts val="0"/>
              </a:spcBef>
              <a:spcAft>
                <a:spcPts val="0"/>
              </a:spcAft>
            </a:pPr>
            <a:r>
              <a:rPr sz="1300" b="1">
                <a:solidFill>
                  <a:srgbClr val="51D79B"/>
                </a:solidFill>
                <a:latin typeface="DejaVu Sans"/>
              </a:rPr>
              <a:t>17,406.08912</a:t>
            </a:r>
          </a:p>
        </p:txBody>
      </p:sp>
      <p:sp>
        <p:nvSpPr>
          <p:cNvPr id="23" name="TextBox 22"/>
          <p:cNvSpPr txBox="1"/>
          <p:nvPr/>
        </p:nvSpPr>
        <p:spPr>
          <a:xfrm>
            <a:off x="685800" y="5056632"/>
            <a:ext cx="10515600" cy="512064"/>
          </a:xfrm>
          <a:prstGeom prst="rect">
            <a:avLst/>
          </a:prstGeom>
          <a:noFill/>
        </p:spPr>
        <p:txBody>
          <a:bodyPr wrap="square" lIns="13716" rIns="13716" tIns="0" bIns="0">
            <a:spAutoFit/>
          </a:bodyPr>
          <a:lstStyle/>
          <a:p>
            <a:pPr algn="l">
              <a:spcBef>
                <a:spcPts val="0"/>
              </a:spcBef>
              <a:spcAft>
                <a:spcPts val="0"/>
              </a:spcAft>
            </a:pPr>
            <a:r>
              <a:rPr sz="2100" b="1">
                <a:solidFill>
                  <a:srgbClr val="F2F6FC"/>
                </a:solidFill>
                <a:latin typeface="DejaVu Sans"/>
              </a:rPr>
              <a:t>+9.30% → +2.90% additional  |  +12.47% vs baseline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Read throughput and latency together</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 higher token rate can coexist with worse user-visible responsiveness.</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66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3969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52CFD1"/>
                </a:solidFill>
                <a:latin typeface="DejaVu Sans"/>
              </a:rPr>
              <a:t>TTFT</a:t>
            </a:r>
          </a:p>
        </p:txBody>
      </p:sp>
      <p:sp>
        <p:nvSpPr>
          <p:cNvPr id="13" name="TextBox 12"/>
          <p:cNvSpPr txBox="1"/>
          <p:nvPr/>
        </p:nvSpPr>
        <p:spPr>
          <a:xfrm>
            <a:off x="768096" y="289864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Time to first output token</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13969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69AEFF"/>
                </a:solidFill>
                <a:latin typeface="DejaVu Sans"/>
              </a:rPr>
              <a:t>ITL / TPOT</a:t>
            </a:r>
          </a:p>
        </p:txBody>
      </p:sp>
      <p:sp>
        <p:nvSpPr>
          <p:cNvPr id="16" name="TextBox 15"/>
          <p:cNvSpPr txBox="1"/>
          <p:nvPr/>
        </p:nvSpPr>
        <p:spPr>
          <a:xfrm>
            <a:off x="6414516" y="289864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Spacing or average time per output token</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05993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51D79B"/>
                </a:solidFill>
                <a:latin typeface="DejaVu Sans"/>
              </a:rPr>
              <a:t>Output tok/s</a:t>
            </a:r>
          </a:p>
        </p:txBody>
      </p:sp>
      <p:sp>
        <p:nvSpPr>
          <p:cNvPr id="19" name="TextBox 18"/>
          <p:cNvSpPr txBox="1"/>
          <p:nvPr/>
        </p:nvSpPr>
        <p:spPr>
          <a:xfrm>
            <a:off x="768096" y="481888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Actual generation rate</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4516" y="4059936"/>
            <a:ext cx="5015483" cy="566928"/>
          </a:xfrm>
          <a:prstGeom prst="rect">
            <a:avLst/>
          </a:prstGeom>
          <a:noFill/>
        </p:spPr>
        <p:txBody>
          <a:bodyPr wrap="square" lIns="13716" rIns="13716" tIns="0" bIns="0">
            <a:spAutoFit/>
          </a:bodyPr>
          <a:lstStyle/>
          <a:p>
            <a:pPr algn="l">
              <a:spcBef>
                <a:spcPts val="0"/>
              </a:spcBef>
              <a:spcAft>
                <a:spcPts val="0"/>
              </a:spcAft>
            </a:pPr>
            <a:r>
              <a:rPr sz="3000" b="1">
                <a:solidFill>
                  <a:srgbClr val="B799FF"/>
                </a:solidFill>
                <a:latin typeface="DejaVu Sans"/>
              </a:rPr>
              <a:t>Total tok/s</a:t>
            </a:r>
          </a:p>
        </p:txBody>
      </p:sp>
      <p:sp>
        <p:nvSpPr>
          <p:cNvPr id="22" name="TextBox 21"/>
          <p:cNvSpPr txBox="1"/>
          <p:nvPr/>
        </p:nvSpPr>
        <p:spPr>
          <a:xfrm>
            <a:off x="6414516" y="4818888"/>
            <a:ext cx="5015483" cy="530352"/>
          </a:xfrm>
          <a:prstGeom prst="rect">
            <a:avLst/>
          </a:prstGeom>
          <a:noFill/>
        </p:spPr>
        <p:txBody>
          <a:bodyPr wrap="square" lIns="13716" rIns="13716" tIns="0" bIns="0">
            <a:spAutoFit/>
          </a:bodyPr>
          <a:lstStyle/>
          <a:p>
            <a:pPr algn="l">
              <a:spcBef>
                <a:spcPts val="0"/>
              </a:spcBef>
              <a:spcAft>
                <a:spcPts val="0"/>
              </a:spcAft>
            </a:pPr>
            <a:r>
              <a:rPr sz="1500" b="0">
                <a:solidFill>
                  <a:srgbClr val="F2F6FC"/>
                </a:solidFill>
                <a:latin typeface="DejaVu Sans"/>
              </a:rPr>
              <a:t>Input + output, including workload reuse semantics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700" b="1">
                <a:solidFill>
                  <a:srgbClr val="F2F6FC"/>
                </a:solidFill>
                <a:latin typeface="DejaVu Sans"/>
              </a:rPr>
              <a:t>Profile steady state before choosing the next kernel</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Locate the critical path, then distinguish compute, memory and waiting.</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67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TextBox 10"/>
          <p:cNvSpPr txBox="1"/>
          <p:nvPr/>
        </p:nvSpPr>
        <p:spPr>
          <a:xfrm>
            <a:off x="667512" y="244144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52CFD1"/>
                </a:solidFill>
                <a:latin typeface="DejaVu Sans"/>
              </a:rPr>
              <a:t>CPU / scheduler</a:t>
            </a:r>
          </a:p>
        </p:txBody>
      </p:sp>
      <p:sp>
        <p:nvSpPr>
          <p:cNvPr id="12" name="Rectangle 11"/>
          <p:cNvSpPr/>
          <p:nvPr/>
        </p:nvSpPr>
        <p:spPr>
          <a:xfrm>
            <a:off x="4791456"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62472"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33488"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875519" y="2359152"/>
            <a:ext cx="1060704" cy="521207"/>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40156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69AEFF"/>
                </a:solidFill>
                <a:latin typeface="DejaVu Sans"/>
              </a:rPr>
              <a:t>GPU compute</a:t>
            </a:r>
          </a:p>
        </p:txBody>
      </p:sp>
      <p:sp>
        <p:nvSpPr>
          <p:cNvPr id="17" name="Rectangle 16"/>
          <p:cNvSpPr/>
          <p:nvPr/>
        </p:nvSpPr>
        <p:spPr>
          <a:xfrm>
            <a:off x="3520440"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91456"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62472"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04504"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875519" y="3319272"/>
            <a:ext cx="1060704" cy="521207"/>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361688"/>
            <a:ext cx="2560320" cy="420624"/>
          </a:xfrm>
          <a:prstGeom prst="rect">
            <a:avLst/>
          </a:prstGeom>
          <a:noFill/>
        </p:spPr>
        <p:txBody>
          <a:bodyPr wrap="square" lIns="13716" rIns="13716" tIns="0" bIns="0">
            <a:spAutoFit/>
          </a:bodyPr>
          <a:lstStyle/>
          <a:p>
            <a:pPr algn="l">
              <a:spcBef>
                <a:spcPts val="0"/>
              </a:spcBef>
              <a:spcAft>
                <a:spcPts val="0"/>
              </a:spcAft>
            </a:pPr>
            <a:r>
              <a:rPr sz="1600" b="1">
                <a:solidFill>
                  <a:srgbClr val="B799FF"/>
                </a:solidFill>
                <a:latin typeface="DejaVu Sans"/>
              </a:rPr>
              <a:t>Communication</a:t>
            </a:r>
          </a:p>
        </p:txBody>
      </p:sp>
      <p:sp>
        <p:nvSpPr>
          <p:cNvPr id="23" name="Rectangle 22"/>
          <p:cNvSpPr/>
          <p:nvPr/>
        </p:nvSpPr>
        <p:spPr>
          <a:xfrm>
            <a:off x="3520440"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91456"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33488"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04504"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75519" y="4279392"/>
            <a:ext cx="1060704" cy="521207"/>
          </a:xfrm>
          <a:prstGeom prst="rect">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0" y="5385816"/>
            <a:ext cx="6400800" cy="256032"/>
          </a:xfrm>
          <a:prstGeom prst="rect">
            <a:avLst/>
          </a:prstGeom>
          <a:noFill/>
        </p:spPr>
        <p:txBody>
          <a:bodyPr wrap="square" lIns="13716" rIns="13716" tIns="0" bIns="0">
            <a:spAutoFit/>
          </a:bodyPr>
          <a:lstStyle/>
          <a:p>
            <a:pPr algn="l">
              <a:spcBef>
                <a:spcPts val="0"/>
              </a:spcBef>
              <a:spcAft>
                <a:spcPts val="0"/>
              </a:spcAft>
            </a:pPr>
            <a:r>
              <a:rPr sz="1200" b="0">
                <a:solidFill>
                  <a:srgbClr val="A7B8CD"/>
                </a:solidFill>
                <a:latin typeface="DejaVu Sans"/>
              </a:rPr>
              <a:t>TIME →   (schematic, not a measured trace)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400"/>
                                        <p:tgtEl>
                                          <p:spTgt spid="17"/>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00"/>
                                        <p:tgtEl>
                                          <p:spTgt spid="20"/>
                                        </p:tgtEl>
                                      </p:cBhvr>
                                    </p:animEffect>
                                  </p:childTnLst>
                                </p:cTn>
                              </p:par>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00"/>
                                        <p:tgtEl>
                                          <p:spTgt spid="23"/>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00"/>
                                        <p:tgtEl>
                                          <p:spTgt spid="24"/>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400"/>
                                        <p:tgtEl>
                                          <p:spTgt spid="25"/>
                                        </p:tgtEl>
                                      </p:cBhvr>
                                    </p:animEffect>
                                  </p:childTnLst>
                                </p:cTn>
                              </p:par>
                              <p:par>
                                <p:cTn id="45" presetID="10"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00"/>
                                        <p:tgtEl>
                                          <p:spTgt spid="26"/>
                                        </p:tgtEl>
                                      </p:cBhvr>
                                    </p:animEffect>
                                  </p:childTnLst>
                                </p:cTn>
                              </p:par>
                              <p:par>
                                <p:cTn id="48" presetID="10" presetClass="entr" presetSubtype="0"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Amdahl's law puts a ceiling on local speedups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fastest kernel matters only for the fraction of time it can remove.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68 / 75</a:t>
            </a:r>
          </a:p>
        </p:txBody>
      </p:sp>
      <p:sp>
        <p:nvSpPr>
          <p:cNvPr id="10" name="Rectangle 9"/>
          <p:cNvSpPr/>
          <p:nvPr/>
        </p:nvSpPr>
        <p:spPr>
          <a:xfrm>
            <a:off x="457200" y="5815584"/>
            <a:ext cx="11274552" cy="43891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97880"/>
            <a:ext cx="10881360" cy="256032"/>
          </a:xfrm>
          <a:prstGeom prst="rect">
            <a:avLst/>
          </a:prstGeom>
          <a:noFill/>
        </p:spPr>
        <p:txBody>
          <a:bodyPr wrap="square" lIns="13716" rIns="13716" tIns="0" bIns="0">
            <a:spAutoFit/>
          </a:bodyPr>
          <a:lstStyle/>
          <a:p>
            <a:pPr algn="l">
              <a:spcBef>
                <a:spcPts val="0"/>
              </a:spcBef>
              <a:spcAft>
                <a:spcPts val="0"/>
              </a:spcAft>
            </a:pPr>
            <a:r>
              <a:rPr sz="1300" b="1">
                <a:solidFill>
                  <a:srgbClr val="F2F6FC"/>
                </a:solidFill>
                <a:latin typeface="DejaVu Sans"/>
              </a:rPr>
              <a:t>Overall speedup = 1 / [(1 − f) + f/s]</a:t>
            </a:r>
          </a:p>
        </p:txBody>
      </p:sp>
      <p:sp>
        <p:nvSpPr>
          <p:cNvPr id="12" name="Oval 11"/>
          <p:cNvSpPr/>
          <p:nvPr/>
        </p:nvSpPr>
        <p:spPr>
          <a:xfrm>
            <a:off x="621792" y="1993392"/>
            <a:ext cx="429768" cy="429768"/>
          </a:xfrm>
          <a:prstGeom prst="ellipse">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06654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1</a:t>
            </a:r>
          </a:p>
        </p:txBody>
      </p:sp>
      <p:sp>
        <p:nvSpPr>
          <p:cNvPr id="14" name="TextBox 13"/>
          <p:cNvSpPr txBox="1"/>
          <p:nvPr/>
        </p:nvSpPr>
        <p:spPr>
          <a:xfrm>
            <a:off x="1234440" y="197510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52CFD1"/>
                </a:solidFill>
                <a:latin typeface="DejaVu Sans"/>
              </a:rPr>
              <a:t>Fraction f</a:t>
            </a:r>
          </a:p>
        </p:txBody>
      </p:sp>
      <p:sp>
        <p:nvSpPr>
          <p:cNvPr id="15" name="TextBox 14"/>
          <p:cNvSpPr txBox="1"/>
          <p:nvPr/>
        </p:nvSpPr>
        <p:spPr>
          <a:xfrm>
            <a:off x="4142232" y="197510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Share of end-to-end time affected</a:t>
            </a:r>
          </a:p>
        </p:txBody>
      </p:sp>
      <p:sp>
        <p:nvSpPr>
          <p:cNvPr id="16" name="Oval 15"/>
          <p:cNvSpPr/>
          <p:nvPr/>
        </p:nvSpPr>
        <p:spPr>
          <a:xfrm>
            <a:off x="621792" y="3182112"/>
            <a:ext cx="429768" cy="429768"/>
          </a:xfrm>
          <a:prstGeom prst="ellipse">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25526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2</a:t>
            </a:r>
          </a:p>
        </p:txBody>
      </p:sp>
      <p:sp>
        <p:nvSpPr>
          <p:cNvPr id="18" name="TextBox 17"/>
          <p:cNvSpPr txBox="1"/>
          <p:nvPr/>
        </p:nvSpPr>
        <p:spPr>
          <a:xfrm>
            <a:off x="1234440" y="316382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69AEFF"/>
                </a:solidFill>
                <a:latin typeface="DejaVu Sans"/>
              </a:rPr>
              <a:t>Local speedup s</a:t>
            </a:r>
          </a:p>
        </p:txBody>
      </p:sp>
      <p:sp>
        <p:nvSpPr>
          <p:cNvPr id="19" name="TextBox 18"/>
          <p:cNvSpPr txBox="1"/>
          <p:nvPr/>
        </p:nvSpPr>
        <p:spPr>
          <a:xfrm>
            <a:off x="4142232" y="316382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Improvement to that portion</a:t>
            </a:r>
          </a:p>
        </p:txBody>
      </p:sp>
      <p:sp>
        <p:nvSpPr>
          <p:cNvPr id="20" name="Oval 19"/>
          <p:cNvSpPr/>
          <p:nvPr/>
        </p:nvSpPr>
        <p:spPr>
          <a:xfrm>
            <a:off x="621792" y="4370832"/>
            <a:ext cx="429768" cy="429768"/>
          </a:xfrm>
          <a:prstGeom prst="ellipse">
            <a:avLst/>
          </a:prstGeom>
          <a:solidFill>
            <a:srgbClr val="B7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443984"/>
            <a:ext cx="365760" cy="201168"/>
          </a:xfrm>
          <a:prstGeom prst="rect">
            <a:avLst/>
          </a:prstGeom>
          <a:noFill/>
        </p:spPr>
        <p:txBody>
          <a:bodyPr wrap="square" lIns="13716" rIns="13716" tIns="0" bIns="0">
            <a:spAutoFit/>
          </a:bodyPr>
          <a:lstStyle/>
          <a:p>
            <a:pPr algn="ctr">
              <a:spcBef>
                <a:spcPts val="0"/>
              </a:spcBef>
              <a:spcAft>
                <a:spcPts val="0"/>
              </a:spcAft>
            </a:pPr>
            <a:r>
              <a:rPr sz="1200" b="1">
                <a:solidFill>
                  <a:srgbClr val="0B1220"/>
                </a:solidFill>
                <a:latin typeface="DejaVu Sans"/>
              </a:rPr>
              <a:t>3</a:t>
            </a:r>
          </a:p>
        </p:txBody>
      </p:sp>
      <p:sp>
        <p:nvSpPr>
          <p:cNvPr id="22" name="TextBox 21"/>
          <p:cNvSpPr txBox="1"/>
          <p:nvPr/>
        </p:nvSpPr>
        <p:spPr>
          <a:xfrm>
            <a:off x="1234440" y="4352544"/>
            <a:ext cx="2788920" cy="484632"/>
          </a:xfrm>
          <a:prstGeom prst="rect">
            <a:avLst/>
          </a:prstGeom>
          <a:noFill/>
        </p:spPr>
        <p:txBody>
          <a:bodyPr wrap="square" lIns="13716" rIns="13716" tIns="0" bIns="0">
            <a:spAutoFit/>
          </a:bodyPr>
          <a:lstStyle/>
          <a:p>
            <a:pPr algn="l">
              <a:spcBef>
                <a:spcPts val="0"/>
              </a:spcBef>
              <a:spcAft>
                <a:spcPts val="0"/>
              </a:spcAft>
            </a:pPr>
            <a:r>
              <a:rPr sz="1900" b="1">
                <a:solidFill>
                  <a:srgbClr val="B799FF"/>
                </a:solidFill>
                <a:latin typeface="DejaVu Sans"/>
              </a:rPr>
              <a:t>Remaining work</a:t>
            </a:r>
          </a:p>
        </p:txBody>
      </p:sp>
      <p:sp>
        <p:nvSpPr>
          <p:cNvPr id="23" name="TextBox 22"/>
          <p:cNvSpPr txBox="1"/>
          <p:nvPr/>
        </p:nvSpPr>
        <p:spPr>
          <a:xfrm>
            <a:off x="4142232" y="4352544"/>
            <a:ext cx="7178040" cy="768096"/>
          </a:xfrm>
          <a:prstGeom prst="rect">
            <a:avLst/>
          </a:prstGeom>
          <a:noFill/>
        </p:spPr>
        <p:txBody>
          <a:bodyPr wrap="square" lIns="13716" rIns="13716" tIns="0" bIns="0">
            <a:spAutoFit/>
          </a:bodyPr>
          <a:lstStyle/>
          <a:p>
            <a:pPr algn="l">
              <a:spcBef>
                <a:spcPts val="0"/>
              </a:spcBef>
              <a:spcAft>
                <a:spcPts val="0"/>
              </a:spcAft>
            </a:pPr>
            <a:r>
              <a:rPr sz="2200" b="0">
                <a:solidFill>
                  <a:srgbClr val="F2F6FC"/>
                </a:solidFill>
                <a:latin typeface="DejaVu Sans"/>
              </a:rPr>
              <a:t>Unaffected time still has to execute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PERFORMANCE REASONING</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600" b="1">
                <a:solidFill>
                  <a:srgbClr val="F2F6FC"/>
                </a:solidFill>
                <a:latin typeface="DejaVu Sans"/>
              </a:rPr>
              <a:t>Choose the next experiment from the limiting resource</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Change one hypothesis at a time and preserve comparable evidence.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69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Memory-bound</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Remove an intermediate; improve reuse or dtype.</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69AEFF"/>
                </a:solidFill>
                <a:latin typeface="DejaVu Sans"/>
              </a:rPr>
              <a:t>Launch / sync-bound</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Fuse small work; inspect graph coverage and rank skew.</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000" b="1">
                <a:solidFill>
                  <a:srgbClr val="F4BF61"/>
                </a:solidFill>
                <a:latin typeface="DejaVu Sans"/>
              </a:rPr>
              <a:t>Batch / cache-bound</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Sweep C56 + MTP, C64 + MTP, C96 without MTP.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PUTTING IT TOGETHER</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800" b="1">
                <a:solidFill>
                  <a:srgbClr val="F2F6FC"/>
                </a:solidFill>
                <a:latin typeface="DejaVu Sans"/>
              </a:rPr>
              <a:t>Trace one new token through the complete system</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The architecture and serving machinery now form one connected picture.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70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Schedule</a:t>
            </a:r>
          </a:p>
        </p:txBody>
      </p:sp>
      <p:sp>
        <p:nvSpPr>
          <p:cNvPr id="13" name="TextBox 12"/>
          <p:cNvSpPr txBox="1"/>
          <p:nvPr/>
        </p:nvSpPr>
        <p:spPr>
          <a:xfrm>
            <a:off x="73152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Choose tokens; resolve cache/state</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Project</a:t>
            </a:r>
          </a:p>
        </p:txBody>
      </p:sp>
      <p:sp>
        <p:nvSpPr>
          <p:cNvPr id="16" name="TextBox 15"/>
          <p:cNvSpPr txBox="1"/>
          <p:nvPr/>
        </p:nvSpPr>
        <p:spPr>
          <a:xfrm>
            <a:off x="449580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Create Q/K/V or KDA update inputs</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008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Mix context</a:t>
            </a:r>
          </a:p>
        </p:txBody>
      </p:sp>
      <p:sp>
        <p:nvSpPr>
          <p:cNvPr id="19" name="TextBox 18"/>
          <p:cNvSpPr txBox="1"/>
          <p:nvPr/>
        </p:nvSpPr>
        <p:spPr>
          <a:xfrm>
            <a:off x="826008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KDA recurrence or MLA attention</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Transform</a:t>
            </a:r>
          </a:p>
        </p:txBody>
      </p:sp>
      <p:sp>
        <p:nvSpPr>
          <p:cNvPr id="22" name="TextBox 21"/>
          <p:cNvSpPr txBox="1"/>
          <p:nvPr/>
        </p:nvSpPr>
        <p:spPr>
          <a:xfrm>
            <a:off x="73152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Latent MoE and shared branch</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Mix depth</a:t>
            </a:r>
          </a:p>
        </p:txBody>
      </p:sp>
      <p:sp>
        <p:nvSpPr>
          <p:cNvPr id="25" name="TextBox 24"/>
          <p:cNvSpPr txBox="1"/>
          <p:nvPr/>
        </p:nvSpPr>
        <p:spPr>
          <a:xfrm>
            <a:off x="449580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Attention Residuals</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Generate</a:t>
            </a:r>
          </a:p>
        </p:txBody>
      </p:sp>
      <p:sp>
        <p:nvSpPr>
          <p:cNvPr id="28" name="TextBox 27"/>
          <p:cNvSpPr txBox="1"/>
          <p:nvPr/>
        </p:nvSpPr>
        <p:spPr>
          <a:xfrm>
            <a:off x="826008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Logits, sampling and state commit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00"/>
                                        <p:tgtEl>
                                          <p:spTgt spid="23"/>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00"/>
                                        <p:tgtEl>
                                          <p:spTgt spid="24"/>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PUTTING IT TOGETHER</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Six questions that check understanding</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Answer these before interpreting the next performance result.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71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361188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130552"/>
            <a:ext cx="54864" cy="32004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52CFD1"/>
                </a:solidFill>
                <a:latin typeface="DejaVu Sans"/>
              </a:rPr>
              <a:t>1–2</a:t>
            </a:r>
          </a:p>
        </p:txBody>
      </p:sp>
      <p:sp>
        <p:nvSpPr>
          <p:cNvPr id="14" name="TextBox 13"/>
          <p:cNvSpPr txBox="1"/>
          <p:nvPr/>
        </p:nvSpPr>
        <p:spPr>
          <a:xfrm>
            <a:off x="78638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Why cache K/V but usually not Q? Why does KDA need state recovery?</a:t>
            </a:r>
          </a:p>
        </p:txBody>
      </p:sp>
      <p:sp>
        <p:nvSpPr>
          <p:cNvPr id="15" name="Rounded Rectangle 14"/>
          <p:cNvSpPr/>
          <p:nvPr/>
        </p:nvSpPr>
        <p:spPr>
          <a:xfrm>
            <a:off x="4331208" y="1947672"/>
            <a:ext cx="3535680" cy="361188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6656" y="2130552"/>
            <a:ext cx="54864" cy="320040"/>
          </a:xfrm>
          <a:prstGeom prst="rect">
            <a:avLst/>
          </a:prstGeom>
          <a:solidFill>
            <a:srgbClr val="69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210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69AEFF"/>
                </a:solidFill>
                <a:latin typeface="DejaVu Sans"/>
              </a:rPr>
              <a:t>3–4</a:t>
            </a:r>
          </a:p>
        </p:txBody>
      </p:sp>
      <p:sp>
        <p:nvSpPr>
          <p:cNvPr id="18" name="TextBox 17"/>
          <p:cNvSpPr txBox="1"/>
          <p:nvPr/>
        </p:nvSpPr>
        <p:spPr>
          <a:xfrm>
            <a:off x="455066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Why are TP8 + DCP8 still eight GPUs? Why does a legacy RoPE field not prove rotation?</a:t>
            </a:r>
          </a:p>
        </p:txBody>
      </p:sp>
      <p:sp>
        <p:nvSpPr>
          <p:cNvPr id="19" name="Rounded Rectangle 18"/>
          <p:cNvSpPr/>
          <p:nvPr/>
        </p:nvSpPr>
        <p:spPr>
          <a:xfrm>
            <a:off x="8095488" y="1947672"/>
            <a:ext cx="3535680" cy="361188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0936" y="2130552"/>
            <a:ext cx="54864" cy="320040"/>
          </a:xfrm>
          <a:prstGeom prst="rect">
            <a:avLst/>
          </a:prstGeom>
          <a:solidFill>
            <a:srgbClr val="F4B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6384" y="2130552"/>
            <a:ext cx="3078480" cy="658368"/>
          </a:xfrm>
          <a:prstGeom prst="rect">
            <a:avLst/>
          </a:prstGeom>
          <a:noFill/>
        </p:spPr>
        <p:txBody>
          <a:bodyPr wrap="square" lIns="13716" rIns="13716" tIns="0" bIns="0">
            <a:spAutoFit/>
          </a:bodyPr>
          <a:lstStyle/>
          <a:p>
            <a:pPr algn="l">
              <a:spcBef>
                <a:spcPts val="0"/>
              </a:spcBef>
              <a:spcAft>
                <a:spcPts val="0"/>
              </a:spcAft>
            </a:pPr>
            <a:r>
              <a:rPr sz="2100" b="1">
                <a:solidFill>
                  <a:srgbClr val="F4BF61"/>
                </a:solidFill>
                <a:latin typeface="DejaVu Sans"/>
              </a:rPr>
              <a:t>5–6</a:t>
            </a:r>
          </a:p>
        </p:txBody>
      </p:sp>
      <p:sp>
        <p:nvSpPr>
          <p:cNvPr id="22" name="TextBox 21"/>
          <p:cNvSpPr txBox="1"/>
          <p:nvPr/>
        </p:nvSpPr>
        <p:spPr>
          <a:xfrm>
            <a:off x="8314944" y="2862072"/>
            <a:ext cx="3115056" cy="2587752"/>
          </a:xfrm>
          <a:prstGeom prst="rect">
            <a:avLst/>
          </a:prstGeom>
          <a:noFill/>
        </p:spPr>
        <p:txBody>
          <a:bodyPr wrap="square" lIns="13716" rIns="13716" tIns="0" bIns="0">
            <a:spAutoFit/>
          </a:bodyPr>
          <a:lstStyle/>
          <a:p>
            <a:pPr algn="l">
              <a:spcBef>
                <a:spcPts val="0"/>
              </a:spcBef>
              <a:spcAft>
                <a:spcPts val="0"/>
              </a:spcAft>
            </a:pPr>
            <a:r>
              <a:rPr sz="1600" b="0">
                <a:solidFill>
                  <a:srgbClr val="F2F6FC"/>
                </a:solidFill>
                <a:latin typeface="DejaVu Sans"/>
              </a:rPr>
              <a:t>What BF16 traffic does direct FP8 projection remove? Why is GSM8K not an LSE test?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REFERENCE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Tensor atlas: the cached-prefill path at TP8</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Shapes shown per rank; token counts depend on the current packed call.</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72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ectangle 10"/>
          <p:cNvSpPr/>
          <p:nvPr/>
        </p:nvSpPr>
        <p:spPr>
          <a:xfrm>
            <a:off x="658368" y="1975104"/>
            <a:ext cx="10835640" cy="484632"/>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084832"/>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Hidden state X</a:t>
            </a:r>
          </a:p>
        </p:txBody>
      </p:sp>
      <p:sp>
        <p:nvSpPr>
          <p:cNvPr id="13" name="TextBox 12"/>
          <p:cNvSpPr txBox="1"/>
          <p:nvPr/>
        </p:nvSpPr>
        <p:spPr>
          <a:xfrm>
            <a:off x="4892040" y="2084832"/>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[T, 7,168]</a:t>
            </a:r>
          </a:p>
        </p:txBody>
      </p:sp>
      <p:sp>
        <p:nvSpPr>
          <p:cNvPr id="14" name="Rectangle 13"/>
          <p:cNvSpPr/>
          <p:nvPr/>
        </p:nvSpPr>
        <p:spPr>
          <a:xfrm>
            <a:off x="658368" y="2551176"/>
            <a:ext cx="10835640" cy="48463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660904"/>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Compressed cache row</a:t>
            </a:r>
          </a:p>
        </p:txBody>
      </p:sp>
      <p:sp>
        <p:nvSpPr>
          <p:cNvPr id="16" name="TextBox 15"/>
          <p:cNvSpPr txBox="1"/>
          <p:nvPr/>
        </p:nvSpPr>
        <p:spPr>
          <a:xfrm>
            <a:off x="4892040" y="2660904"/>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512 latent + 64 shared K values</a:t>
            </a:r>
          </a:p>
        </p:txBody>
      </p:sp>
      <p:sp>
        <p:nvSpPr>
          <p:cNvPr id="17" name="Rectangle 16"/>
          <p:cNvSpPr/>
          <p:nvPr/>
        </p:nvSpPr>
        <p:spPr>
          <a:xfrm>
            <a:off x="658368" y="3127248"/>
            <a:ext cx="10835640" cy="484632"/>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236976"/>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kv_b_proj weight</a:t>
            </a:r>
          </a:p>
        </p:txBody>
      </p:sp>
      <p:sp>
        <p:nvSpPr>
          <p:cNvPr id="19" name="TextBox 18"/>
          <p:cNvSpPr txBox="1"/>
          <p:nvPr/>
        </p:nvSpPr>
        <p:spPr>
          <a:xfrm>
            <a:off x="4892040" y="3236976"/>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[3,072, 512]</a:t>
            </a:r>
          </a:p>
        </p:txBody>
      </p:sp>
      <p:sp>
        <p:nvSpPr>
          <p:cNvPr id="20" name="Rectangle 19"/>
          <p:cNvSpPr/>
          <p:nvPr/>
        </p:nvSpPr>
        <p:spPr>
          <a:xfrm>
            <a:off x="658368" y="3703320"/>
            <a:ext cx="10835640" cy="48463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813048"/>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Query Q / key K</a:t>
            </a:r>
          </a:p>
        </p:txBody>
      </p:sp>
      <p:sp>
        <p:nvSpPr>
          <p:cNvPr id="22" name="TextBox 21"/>
          <p:cNvSpPr txBox="1"/>
          <p:nvPr/>
        </p:nvSpPr>
        <p:spPr>
          <a:xfrm>
            <a:off x="4892040" y="3813048"/>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[Tq,12,192] / [Tk,12,192]</a:t>
            </a:r>
          </a:p>
        </p:txBody>
      </p:sp>
      <p:sp>
        <p:nvSpPr>
          <p:cNvPr id="23" name="Rectangle 22"/>
          <p:cNvSpPr/>
          <p:nvPr/>
        </p:nvSpPr>
        <p:spPr>
          <a:xfrm>
            <a:off x="658368" y="4279392"/>
            <a:ext cx="10835640" cy="484632"/>
          </a:xfrm>
          <a:prstGeom prst="rect">
            <a:avLst/>
          </a:prstGeom>
          <a:solidFill>
            <a:srgbClr val="152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389120"/>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Value V / output O</a:t>
            </a:r>
          </a:p>
        </p:txBody>
      </p:sp>
      <p:sp>
        <p:nvSpPr>
          <p:cNvPr id="25" name="TextBox 24"/>
          <p:cNvSpPr txBox="1"/>
          <p:nvPr/>
        </p:nvSpPr>
        <p:spPr>
          <a:xfrm>
            <a:off x="4892040" y="4389120"/>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[Tk,12,128] / [Tq,12,128]</a:t>
            </a:r>
          </a:p>
        </p:txBody>
      </p:sp>
      <p:sp>
        <p:nvSpPr>
          <p:cNvPr id="26" name="Rectangle 25"/>
          <p:cNvSpPr/>
          <p:nvPr/>
        </p:nvSpPr>
        <p:spPr>
          <a:xfrm>
            <a:off x="658368" y="4855464"/>
            <a:ext cx="10835640" cy="484632"/>
          </a:xfrm>
          <a:prstGeom prst="rect">
            <a:avLst/>
          </a:prstGeom>
          <a:solidFill>
            <a:srgbClr val="1C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965192"/>
            <a:ext cx="3950208" cy="283464"/>
          </a:xfrm>
          <a:prstGeom prst="rect">
            <a:avLst/>
          </a:prstGeom>
          <a:noFill/>
        </p:spPr>
        <p:txBody>
          <a:bodyPr wrap="square" lIns="13716" rIns="13716" tIns="0" bIns="0">
            <a:spAutoFit/>
          </a:bodyPr>
          <a:lstStyle/>
          <a:p>
            <a:pPr algn="l">
              <a:spcBef>
                <a:spcPts val="0"/>
              </a:spcBef>
              <a:spcAft>
                <a:spcPts val="0"/>
              </a:spcAft>
            </a:pPr>
            <a:r>
              <a:rPr sz="1400" b="1">
                <a:solidFill>
                  <a:srgbClr val="52CFD1"/>
                </a:solidFill>
                <a:latin typeface="DejaVu Sans"/>
              </a:rPr>
              <a:t>LSE</a:t>
            </a:r>
          </a:p>
        </p:txBody>
      </p:sp>
      <p:sp>
        <p:nvSpPr>
          <p:cNvPr id="28" name="TextBox 27"/>
          <p:cNvSpPr txBox="1"/>
          <p:nvPr/>
        </p:nvSpPr>
        <p:spPr>
          <a:xfrm>
            <a:off x="4892040" y="4965192"/>
            <a:ext cx="6400800" cy="283464"/>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[12,Tq] in this adapter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00"/>
                                        <p:tgtEl>
                                          <p:spTgt spid="23"/>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00"/>
                                        <p:tgtEl>
                                          <p:spTgt spid="24"/>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REFERENCE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Glossary: model concepts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Keep the mathematical role separate from the implementation.</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73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Attention / FMHA</a:t>
            </a:r>
          </a:p>
        </p:txBody>
      </p:sp>
      <p:sp>
        <p:nvSpPr>
          <p:cNvPr id="13" name="TextBox 12"/>
          <p:cNvSpPr txBox="1"/>
          <p:nvPr/>
        </p:nvSpPr>
        <p:spPr>
          <a:xfrm>
            <a:off x="73152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Weighted context retrieval / fused implementation</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KDA / MLA</a:t>
            </a:r>
          </a:p>
        </p:txBody>
      </p:sp>
      <p:sp>
        <p:nvSpPr>
          <p:cNvPr id="16" name="TextBox 15"/>
          <p:cNvSpPr txBox="1"/>
          <p:nvPr/>
        </p:nvSpPr>
        <p:spPr>
          <a:xfrm>
            <a:off x="449580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Recurrent delta attention / latent-cache attention</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008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Latent / projection</a:t>
            </a:r>
          </a:p>
        </p:txBody>
      </p:sp>
      <p:sp>
        <p:nvSpPr>
          <p:cNvPr id="19" name="TextBox 18"/>
          <p:cNvSpPr txBox="1"/>
          <p:nvPr/>
        </p:nvSpPr>
        <p:spPr>
          <a:xfrm>
            <a:off x="826008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Compressed feature space / learned matrix transform</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MoE / router</a:t>
            </a:r>
          </a:p>
        </p:txBody>
      </p:sp>
      <p:sp>
        <p:nvSpPr>
          <p:cNvPr id="22" name="TextBox 21"/>
          <p:cNvSpPr txBox="1"/>
          <p:nvPr/>
        </p:nvSpPr>
        <p:spPr>
          <a:xfrm>
            <a:off x="73152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Expert pool / token-to-expert selection</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Residual / gate</a:t>
            </a:r>
          </a:p>
        </p:txBody>
      </p:sp>
      <p:sp>
        <p:nvSpPr>
          <p:cNvPr id="25" name="TextBox 24"/>
          <p:cNvSpPr txBox="1"/>
          <p:nvPr/>
        </p:nvSpPr>
        <p:spPr>
          <a:xfrm>
            <a:off x="449580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Depth information path / learned modulation</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LSE</a:t>
            </a:r>
          </a:p>
        </p:txBody>
      </p:sp>
      <p:sp>
        <p:nvSpPr>
          <p:cNvPr id="28" name="TextBox 27"/>
          <p:cNvSpPr txBox="1"/>
          <p:nvPr/>
        </p:nvSpPr>
        <p:spPr>
          <a:xfrm>
            <a:off x="826008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Logarithm of unnormalized attention mass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00"/>
                                        <p:tgtEl>
                                          <p:spTgt spid="23"/>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00"/>
                                        <p:tgtEl>
                                          <p:spTgt spid="24"/>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REFERENCE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Glossary: execution concepts</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Name the resource or mechanism before tuning it.</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74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HBM / LDS</a:t>
            </a:r>
          </a:p>
        </p:txBody>
      </p:sp>
      <p:sp>
        <p:nvSpPr>
          <p:cNvPr id="13" name="TextBox 12"/>
          <p:cNvSpPr txBox="1"/>
          <p:nvPr/>
        </p:nvSpPr>
        <p:spPr>
          <a:xfrm>
            <a:off x="73152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Device memory / workgroup-shared on-chip memory</a:t>
            </a:r>
          </a:p>
        </p:txBody>
      </p:sp>
      <p:sp>
        <p:nvSpPr>
          <p:cNvPr id="14" name="Rounded Rectangle 13"/>
          <p:cNvSpPr/>
          <p:nvPr/>
        </p:nvSpPr>
        <p:spPr>
          <a:xfrm>
            <a:off x="4331208" y="1947672"/>
            <a:ext cx="353568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CU / XCD / wave</a:t>
            </a:r>
          </a:p>
        </p:txBody>
      </p:sp>
      <p:sp>
        <p:nvSpPr>
          <p:cNvPr id="16" name="TextBox 15"/>
          <p:cNvSpPr txBox="1"/>
          <p:nvPr/>
        </p:nvSpPr>
        <p:spPr>
          <a:xfrm>
            <a:off x="449580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Compute unit / GPU chiplet / 64-lane execution group</a:t>
            </a:r>
          </a:p>
        </p:txBody>
      </p:sp>
      <p:sp>
        <p:nvSpPr>
          <p:cNvPr id="17" name="Rounded Rectangle 16"/>
          <p:cNvSpPr/>
          <p:nvPr/>
        </p:nvSpPr>
        <p:spPr>
          <a:xfrm>
            <a:off x="8095488" y="1947672"/>
            <a:ext cx="353568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0080" y="2084831"/>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TP / DCP / EP</a:t>
            </a:r>
          </a:p>
        </p:txBody>
      </p:sp>
      <p:sp>
        <p:nvSpPr>
          <p:cNvPr id="19" name="TextBox 18"/>
          <p:cNvSpPr txBox="1"/>
          <p:nvPr/>
        </p:nvSpPr>
        <p:spPr>
          <a:xfrm>
            <a:off x="8260080" y="254203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Tensor / decode-context / expert parallelism</a:t>
            </a:r>
          </a:p>
        </p:txBody>
      </p:sp>
      <p:sp>
        <p:nvSpPr>
          <p:cNvPr id="20" name="Rounded Rectangle 19"/>
          <p:cNvSpPr/>
          <p:nvPr/>
        </p:nvSpPr>
        <p:spPr>
          <a:xfrm>
            <a:off x="566928" y="3867912"/>
            <a:ext cx="353568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NUMA / CCD</a:t>
            </a:r>
          </a:p>
        </p:txBody>
      </p:sp>
      <p:sp>
        <p:nvSpPr>
          <p:cNvPr id="22" name="TextBox 21"/>
          <p:cNvSpPr txBox="1"/>
          <p:nvPr/>
        </p:nvSpPr>
        <p:spPr>
          <a:xfrm>
            <a:off x="73152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CPU-memory locality / CPU compute die</a:t>
            </a:r>
          </a:p>
        </p:txBody>
      </p:sp>
      <p:sp>
        <p:nvSpPr>
          <p:cNvPr id="23" name="Rounded Rectangle 22"/>
          <p:cNvSpPr/>
          <p:nvPr/>
        </p:nvSpPr>
        <p:spPr>
          <a:xfrm>
            <a:off x="4331208" y="3867912"/>
            <a:ext cx="3535680" cy="1691640"/>
          </a:xfrm>
          <a:prstGeom prst="roundRect">
            <a:avLst>
              <a:gd name="adj" fmla="val 9000"/>
            </a:avLst>
          </a:prstGeom>
          <a:solidFill>
            <a:srgbClr val="152239"/>
          </a:solidFill>
          <a:ln w="14604">
            <a:solidFill>
              <a:srgbClr val="51D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1D79B"/>
                </a:solidFill>
                <a:latin typeface="DejaVu Sans"/>
              </a:rPr>
              <a:t>GEMM / MFMA</a:t>
            </a:r>
          </a:p>
        </p:txBody>
      </p:sp>
      <p:sp>
        <p:nvSpPr>
          <p:cNvPr id="25" name="TextBox 24"/>
          <p:cNvSpPr txBox="1"/>
          <p:nvPr/>
        </p:nvSpPr>
        <p:spPr>
          <a:xfrm>
            <a:off x="449580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Matrix multiplication / matrix instruction family</a:t>
            </a:r>
          </a:p>
        </p:txBody>
      </p:sp>
      <p:sp>
        <p:nvSpPr>
          <p:cNvPr id="26" name="Rounded Rectangle 25"/>
          <p:cNvSpPr/>
          <p:nvPr/>
        </p:nvSpPr>
        <p:spPr>
          <a:xfrm>
            <a:off x="8095488" y="3867912"/>
            <a:ext cx="353568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4005072"/>
            <a:ext cx="320649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Quant / descale</a:t>
            </a:r>
          </a:p>
        </p:txBody>
      </p:sp>
      <p:sp>
        <p:nvSpPr>
          <p:cNvPr id="28" name="TextBox 27"/>
          <p:cNvSpPr txBox="1"/>
          <p:nvPr/>
        </p:nvSpPr>
        <p:spPr>
          <a:xfrm>
            <a:off x="8260080" y="4462272"/>
            <a:ext cx="320649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Round into compact format / restore numerical units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00"/>
                                        <p:tgtEl>
                                          <p:spTgt spid="23"/>
                                        </p:tgtEl>
                                      </p:cBhvr>
                                    </p:animEffect>
                                  </p:childTnLst>
                                </p:cTn>
                              </p:par>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00"/>
                                        <p:tgtEl>
                                          <p:spTgt spid="24"/>
                                        </p:tgtEl>
                                      </p:cBhvr>
                                    </p:animEffect>
                                  </p:childTnLst>
                                </p:cTn>
                              </p:par>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52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0312"/>
            <a:ext cx="10058400" cy="256032"/>
          </a:xfrm>
          <a:prstGeom prst="rect">
            <a:avLst/>
          </a:prstGeom>
          <a:noFill/>
        </p:spPr>
        <p:txBody>
          <a:bodyPr wrap="square" lIns="13716" rIns="13716" tIns="0" bIns="0">
            <a:spAutoFit/>
          </a:bodyPr>
          <a:lstStyle/>
          <a:p>
            <a:pPr algn="l">
              <a:spcBef>
                <a:spcPts val="0"/>
              </a:spcBef>
              <a:spcAft>
                <a:spcPts val="0"/>
              </a:spcAft>
            </a:pPr>
            <a:r>
              <a:rPr sz="1000" b="1">
                <a:solidFill>
                  <a:srgbClr val="52CFD1"/>
                </a:solidFill>
                <a:latin typeface="DejaVu Sans"/>
              </a:rPr>
              <a:t>REFERENCE</a:t>
            </a:r>
          </a:p>
        </p:txBody>
      </p:sp>
      <p:sp>
        <p:nvSpPr>
          <p:cNvPr id="4" name="TextBox 3"/>
          <p:cNvSpPr txBox="1"/>
          <p:nvPr/>
        </p:nvSpPr>
        <p:spPr>
          <a:xfrm>
            <a:off x="457200" y="630936"/>
            <a:ext cx="11247120" cy="594360"/>
          </a:xfrm>
          <a:prstGeom prst="rect">
            <a:avLst/>
          </a:prstGeom>
          <a:noFill/>
        </p:spPr>
        <p:txBody>
          <a:bodyPr wrap="none" lIns="13716" rIns="13716" tIns="0" bIns="0">
            <a:spAutoFit/>
          </a:bodyPr>
          <a:lstStyle/>
          <a:p>
            <a:pPr algn="l">
              <a:spcBef>
                <a:spcPts val="0"/>
              </a:spcBef>
              <a:spcAft>
                <a:spcPts val="0"/>
              </a:spcAft>
            </a:pPr>
            <a:r>
              <a:rPr sz="2900" b="1">
                <a:solidFill>
                  <a:srgbClr val="F2F6FC"/>
                </a:solidFill>
                <a:latin typeface="DejaVu Sans"/>
              </a:rPr>
              <a:t>Source map and further reading</a:t>
            </a:r>
          </a:p>
        </p:txBody>
      </p:sp>
      <p:sp>
        <p:nvSpPr>
          <p:cNvPr id="5" name="TextBox 4"/>
          <p:cNvSpPr txBox="1"/>
          <p:nvPr/>
        </p:nvSpPr>
        <p:spPr>
          <a:xfrm>
            <a:off x="475488" y="1344168"/>
            <a:ext cx="11064240" cy="393192"/>
          </a:xfrm>
          <a:prstGeom prst="rect">
            <a:avLst/>
          </a:prstGeom>
          <a:noFill/>
        </p:spPr>
        <p:txBody>
          <a:bodyPr wrap="square" lIns="13716" rIns="13716" tIns="0" bIns="0">
            <a:spAutoFit/>
          </a:bodyPr>
          <a:lstStyle/>
          <a:p>
            <a:pPr algn="l">
              <a:spcBef>
                <a:spcPts val="0"/>
              </a:spcBef>
              <a:spcAft>
                <a:spcPts val="0"/>
              </a:spcAft>
            </a:pPr>
            <a:r>
              <a:rPr sz="1500" b="0">
                <a:solidFill>
                  <a:srgbClr val="A7B8CD"/>
                </a:solidFill>
                <a:latin typeface="DejaVu Sans"/>
              </a:rPr>
              <a:t>Pinned model facts, implementation references and campaign evidence.</a:t>
            </a:r>
          </a:p>
        </p:txBody>
      </p:sp>
      <p:sp>
        <p:nvSpPr>
          <p:cNvPr id="6" name="Rectangle 5"/>
          <p:cNvSpPr/>
          <p:nvPr/>
        </p:nvSpPr>
        <p:spPr>
          <a:xfrm>
            <a:off x="457200" y="6455664"/>
            <a:ext cx="11274552" cy="10972"/>
          </a:xfrm>
          <a:prstGeom prst="rect">
            <a:avLst/>
          </a:prstGeom>
          <a:solidFill>
            <a:srgbClr val="334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3840480" cy="164592"/>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KIMI-K3  /  MI355X  •  29 OCT 2026</a:t>
            </a:r>
          </a:p>
        </p:txBody>
      </p:sp>
      <p:sp>
        <p:nvSpPr>
          <p:cNvPr id="8" name="TextBox 7"/>
          <p:cNvSpPr txBox="1"/>
          <p:nvPr/>
        </p:nvSpPr>
        <p:spPr>
          <a:xfrm>
            <a:off x="6217920" y="6510528"/>
            <a:ext cx="4389120" cy="228600"/>
          </a:xfrm>
          <a:prstGeom prst="rect">
            <a:avLst/>
          </a:prstGeom>
          <a:noFill/>
        </p:spPr>
        <p:txBody>
          <a:bodyPr wrap="square" lIns="13716" rIns="13716" tIns="0" bIns="0">
            <a:spAutoFit/>
          </a:bodyPr>
          <a:lstStyle/>
          <a:p>
            <a:pPr algn="r">
              <a:spcBef>
                <a:spcPts val="0"/>
              </a:spcBef>
              <a:spcAft>
                <a:spcPts val="0"/>
              </a:spcAft>
            </a:pPr>
            <a:r>
              <a:rPr sz="900" b="0">
                <a:solidFill>
                  <a:srgbClr val="52CFD1"/>
                </a:solidFill>
                <a:latin typeface="DejaVu Sans"/>
                <a:hlinkClick r:id="rId2"/>
              </a:rPr>
              <a:t>READ CHAPTER  ↗</a:t>
            </a:r>
          </a:p>
        </p:txBody>
      </p:sp>
      <p:sp>
        <p:nvSpPr>
          <p:cNvPr id="9" name="TextBox 8"/>
          <p:cNvSpPr txBox="1"/>
          <p:nvPr/>
        </p:nvSpPr>
        <p:spPr>
          <a:xfrm>
            <a:off x="10881360" y="6510528"/>
            <a:ext cx="822960" cy="228600"/>
          </a:xfrm>
          <a:prstGeom prst="rect">
            <a:avLst/>
          </a:prstGeom>
          <a:noFill/>
        </p:spPr>
        <p:txBody>
          <a:bodyPr wrap="square" lIns="13716" rIns="13716" tIns="0" bIns="0">
            <a:spAutoFit/>
          </a:bodyPr>
          <a:lstStyle/>
          <a:p>
            <a:pPr algn="r">
              <a:spcBef>
                <a:spcPts val="0"/>
              </a:spcBef>
              <a:spcAft>
                <a:spcPts val="0"/>
              </a:spcAft>
            </a:pPr>
            <a:r>
              <a:rPr sz="900" b="0">
                <a:solidFill>
                  <a:srgbClr val="A7B8CD"/>
                </a:solidFill>
                <a:latin typeface="DejaVu Sans"/>
              </a:rPr>
              <a:t>75 / 75</a:t>
            </a:r>
          </a:p>
        </p:txBody>
      </p:sp>
      <p:sp>
        <p:nvSpPr>
          <p:cNvPr id="10" name="TextBox 9"/>
          <p:cNvSpPr txBox="1"/>
          <p:nvPr/>
        </p:nvSpPr>
        <p:spPr>
          <a:xfrm>
            <a:off x="548640" y="5961888"/>
            <a:ext cx="10515600" cy="201168"/>
          </a:xfrm>
          <a:prstGeom prst="rect">
            <a:avLst/>
          </a:prstGeom>
          <a:noFill/>
        </p:spPr>
        <p:txBody>
          <a:bodyPr wrap="square" lIns="13716" rIns="13716" tIns="0" bIns="0">
            <a:spAutoFit/>
          </a:bodyPr>
          <a:lstStyle/>
          <a:p>
            <a:pPr algn="l">
              <a:spcBef>
                <a:spcPts val="0"/>
              </a:spcBef>
              <a:spcAft>
                <a:spcPts val="0"/>
              </a:spcAft>
            </a:pPr>
            <a:r>
              <a:rPr sz="800" b="0">
                <a:solidFill>
                  <a:srgbClr val="A7B8CD"/>
                </a:solidFill>
                <a:latin typeface="DejaVu Sans"/>
              </a:rPr>
              <a:t>CLICK TO BUILD THE DIAGRAM  •  REFERENCES AND EXPLANATION IN SPEAKER NOTES</a:t>
            </a:r>
          </a:p>
        </p:txBody>
      </p:sp>
      <p:sp>
        <p:nvSpPr>
          <p:cNvPr id="11" name="Rounded Rectangle 10"/>
          <p:cNvSpPr/>
          <p:nvPr/>
        </p:nvSpPr>
        <p:spPr>
          <a:xfrm>
            <a:off x="566928" y="1947672"/>
            <a:ext cx="5417820" cy="1691640"/>
          </a:xfrm>
          <a:prstGeom prst="roundRect">
            <a:avLst>
              <a:gd name="adj" fmla="val 9000"/>
            </a:avLst>
          </a:prstGeom>
          <a:solidFill>
            <a:srgbClr val="152239"/>
          </a:solidFill>
          <a:ln w="14604">
            <a:solidFill>
              <a:srgbClr val="52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52CFD1"/>
                </a:solidFill>
                <a:latin typeface="DejaVu Sans"/>
              </a:rPr>
              <a:t>Model + architecture</a:t>
            </a:r>
          </a:p>
        </p:txBody>
      </p:sp>
      <p:sp>
        <p:nvSpPr>
          <p:cNvPr id="13" name="TextBox 12"/>
          <p:cNvSpPr txBox="1"/>
          <p:nvPr/>
        </p:nvSpPr>
        <p:spPr>
          <a:xfrm>
            <a:off x="73152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Checkpoint, model card and AMD Kimi implementation</a:t>
            </a:r>
          </a:p>
        </p:txBody>
      </p:sp>
      <p:sp>
        <p:nvSpPr>
          <p:cNvPr id="14" name="Rounded Rectangle 13"/>
          <p:cNvSpPr/>
          <p:nvPr/>
        </p:nvSpPr>
        <p:spPr>
          <a:xfrm>
            <a:off x="6213348" y="1947672"/>
            <a:ext cx="5417820" cy="1691640"/>
          </a:xfrm>
          <a:prstGeom prst="roundRect">
            <a:avLst>
              <a:gd name="adj" fmla="val 9000"/>
            </a:avLst>
          </a:prstGeom>
          <a:solidFill>
            <a:srgbClr val="152239"/>
          </a:solidFill>
          <a:ln w="14604">
            <a:solidFill>
              <a:srgbClr val="69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7940" y="2084831"/>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69AEFF"/>
                </a:solidFill>
                <a:latin typeface="DejaVu Sans"/>
              </a:rPr>
              <a:t>Algorithms + hardware</a:t>
            </a:r>
          </a:p>
        </p:txBody>
      </p:sp>
      <p:sp>
        <p:nvSpPr>
          <p:cNvPr id="16" name="TextBox 15"/>
          <p:cNvSpPr txBox="1"/>
          <p:nvPr/>
        </p:nvSpPr>
        <p:spPr>
          <a:xfrm>
            <a:off x="6377940" y="254203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Attention, FlashAttention, Kimi Linear and ROCm specs</a:t>
            </a:r>
          </a:p>
        </p:txBody>
      </p:sp>
      <p:sp>
        <p:nvSpPr>
          <p:cNvPr id="17" name="Rounded Rectangle 16"/>
          <p:cNvSpPr/>
          <p:nvPr/>
        </p:nvSpPr>
        <p:spPr>
          <a:xfrm>
            <a:off x="566928" y="3867912"/>
            <a:ext cx="5417820" cy="1691640"/>
          </a:xfrm>
          <a:prstGeom prst="roundRect">
            <a:avLst>
              <a:gd name="adj" fmla="val 9000"/>
            </a:avLst>
          </a:prstGeom>
          <a:solidFill>
            <a:srgbClr val="152239"/>
          </a:solidFill>
          <a:ln w="14604">
            <a:solidFill>
              <a:srgbClr val="F4BF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F4BF61"/>
                </a:solidFill>
                <a:latin typeface="DejaVu Sans"/>
              </a:rPr>
              <a:t>FP8 implementation</a:t>
            </a:r>
          </a:p>
        </p:txBody>
      </p:sp>
      <p:sp>
        <p:nvSpPr>
          <p:cNvPr id="19" name="TextBox 18"/>
          <p:cNvSpPr txBox="1"/>
          <p:nvPr/>
        </p:nvSpPr>
        <p:spPr>
          <a:xfrm>
            <a:off x="73152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Campaign data flow, ATOM and AITER source</a:t>
            </a:r>
          </a:p>
        </p:txBody>
      </p:sp>
      <p:sp>
        <p:nvSpPr>
          <p:cNvPr id="20" name="Rounded Rectangle 19"/>
          <p:cNvSpPr/>
          <p:nvPr/>
        </p:nvSpPr>
        <p:spPr>
          <a:xfrm>
            <a:off x="6213348" y="3867912"/>
            <a:ext cx="5417820" cy="1691640"/>
          </a:xfrm>
          <a:prstGeom prst="roundRect">
            <a:avLst>
              <a:gd name="adj" fmla="val 9000"/>
            </a:avLst>
          </a:prstGeom>
          <a:solidFill>
            <a:srgbClr val="152239"/>
          </a:solidFill>
          <a:ln w="14604">
            <a:solidFill>
              <a:srgbClr val="B7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7940" y="4005072"/>
            <a:ext cx="5088636" cy="347472"/>
          </a:xfrm>
          <a:prstGeom prst="rect">
            <a:avLst/>
          </a:prstGeom>
          <a:noFill/>
        </p:spPr>
        <p:txBody>
          <a:bodyPr wrap="square" lIns="13716" rIns="13716" tIns="0" bIns="0">
            <a:spAutoFit/>
          </a:bodyPr>
          <a:lstStyle/>
          <a:p>
            <a:pPr algn="l">
              <a:spcBef>
                <a:spcPts val="0"/>
              </a:spcBef>
              <a:spcAft>
                <a:spcPts val="0"/>
              </a:spcAft>
            </a:pPr>
            <a:r>
              <a:rPr sz="1700" b="1">
                <a:solidFill>
                  <a:srgbClr val="B799FF"/>
                </a:solidFill>
                <a:latin typeface="DejaVu Sans"/>
              </a:rPr>
              <a:t>Evidence</a:t>
            </a:r>
          </a:p>
        </p:txBody>
      </p:sp>
      <p:sp>
        <p:nvSpPr>
          <p:cNvPr id="22" name="TextBox 21"/>
          <p:cNvSpPr txBox="1"/>
          <p:nvPr/>
        </p:nvSpPr>
        <p:spPr>
          <a:xfrm>
            <a:off x="6377940" y="4462272"/>
            <a:ext cx="5088636" cy="996696"/>
          </a:xfrm>
          <a:prstGeom prst="rect">
            <a:avLst/>
          </a:prstGeom>
          <a:noFill/>
        </p:spPr>
        <p:txBody>
          <a:bodyPr wrap="square" lIns="13716" rIns="13716" tIns="0" bIns="0">
            <a:spAutoFit/>
          </a:bodyPr>
          <a:lstStyle/>
          <a:p>
            <a:pPr algn="l">
              <a:spcBef>
                <a:spcPts val="0"/>
              </a:spcBef>
              <a:spcAft>
                <a:spcPts val="0"/>
              </a:spcAft>
            </a:pPr>
            <a:r>
              <a:rPr sz="1400" b="0">
                <a:solidFill>
                  <a:srgbClr val="F2F6FC"/>
                </a:solidFill>
                <a:latin typeface="DejaVu Sans"/>
              </a:rPr>
              <a:t>Benchmark runs, GSM8K results and native PR status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2CFD1"/>
      </a:hlink>
      <a:folHlink>
        <a:srgbClr val="52CFD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Kimi-K3 on AMD MI355X — Architecture and FP8 Execution</dc:title>
  <dc:subject>Conceptual teaching deck with linked technical handbook</dc:subject>
  <dc:creator>Ajith Sirra</dc:creator>
  <cp:keywords>Kimi-K3, MI355X, KDA, MLA, FP8, FMHA, ROCm, vLLM</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